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0126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0126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2222500"/>
            <a:ext cx="15748000" cy="6781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32400" y="939800"/>
            <a:ext cx="901700" cy="7112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61100" y="1155700"/>
            <a:ext cx="469900" cy="4953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0126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0126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9482" y="549627"/>
            <a:ext cx="15736235" cy="1316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0126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jpg"/><Relationship Id="rId10" Type="http://schemas.openxmlformats.org/officeDocument/2006/relationships/image" Target="../media/image23.png"/><Relationship Id="rId11" Type="http://schemas.openxmlformats.org/officeDocument/2006/relationships/image" Target="../media/image2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7.jp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jpg"/><Relationship Id="rId8" Type="http://schemas.openxmlformats.org/officeDocument/2006/relationships/image" Target="../media/image3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png"/><Relationship Id="rId6" Type="http://schemas.openxmlformats.org/officeDocument/2006/relationships/image" Target="../media/image4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Relationship Id="rId4" Type="http://schemas.openxmlformats.org/officeDocument/2006/relationships/image" Target="../media/image48.jpg"/><Relationship Id="rId5" Type="http://schemas.openxmlformats.org/officeDocument/2006/relationships/image" Target="../media/image49.jpg"/><Relationship Id="rId6" Type="http://schemas.openxmlformats.org/officeDocument/2006/relationships/image" Target="../media/image50.jpg"/><Relationship Id="rId7" Type="http://schemas.openxmlformats.org/officeDocument/2006/relationships/image" Target="../media/image5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2000" y="2641600"/>
            <a:ext cx="10934700" cy="5994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0700" y="749300"/>
            <a:ext cx="863600" cy="723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16300" y="9493250"/>
            <a:ext cx="1219200" cy="13335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115397" y="150965"/>
            <a:ext cx="13219430" cy="2115185"/>
          </a:xfrm>
          <a:prstGeom prst="rect"/>
        </p:spPr>
        <p:txBody>
          <a:bodyPr wrap="square" lIns="0" tIns="261620" rIns="0" bIns="0" rtlCol="0" vert="horz">
            <a:spAutoFit/>
          </a:bodyPr>
          <a:lstStyle/>
          <a:p>
            <a:pPr algn="ctr" marR="50165">
              <a:lnSpc>
                <a:spcPct val="100000"/>
              </a:lnSpc>
              <a:spcBef>
                <a:spcPts val="2060"/>
              </a:spcBef>
              <a:tabLst>
                <a:tab pos="6913880" algn="l"/>
              </a:tabLst>
            </a:pPr>
            <a:r>
              <a:rPr dirty="0" sz="8250" spc="-140">
                <a:solidFill>
                  <a:srgbClr val="033849"/>
                </a:solidFill>
                <a:latin typeface="Times New Roman"/>
                <a:cs typeface="Times New Roman"/>
              </a:rPr>
              <a:t>The</a:t>
            </a:r>
            <a:r>
              <a:rPr dirty="0" sz="8250" spc="-420">
                <a:solidFill>
                  <a:srgbClr val="033849"/>
                </a:solidFill>
                <a:latin typeface="Times New Roman"/>
                <a:cs typeface="Times New Roman"/>
              </a:rPr>
              <a:t> </a:t>
            </a:r>
            <a:r>
              <a:rPr dirty="0" sz="8250" spc="-265">
                <a:solidFill>
                  <a:srgbClr val="012D3D"/>
                </a:solidFill>
                <a:latin typeface="Times New Roman"/>
                <a:cs typeface="Times New Roman"/>
              </a:rPr>
              <a:t>Evolution</a:t>
            </a:r>
            <a:r>
              <a:rPr dirty="0" sz="8250">
                <a:solidFill>
                  <a:srgbClr val="012D3D"/>
                </a:solidFill>
                <a:latin typeface="Times New Roman"/>
                <a:cs typeface="Times New Roman"/>
              </a:rPr>
              <a:t>	</a:t>
            </a:r>
            <a:r>
              <a:rPr dirty="0" sz="8250" spc="-10">
                <a:solidFill>
                  <a:srgbClr val="002D3D"/>
                </a:solidFill>
                <a:latin typeface="Times New Roman"/>
                <a:cs typeface="Times New Roman"/>
              </a:rPr>
              <a:t>Integrity</a:t>
            </a:r>
            <a:endParaRPr sz="8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dirty="0" sz="3200" spc="-60">
                <a:solidFill>
                  <a:srgbClr val="181818"/>
                </a:solidFill>
                <a:latin typeface="Arial"/>
                <a:cs typeface="Arial"/>
              </a:rPr>
              <a:t>Navigating</a:t>
            </a:r>
            <a:r>
              <a:rPr dirty="0" sz="3200" spc="-6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u="heavy" sz="3200" spc="-175">
                <a:solidFill>
                  <a:srgbClr val="181818"/>
                </a:solidFill>
                <a:uFill>
                  <a:solidFill>
                    <a:srgbClr val="3F6B8C"/>
                  </a:solidFill>
                </a:uFill>
                <a:latin typeface="Arial"/>
                <a:cs typeface="Arial"/>
              </a:rPr>
              <a:t>AML/CFT</a:t>
            </a:r>
            <a:r>
              <a:rPr dirty="0" u="heavy" sz="3200" spc="-45">
                <a:solidFill>
                  <a:srgbClr val="181818"/>
                </a:solidFill>
                <a:uFill>
                  <a:solidFill>
                    <a:srgbClr val="3F6B8C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200" spc="-110">
                <a:solidFill>
                  <a:srgbClr val="181818"/>
                </a:solidFill>
                <a:uFill>
                  <a:solidFill>
                    <a:srgbClr val="3F6B8C"/>
                  </a:solidFill>
                </a:uFill>
                <a:latin typeface="Arial"/>
                <a:cs typeface="Arial"/>
              </a:rPr>
              <a:t>Compliance</a:t>
            </a:r>
            <a:r>
              <a:rPr dirty="0" sz="3200" spc="-110">
                <a:solidFill>
                  <a:srgbClr val="181818"/>
                </a:solidFill>
                <a:latin typeface="Arial"/>
                <a:cs typeface="Arial"/>
              </a:rPr>
              <a:t>,</a:t>
            </a:r>
            <a:r>
              <a:rPr dirty="0" sz="3200" spc="1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u="heavy" sz="3200" spc="-135">
                <a:solidFill>
                  <a:srgbClr val="1A1A1A"/>
                </a:solidFill>
                <a:uFill>
                  <a:solidFill>
                    <a:srgbClr val="3F6B8C"/>
                  </a:solidFill>
                </a:uFill>
                <a:latin typeface="Arial"/>
                <a:cs typeface="Arial"/>
              </a:rPr>
              <a:t>De-</a:t>
            </a:r>
            <a:r>
              <a:rPr dirty="0" u="heavy" sz="3200" spc="-100">
                <a:solidFill>
                  <a:srgbClr val="1A1A1A"/>
                </a:solidFill>
                <a:uFill>
                  <a:solidFill>
                    <a:srgbClr val="3F6B8C"/>
                  </a:solidFill>
                </a:uFill>
                <a:latin typeface="Arial"/>
                <a:cs typeface="Arial"/>
              </a:rPr>
              <a:t>Risking</a:t>
            </a:r>
            <a:r>
              <a:rPr dirty="0" sz="3200" spc="-100">
                <a:solidFill>
                  <a:srgbClr val="1A1A1A"/>
                </a:solidFill>
                <a:latin typeface="Arial"/>
                <a:cs typeface="Arial"/>
              </a:rPr>
              <a:t>,</a:t>
            </a:r>
            <a:r>
              <a:rPr dirty="0" sz="3200" spc="-9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3200" spc="-7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3200" spc="-1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08212F"/>
                </a:solidFill>
                <a:latin typeface="Arial"/>
                <a:cs typeface="Arial"/>
              </a:rPr>
              <a:t>the</a:t>
            </a:r>
            <a:r>
              <a:rPr dirty="0" sz="3200" spc="-220">
                <a:solidFill>
                  <a:srgbClr val="08212F"/>
                </a:solidFill>
                <a:latin typeface="Arial"/>
                <a:cs typeface="Arial"/>
              </a:rPr>
              <a:t> </a:t>
            </a:r>
            <a:r>
              <a:rPr dirty="0" sz="3200" spc="-40">
                <a:solidFill>
                  <a:srgbClr val="1A1A1A"/>
                </a:solidFill>
                <a:latin typeface="Arial"/>
                <a:cs typeface="Arial"/>
              </a:rPr>
              <a:t>Shift</a:t>
            </a:r>
            <a:r>
              <a:rPr dirty="0" sz="3200" spc="-1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3200" spc="90">
                <a:solidFill>
                  <a:srgbClr val="1F1F1F"/>
                </a:solidFill>
                <a:latin typeface="Arial"/>
                <a:cs typeface="Arial"/>
              </a:rPr>
              <a:t>to</a:t>
            </a:r>
            <a:r>
              <a:rPr dirty="0" sz="3200" spc="-229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u="heavy" sz="3200" spc="-85">
                <a:solidFill>
                  <a:srgbClr val="131313"/>
                </a:solidFill>
                <a:uFill>
                  <a:solidFill>
                    <a:srgbClr val="3F6B8C"/>
                  </a:solidFill>
                </a:uFill>
                <a:latin typeface="Arial"/>
                <a:cs typeface="Arial"/>
              </a:rPr>
              <a:t>Perpetual</a:t>
            </a:r>
            <a:r>
              <a:rPr dirty="0" u="heavy" sz="3200" spc="-70">
                <a:solidFill>
                  <a:srgbClr val="131313"/>
                </a:solidFill>
                <a:uFill>
                  <a:solidFill>
                    <a:srgbClr val="3F6B8C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200" spc="-320">
                <a:solidFill>
                  <a:srgbClr val="1C1C1C"/>
                </a:solidFill>
                <a:uFill>
                  <a:solidFill>
                    <a:srgbClr val="3F6B8C"/>
                  </a:solidFill>
                </a:uFill>
                <a:latin typeface="Arial"/>
                <a:cs typeface="Arial"/>
              </a:rPr>
              <a:t>KYC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96477" y="2719563"/>
            <a:ext cx="80835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175">
                <a:solidFill>
                  <a:srgbClr val="0F0F0F"/>
                </a:solidFill>
                <a:latin typeface="Times New Roman"/>
                <a:cs typeface="Times New Roman"/>
              </a:rPr>
              <a:t>AML/CFT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33245" y="9026525"/>
            <a:ext cx="640778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25">
                <a:solidFill>
                  <a:srgbClr val="0E0E0E"/>
                </a:solidFill>
                <a:latin typeface="Times New Roman"/>
                <a:cs typeface="Times New Roman"/>
              </a:rPr>
              <a:t>PREPARED</a:t>
            </a:r>
            <a:r>
              <a:rPr dirty="0" sz="1850" spc="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1850" spc="-90">
                <a:latin typeface="Times New Roman"/>
                <a:cs typeface="Times New Roman"/>
              </a:rPr>
              <a:t>FOR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 spc="-155">
                <a:latin typeface="Times New Roman"/>
                <a:cs typeface="Times New Roman"/>
              </a:rPr>
              <a:t>FINANCIAL</a:t>
            </a:r>
            <a:r>
              <a:rPr dirty="0" sz="1850" spc="40">
                <a:latin typeface="Times New Roman"/>
                <a:cs typeface="Times New Roman"/>
              </a:rPr>
              <a:t> </a:t>
            </a:r>
            <a:r>
              <a:rPr dirty="0" sz="1850" spc="-120">
                <a:solidFill>
                  <a:srgbClr val="070707"/>
                </a:solidFill>
                <a:latin typeface="Times New Roman"/>
                <a:cs typeface="Times New Roman"/>
              </a:rPr>
              <a:t>COMPLIANCE</a:t>
            </a:r>
            <a:r>
              <a:rPr dirty="0" sz="1850" spc="10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850" spc="-135">
                <a:solidFill>
                  <a:srgbClr val="080808"/>
                </a:solidFill>
                <a:latin typeface="Times New Roman"/>
                <a:cs typeface="Times New Roman"/>
              </a:rPr>
              <a:t>STRATEGY</a:t>
            </a:r>
            <a:r>
              <a:rPr dirty="0" sz="1850" spc="120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dirty="0" sz="1850" spc="-110">
                <a:latin typeface="Times New Roman"/>
                <a:cs typeface="Times New Roman"/>
              </a:rPr>
              <a:t>LEADERS.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8100" y="3911600"/>
            <a:ext cx="3619500" cy="2489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4400" y="3695700"/>
            <a:ext cx="1397000" cy="88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70700" y="3683000"/>
            <a:ext cx="3721100" cy="2540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17400" y="3530600"/>
            <a:ext cx="3987800" cy="2984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116300" y="9493250"/>
            <a:ext cx="1225550" cy="14605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22959" y="518583"/>
            <a:ext cx="6692265" cy="1504950"/>
          </a:xfrm>
          <a:prstGeom prst="rect"/>
        </p:spPr>
        <p:txBody>
          <a:bodyPr wrap="square" lIns="0" tIns="183515" rIns="0" bIns="0" rtlCol="0" vert="horz">
            <a:spAutoFit/>
          </a:bodyPr>
          <a:lstStyle/>
          <a:p>
            <a:pPr marL="27940" marR="5080" indent="-15875">
              <a:lnSpc>
                <a:spcPct val="79500"/>
              </a:lnSpc>
              <a:spcBef>
                <a:spcPts val="1445"/>
              </a:spcBef>
            </a:pPr>
            <a:r>
              <a:rPr dirty="0" sz="5400" spc="-165">
                <a:solidFill>
                  <a:srgbClr val="032836"/>
                </a:solidFill>
              </a:rPr>
              <a:t>From</a:t>
            </a:r>
            <a:r>
              <a:rPr dirty="0" sz="5400" spc="-155">
                <a:solidFill>
                  <a:srgbClr val="032836"/>
                </a:solidFill>
              </a:rPr>
              <a:t> </a:t>
            </a:r>
            <a:r>
              <a:rPr dirty="0" sz="5400" spc="-50">
                <a:solidFill>
                  <a:srgbClr val="083342"/>
                </a:solidFill>
              </a:rPr>
              <a:t>Static</a:t>
            </a:r>
            <a:r>
              <a:rPr dirty="0" sz="5400" spc="-200">
                <a:solidFill>
                  <a:srgbClr val="083342"/>
                </a:solidFill>
              </a:rPr>
              <a:t> </a:t>
            </a:r>
            <a:r>
              <a:rPr dirty="0" sz="5400" spc="-100">
                <a:solidFill>
                  <a:srgbClr val="032A38"/>
                </a:solidFill>
              </a:rPr>
              <a:t>Compliance </a:t>
            </a:r>
            <a:r>
              <a:rPr dirty="0" sz="5400">
                <a:solidFill>
                  <a:srgbClr val="012A36"/>
                </a:solidFill>
              </a:rPr>
              <a:t>to</a:t>
            </a:r>
            <a:r>
              <a:rPr dirty="0" sz="5400" spc="-509">
                <a:solidFill>
                  <a:srgbClr val="012A36"/>
                </a:solidFill>
              </a:rPr>
              <a:t> </a:t>
            </a:r>
            <a:r>
              <a:rPr dirty="0" sz="5400" spc="-55">
                <a:solidFill>
                  <a:srgbClr val="053646"/>
                </a:solidFill>
              </a:rPr>
              <a:t>Dynamic</a:t>
            </a:r>
            <a:r>
              <a:rPr dirty="0" sz="5400" spc="-105">
                <a:solidFill>
                  <a:srgbClr val="053646"/>
                </a:solidFill>
              </a:rPr>
              <a:t> </a:t>
            </a:r>
            <a:r>
              <a:rPr dirty="0" sz="5400" spc="-25">
                <a:solidFill>
                  <a:srgbClr val="012F3F"/>
                </a:solidFill>
              </a:rPr>
              <a:t>Integrity</a:t>
            </a:r>
            <a:endParaRPr sz="5400"/>
          </a:p>
        </p:txBody>
      </p:sp>
      <p:sp>
        <p:nvSpPr>
          <p:cNvPr id="8" name="object 8"/>
          <p:cNvSpPr txBox="1"/>
          <p:nvPr/>
        </p:nvSpPr>
        <p:spPr>
          <a:xfrm>
            <a:off x="855538" y="2532591"/>
            <a:ext cx="732028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549265" algn="l"/>
              </a:tabLst>
            </a:pPr>
            <a:r>
              <a:rPr dirty="0" sz="2700" spc="-45">
                <a:solidFill>
                  <a:srgbClr val="181818"/>
                </a:solidFill>
                <a:latin typeface="Arial"/>
                <a:cs typeface="Arial"/>
              </a:rPr>
              <a:t>The</a:t>
            </a:r>
            <a:r>
              <a:rPr dirty="0" sz="2700" spc="-13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1A1A1A"/>
                </a:solidFill>
                <a:latin typeface="Arial"/>
                <a:cs typeface="Arial"/>
              </a:rPr>
              <a:t>Mandate</a:t>
            </a:r>
            <a:r>
              <a:rPr dirty="0" sz="2700">
                <a:solidFill>
                  <a:srgbClr val="1A1A1A"/>
                </a:solidFill>
                <a:latin typeface="Arial"/>
                <a:cs typeface="Arial"/>
              </a:rPr>
              <a:t>	</a:t>
            </a:r>
            <a:r>
              <a:rPr dirty="0" sz="2700" spc="-5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dirty="0" sz="2700" spc="-14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131313"/>
                </a:solidFill>
                <a:latin typeface="Arial"/>
                <a:cs typeface="Arial"/>
              </a:rPr>
              <a:t>Friction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4504" y="7167385"/>
            <a:ext cx="4398645" cy="123444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 indent="9525">
              <a:lnSpc>
                <a:spcPct val="98600"/>
              </a:lnSpc>
              <a:spcBef>
                <a:spcPts val="145"/>
              </a:spcBef>
            </a:pPr>
            <a:r>
              <a:rPr dirty="0" sz="2000" spc="-114">
                <a:latin typeface="Arial"/>
                <a:cs typeface="Arial"/>
              </a:rPr>
              <a:t>European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regulators</a:t>
            </a:r>
            <a:r>
              <a:rPr dirty="0" sz="2000" spc="125">
                <a:latin typeface="Arial"/>
                <a:cs typeface="Arial"/>
              </a:rPr>
              <a:t> </a:t>
            </a:r>
            <a:r>
              <a:rPr dirty="0" sz="2000" spc="-150">
                <a:latin typeface="Arial"/>
                <a:cs typeface="Arial"/>
              </a:rPr>
              <a:t>(NBB,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60">
                <a:latin typeface="Arial"/>
                <a:cs typeface="Arial"/>
              </a:rPr>
              <a:t>DNB)</a:t>
            </a:r>
            <a:r>
              <a:rPr dirty="0" sz="2000" spc="7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demand </a:t>
            </a:r>
            <a:r>
              <a:rPr dirty="0" sz="2000" spc="-35">
                <a:latin typeface="Arial"/>
                <a:cs typeface="Arial"/>
              </a:rPr>
              <a:t>robust,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risk-</a:t>
            </a:r>
            <a:r>
              <a:rPr dirty="0" sz="2000" spc="-30">
                <a:latin typeface="Arial"/>
                <a:cs typeface="Arial"/>
              </a:rPr>
              <a:t>based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20">
                <a:latin typeface="Arial"/>
                <a:cs typeface="Arial"/>
              </a:rPr>
              <a:t>AML/CFT</a:t>
            </a:r>
            <a:r>
              <a:rPr dirty="0" sz="2000" spc="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frameworks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do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not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compromise</a:t>
            </a:r>
            <a:r>
              <a:rPr dirty="0" sz="2000" spc="9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financial inclusion.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0700" y="7149747"/>
            <a:ext cx="4476115" cy="154749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 marR="5080" indent="19050">
              <a:lnSpc>
                <a:spcPts val="2350"/>
              </a:lnSpc>
              <a:spcBef>
                <a:spcPts val="370"/>
              </a:spcBef>
            </a:pPr>
            <a:r>
              <a:rPr dirty="0" sz="2150" spc="-135">
                <a:latin typeface="Arial"/>
                <a:cs typeface="Arial"/>
              </a:rPr>
              <a:t>Traditional</a:t>
            </a:r>
            <a:r>
              <a:rPr dirty="0" sz="2150" spc="60">
                <a:latin typeface="Arial"/>
                <a:cs typeface="Arial"/>
              </a:rPr>
              <a:t> </a:t>
            </a:r>
            <a:r>
              <a:rPr dirty="0" sz="2150" spc="-80">
                <a:latin typeface="Arial"/>
                <a:cs typeface="Arial"/>
              </a:rPr>
              <a:t>’tick-box'</a:t>
            </a:r>
            <a:r>
              <a:rPr dirty="0" sz="2150" spc="-35">
                <a:latin typeface="Arial"/>
                <a:cs typeface="Arial"/>
              </a:rPr>
              <a:t> </a:t>
            </a:r>
            <a:r>
              <a:rPr dirty="0" sz="2150" spc="-145">
                <a:latin typeface="Arial"/>
                <a:cs typeface="Arial"/>
              </a:rPr>
              <a:t>compliance</a:t>
            </a:r>
            <a:r>
              <a:rPr dirty="0" sz="2150" spc="50">
                <a:latin typeface="Arial"/>
                <a:cs typeface="Arial"/>
              </a:rPr>
              <a:t> </a:t>
            </a:r>
            <a:r>
              <a:rPr dirty="0" sz="2150" spc="-90">
                <a:latin typeface="Arial"/>
                <a:cs typeface="Arial"/>
              </a:rPr>
              <a:t>is</a:t>
            </a:r>
            <a:r>
              <a:rPr dirty="0" sz="2150" spc="-60">
                <a:latin typeface="Arial"/>
                <a:cs typeface="Arial"/>
              </a:rPr>
              <a:t> </a:t>
            </a:r>
            <a:r>
              <a:rPr dirty="0" sz="2150" spc="-90">
                <a:latin typeface="Arial"/>
                <a:cs typeface="Arial"/>
              </a:rPr>
              <a:t>failing. </a:t>
            </a:r>
            <a:r>
              <a:rPr dirty="0" sz="2150">
                <a:latin typeface="Arial"/>
                <a:cs typeface="Arial"/>
              </a:rPr>
              <a:t>It</a:t>
            </a:r>
            <a:r>
              <a:rPr dirty="0" sz="2150" spc="-114">
                <a:latin typeface="Arial"/>
                <a:cs typeface="Arial"/>
              </a:rPr>
              <a:t> </a:t>
            </a:r>
            <a:r>
              <a:rPr dirty="0" sz="2150" spc="-130">
                <a:latin typeface="Arial"/>
                <a:cs typeface="Arial"/>
              </a:rPr>
              <a:t>creates</a:t>
            </a:r>
            <a:r>
              <a:rPr dirty="0" sz="2150" spc="35">
                <a:latin typeface="Arial"/>
                <a:cs typeface="Arial"/>
              </a:rPr>
              <a:t> </a:t>
            </a:r>
            <a:r>
              <a:rPr dirty="0" sz="2150" spc="-140">
                <a:latin typeface="Arial"/>
                <a:cs typeface="Arial"/>
              </a:rPr>
              <a:t>operational</a:t>
            </a:r>
            <a:r>
              <a:rPr dirty="0" sz="2150" spc="25">
                <a:latin typeface="Arial"/>
                <a:cs typeface="Arial"/>
              </a:rPr>
              <a:t> </a:t>
            </a:r>
            <a:r>
              <a:rPr dirty="0" sz="2150" spc="-114">
                <a:latin typeface="Arial"/>
                <a:cs typeface="Arial"/>
              </a:rPr>
              <a:t>bottlenecks,</a:t>
            </a:r>
            <a:r>
              <a:rPr dirty="0" sz="2150" spc="5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talent </a:t>
            </a:r>
            <a:r>
              <a:rPr dirty="0" sz="2150" spc="-145">
                <a:latin typeface="Arial"/>
                <a:cs typeface="Arial"/>
              </a:rPr>
              <a:t>shortages,</a:t>
            </a:r>
            <a:r>
              <a:rPr dirty="0" sz="2150" spc="-45">
                <a:latin typeface="Arial"/>
                <a:cs typeface="Arial"/>
              </a:rPr>
              <a:t> </a:t>
            </a:r>
            <a:r>
              <a:rPr dirty="0" sz="2150" spc="-180">
                <a:latin typeface="Arial"/>
                <a:cs typeface="Arial"/>
              </a:rPr>
              <a:t>and</a:t>
            </a:r>
            <a:r>
              <a:rPr dirty="0" sz="2150" spc="-75">
                <a:latin typeface="Arial"/>
                <a:cs typeface="Arial"/>
              </a:rPr>
              <a:t> </a:t>
            </a:r>
            <a:r>
              <a:rPr dirty="0" sz="2150" spc="-150">
                <a:latin typeface="Arial"/>
                <a:cs typeface="Arial"/>
              </a:rPr>
              <a:t>leads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 spc="-20">
                <a:latin typeface="Arial"/>
                <a:cs typeface="Arial"/>
              </a:rPr>
              <a:t>to</a:t>
            </a:r>
            <a:r>
              <a:rPr dirty="0" sz="2150">
                <a:latin typeface="Arial"/>
                <a:cs typeface="Arial"/>
              </a:rPr>
              <a:t> </a:t>
            </a:r>
            <a:r>
              <a:rPr dirty="0" sz="2150" spc="-35">
                <a:latin typeface="Arial"/>
                <a:cs typeface="Arial"/>
              </a:rPr>
              <a:t>categorical</a:t>
            </a:r>
            <a:endParaRPr sz="2150">
              <a:latin typeface="Arial"/>
              <a:cs typeface="Arial"/>
            </a:endParaRPr>
          </a:p>
          <a:p>
            <a:pPr marL="24130">
              <a:lnSpc>
                <a:spcPts val="2180"/>
              </a:lnSpc>
            </a:pPr>
            <a:r>
              <a:rPr dirty="0" sz="2000">
                <a:latin typeface="Arial"/>
                <a:cs typeface="Arial"/>
              </a:rPr>
              <a:t>’de</a:t>
            </a:r>
            <a:r>
              <a:rPr dirty="0" sz="2000" spc="14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risking’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rather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than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true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risk</a:t>
            </a:r>
            <a:endParaRPr sz="2000">
              <a:latin typeface="Arial"/>
              <a:cs typeface="Arial"/>
            </a:endParaRPr>
          </a:p>
          <a:p>
            <a:pPr marL="19685">
              <a:lnSpc>
                <a:spcPts val="2480"/>
              </a:lnSpc>
            </a:pPr>
            <a:r>
              <a:rPr dirty="0" sz="2150" spc="-95">
                <a:latin typeface="Arial"/>
                <a:cs typeface="Arial"/>
              </a:rPr>
              <a:t>management.</a:t>
            </a:r>
            <a:endParaRPr sz="2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29937" y="2532591"/>
            <a:ext cx="188404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50">
                <a:solidFill>
                  <a:srgbClr val="03131A"/>
                </a:solidFill>
                <a:latin typeface="Arial"/>
                <a:cs typeface="Arial"/>
              </a:rPr>
              <a:t>The</a:t>
            </a:r>
            <a:r>
              <a:rPr dirty="0" sz="2700" spc="-140">
                <a:solidFill>
                  <a:srgbClr val="03131A"/>
                </a:solidFill>
                <a:latin typeface="Arial"/>
                <a:cs typeface="Arial"/>
              </a:rPr>
              <a:t> </a:t>
            </a:r>
            <a:r>
              <a:rPr dirty="0" sz="2700" spc="-30">
                <a:solidFill>
                  <a:srgbClr val="111111"/>
                </a:solidFill>
                <a:latin typeface="Arial"/>
                <a:cs typeface="Arial"/>
              </a:rPr>
              <a:t>Solution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91509" y="7167385"/>
            <a:ext cx="4413885" cy="122809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3175">
              <a:lnSpc>
                <a:spcPts val="2350"/>
              </a:lnSpc>
              <a:spcBef>
                <a:spcPts val="229"/>
              </a:spcBef>
            </a:pPr>
            <a:r>
              <a:rPr dirty="0" sz="2000" spc="-50">
                <a:latin typeface="Arial"/>
                <a:cs typeface="Arial"/>
              </a:rPr>
              <a:t>Moving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from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periodic</a:t>
            </a:r>
            <a:r>
              <a:rPr dirty="0" sz="2000" spc="-5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review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Perpetual </a:t>
            </a:r>
            <a:r>
              <a:rPr dirty="0" sz="2000" spc="-215">
                <a:latin typeface="Arial"/>
                <a:cs typeface="Arial"/>
              </a:rPr>
              <a:t>KYC</a:t>
            </a:r>
            <a:r>
              <a:rPr dirty="0" sz="2000" spc="65">
                <a:latin typeface="Arial"/>
                <a:cs typeface="Arial"/>
              </a:rPr>
              <a:t> </a:t>
            </a:r>
            <a:r>
              <a:rPr dirty="0" sz="2000" spc="-105">
                <a:latin typeface="Arial"/>
                <a:cs typeface="Arial"/>
              </a:rPr>
              <a:t>(pKYC)—</a:t>
            </a:r>
            <a:r>
              <a:rPr dirty="0" sz="2000" spc="-80">
                <a:latin typeface="Arial"/>
                <a:cs typeface="Arial"/>
              </a:rPr>
              <a:t>leveraging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data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and </a:t>
            </a:r>
            <a:r>
              <a:rPr dirty="0" sz="2000" spc="-40">
                <a:latin typeface="Arial"/>
                <a:cs typeface="Arial"/>
              </a:rPr>
              <a:t>technology</a:t>
            </a:r>
            <a:r>
              <a:rPr dirty="0" sz="2000" spc="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ensure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continuous </a:t>
            </a:r>
            <a:r>
              <a:rPr dirty="0" sz="2000" spc="-50">
                <a:latin typeface="Arial"/>
                <a:cs typeface="Arial"/>
              </a:rPr>
              <a:t>compliance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and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operational</a:t>
            </a:r>
            <a:r>
              <a:rPr dirty="0" sz="2000" spc="-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efficiency.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00" y="241300"/>
            <a:ext cx="17056100" cy="93853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0399" y="393347"/>
            <a:ext cx="8133080" cy="1680845"/>
          </a:xfrm>
          <a:prstGeom prst="rect"/>
        </p:spPr>
        <p:txBody>
          <a:bodyPr wrap="square" lIns="0" tIns="157480" rIns="0" bIns="0" rtlCol="0" vert="horz">
            <a:spAutoFit/>
          </a:bodyPr>
          <a:lstStyle/>
          <a:p>
            <a:pPr marL="16510" marR="5080" indent="-4445">
              <a:lnSpc>
                <a:spcPts val="5950"/>
              </a:lnSpc>
              <a:spcBef>
                <a:spcPts val="1240"/>
              </a:spcBef>
            </a:pPr>
            <a:r>
              <a:rPr dirty="0" spc="-10">
                <a:solidFill>
                  <a:srgbClr val="153B62"/>
                </a:solidFill>
                <a:latin typeface="Times New Roman"/>
                <a:cs typeface="Times New Roman"/>
              </a:rPr>
              <a:t>The</a:t>
            </a:r>
            <a:r>
              <a:rPr dirty="0" spc="-500">
                <a:solidFill>
                  <a:srgbClr val="153B62"/>
                </a:solidFill>
                <a:latin typeface="Times New Roman"/>
                <a:cs typeface="Times New Roman"/>
              </a:rPr>
              <a:t> </a:t>
            </a:r>
            <a:r>
              <a:rPr dirty="0" spc="-195">
                <a:solidFill>
                  <a:srgbClr val="11385E"/>
                </a:solidFill>
                <a:latin typeface="Times New Roman"/>
                <a:cs typeface="Times New Roman"/>
              </a:rPr>
              <a:t>‘De-</a:t>
            </a:r>
            <a:r>
              <a:rPr dirty="0" spc="-130">
                <a:solidFill>
                  <a:srgbClr val="11385E"/>
                </a:solidFill>
                <a:latin typeface="Times New Roman"/>
                <a:cs typeface="Times New Roman"/>
              </a:rPr>
              <a:t>Risliing’</a:t>
            </a:r>
            <a:r>
              <a:rPr dirty="0" spc="-155">
                <a:solidFill>
                  <a:srgbClr val="11385E"/>
                </a:solidFill>
                <a:latin typeface="Times New Roman"/>
                <a:cs typeface="Times New Roman"/>
              </a:rPr>
              <a:t> </a:t>
            </a:r>
            <a:r>
              <a:rPr dirty="0" spc="-95">
                <a:solidFill>
                  <a:srgbClr val="133860"/>
                </a:solidFill>
                <a:latin typeface="Times New Roman"/>
                <a:cs typeface="Times New Roman"/>
              </a:rPr>
              <a:t>Dilemma: </a:t>
            </a:r>
            <a:r>
              <a:rPr dirty="0" spc="-555">
                <a:solidFill>
                  <a:srgbClr val="1A426E"/>
                </a:solidFill>
                <a:latin typeface="Times New Roman"/>
                <a:cs typeface="Times New Roman"/>
              </a:rPr>
              <a:t>A</a:t>
            </a:r>
            <a:r>
              <a:rPr dirty="0" spc="-235">
                <a:solidFill>
                  <a:srgbClr val="1A426E"/>
                </a:solidFill>
                <a:latin typeface="Times New Roman"/>
                <a:cs typeface="Times New Roman"/>
              </a:rPr>
              <a:t> </a:t>
            </a:r>
            <a:r>
              <a:rPr dirty="0" spc="-40">
                <a:solidFill>
                  <a:srgbClr val="163B64"/>
                </a:solidFill>
                <a:latin typeface="Times New Roman"/>
                <a:cs typeface="Times New Roman"/>
              </a:rPr>
              <a:t>Failure</a:t>
            </a:r>
            <a:r>
              <a:rPr dirty="0" spc="-330">
                <a:solidFill>
                  <a:srgbClr val="163B64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63660"/>
                </a:solidFill>
                <a:latin typeface="Times New Roman"/>
                <a:cs typeface="Times New Roman"/>
              </a:rPr>
              <a:t>of</a:t>
            </a:r>
            <a:r>
              <a:rPr dirty="0" spc="-185">
                <a:solidFill>
                  <a:srgbClr val="163660"/>
                </a:solidFill>
                <a:latin typeface="Times New Roman"/>
                <a:cs typeface="Times New Roman"/>
              </a:rPr>
              <a:t> </a:t>
            </a:r>
            <a:r>
              <a:rPr dirty="0" spc="-10">
                <a:solidFill>
                  <a:srgbClr val="1C426E"/>
                </a:solidFill>
                <a:latin typeface="Times New Roman"/>
                <a:cs typeface="Times New Roman"/>
              </a:rPr>
              <a:t>Management.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9415" y="3054350"/>
            <a:ext cx="3482975" cy="2527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dirty="0" sz="2500" spc="-165">
                <a:latin typeface="Arial"/>
                <a:cs typeface="Arial"/>
              </a:rPr>
              <a:t>NBB</a:t>
            </a:r>
            <a:r>
              <a:rPr dirty="0" sz="2500" spc="-9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Warning:</a:t>
            </a:r>
            <a:endParaRPr sz="2500">
              <a:latin typeface="Arial"/>
              <a:cs typeface="Arial"/>
            </a:endParaRPr>
          </a:p>
          <a:p>
            <a:pPr marL="15875" marR="5080" indent="7620">
              <a:lnSpc>
                <a:spcPct val="94500"/>
              </a:lnSpc>
              <a:spcBef>
                <a:spcPts val="40"/>
              </a:spcBef>
            </a:pPr>
            <a:r>
              <a:rPr dirty="0" sz="2550" spc="-95">
                <a:latin typeface="Arial"/>
                <a:cs typeface="Arial"/>
              </a:rPr>
              <a:t>De-</a:t>
            </a:r>
            <a:r>
              <a:rPr dirty="0" sz="2550" spc="-85">
                <a:latin typeface="Arial"/>
                <a:cs typeface="Arial"/>
              </a:rPr>
              <a:t>risking—</a:t>
            </a:r>
            <a:r>
              <a:rPr dirty="0" sz="2550" spc="-10">
                <a:latin typeface="Arial"/>
                <a:cs typeface="Arial"/>
              </a:rPr>
              <a:t>refusing </a:t>
            </a:r>
            <a:r>
              <a:rPr dirty="0" sz="2500" spc="-60">
                <a:latin typeface="Arial"/>
                <a:cs typeface="Arial"/>
              </a:rPr>
              <a:t>business</a:t>
            </a:r>
            <a:r>
              <a:rPr dirty="0" sz="2500" spc="-75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based</a:t>
            </a:r>
            <a:r>
              <a:rPr dirty="0" sz="2500" spc="-11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on </a:t>
            </a:r>
            <a:r>
              <a:rPr dirty="0" sz="2350">
                <a:latin typeface="Arial"/>
                <a:cs typeface="Arial"/>
              </a:rPr>
              <a:t>category</a:t>
            </a:r>
            <a:r>
              <a:rPr dirty="0" sz="2350" spc="28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rather</a:t>
            </a:r>
            <a:r>
              <a:rPr dirty="0" sz="2350" spc="320">
                <a:latin typeface="Arial"/>
                <a:cs typeface="Arial"/>
              </a:rPr>
              <a:t> </a:t>
            </a:r>
            <a:r>
              <a:rPr dirty="0" sz="2350" spc="-20">
                <a:latin typeface="Arial"/>
                <a:cs typeface="Arial"/>
              </a:rPr>
              <a:t>than </a:t>
            </a:r>
            <a:r>
              <a:rPr dirty="0" sz="2400">
                <a:latin typeface="Arial"/>
                <a:cs typeface="Arial"/>
              </a:rPr>
              <a:t>individual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risk—</a:t>
            </a:r>
            <a:r>
              <a:rPr dirty="0" sz="2400" spc="-10">
                <a:latin typeface="Arial"/>
                <a:cs typeface="Arial"/>
              </a:rPr>
              <a:t>suggests </a:t>
            </a:r>
            <a:r>
              <a:rPr dirty="0" sz="2500" spc="-10">
                <a:latin typeface="Arial"/>
                <a:cs typeface="Arial"/>
              </a:rPr>
              <a:t>“ineffective</a:t>
            </a:r>
            <a:r>
              <a:rPr dirty="0" sz="2500" spc="-85">
                <a:latin typeface="Arial"/>
                <a:cs typeface="Arial"/>
              </a:rPr>
              <a:t> management” </a:t>
            </a:r>
            <a:r>
              <a:rPr dirty="0" sz="2500">
                <a:latin typeface="Arial"/>
                <a:cs typeface="Arial"/>
              </a:rPr>
              <a:t>of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80">
                <a:latin typeface="Arial"/>
                <a:cs typeface="Arial"/>
              </a:rPr>
              <a:t>ML/FT</a:t>
            </a:r>
            <a:r>
              <a:rPr dirty="0" sz="2500" spc="-6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risks.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08072" y="801511"/>
            <a:ext cx="1205865" cy="5416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2910"/>
              </a:lnSpc>
              <a:spcBef>
                <a:spcPts val="135"/>
              </a:spcBef>
            </a:pPr>
            <a:r>
              <a:rPr dirty="0" sz="2600" spc="-35">
                <a:latin typeface="Arial"/>
                <a:cs typeface="Arial"/>
              </a:rPr>
              <a:t>National</a:t>
            </a:r>
            <a:endParaRPr sz="2600">
              <a:latin typeface="Arial"/>
              <a:cs typeface="Arial"/>
            </a:endParaRPr>
          </a:p>
          <a:p>
            <a:pPr marL="18415">
              <a:lnSpc>
                <a:spcPts val="1110"/>
              </a:lnSpc>
            </a:pPr>
            <a:r>
              <a:rPr dirty="0" sz="1100" spc="-185">
                <a:latin typeface="Arial"/>
                <a:cs typeface="Arial"/>
              </a:rPr>
              <a:t>OE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8ELGf§UE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09637" y="4476750"/>
            <a:ext cx="2888615" cy="251968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4604" marR="5080" indent="-2540">
              <a:lnSpc>
                <a:spcPct val="95300"/>
              </a:lnSpc>
              <a:spcBef>
                <a:spcPts val="240"/>
              </a:spcBef>
            </a:pPr>
            <a:r>
              <a:rPr dirty="0" sz="2500">
                <a:latin typeface="Arial"/>
                <a:cs typeface="Arial"/>
              </a:rPr>
              <a:t>Societal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Duty:</a:t>
            </a:r>
            <a:r>
              <a:rPr dirty="0" sz="2500" spc="62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Banks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must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balance </a:t>
            </a:r>
            <a:r>
              <a:rPr dirty="0" sz="2350">
                <a:latin typeface="Arial"/>
                <a:cs typeface="Arial"/>
              </a:rPr>
              <a:t>AML</a:t>
            </a:r>
            <a:r>
              <a:rPr dirty="0" sz="2350" spc="6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duties</a:t>
            </a:r>
            <a:r>
              <a:rPr dirty="0" sz="2350" spc="50">
                <a:latin typeface="Arial"/>
                <a:cs typeface="Arial"/>
              </a:rPr>
              <a:t> </a:t>
            </a:r>
            <a:r>
              <a:rPr dirty="0" sz="2350" spc="45">
                <a:latin typeface="Arial"/>
                <a:cs typeface="Arial"/>
              </a:rPr>
              <a:t>with </a:t>
            </a:r>
            <a:r>
              <a:rPr dirty="0" sz="2350">
                <a:latin typeface="Arial"/>
                <a:cs typeface="Arial"/>
              </a:rPr>
              <a:t>Financial</a:t>
            </a:r>
            <a:r>
              <a:rPr dirty="0" sz="2350" spc="-105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inclusion, </a:t>
            </a:r>
            <a:r>
              <a:rPr dirty="0" sz="2500" spc="-45">
                <a:latin typeface="Arial"/>
                <a:cs typeface="Arial"/>
              </a:rPr>
              <a:t>Contractual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freedom, </a:t>
            </a:r>
            <a:r>
              <a:rPr dirty="0" sz="2550" spc="-95">
                <a:latin typeface="Arial"/>
                <a:cs typeface="Arial"/>
              </a:rPr>
              <a:t>and</a:t>
            </a:r>
            <a:r>
              <a:rPr dirty="0" sz="2550" spc="-9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Economic </a:t>
            </a:r>
            <a:r>
              <a:rPr dirty="0" sz="2400" spc="-10">
                <a:latin typeface="Arial"/>
                <a:cs typeface="Arial"/>
              </a:rPr>
              <a:t>development.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0174" y="8544630"/>
            <a:ext cx="14168119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25">
                <a:latin typeface="Arial"/>
                <a:cs typeface="Arial"/>
              </a:rPr>
              <a:t>“Rejection</a:t>
            </a:r>
            <a:r>
              <a:rPr dirty="0" sz="2550" spc="-4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without</a:t>
            </a:r>
            <a:r>
              <a:rPr dirty="0" sz="2550" spc="4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individual</a:t>
            </a:r>
            <a:r>
              <a:rPr dirty="0" sz="2550" spc="-50">
                <a:latin typeface="Arial"/>
                <a:cs typeface="Arial"/>
              </a:rPr>
              <a:t> assessment</a:t>
            </a:r>
            <a:r>
              <a:rPr dirty="0" sz="2550" spc="6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is</a:t>
            </a:r>
            <a:r>
              <a:rPr dirty="0" sz="2550" spc="-17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a</a:t>
            </a:r>
            <a:r>
              <a:rPr dirty="0" sz="2550" spc="-7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sign</a:t>
            </a:r>
            <a:r>
              <a:rPr dirty="0" sz="2550" spc="-7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of</a:t>
            </a:r>
            <a:r>
              <a:rPr dirty="0" sz="2550" spc="-70">
                <a:latin typeface="Arial"/>
                <a:cs typeface="Arial"/>
              </a:rPr>
              <a:t> </a:t>
            </a:r>
            <a:r>
              <a:rPr dirty="0" sz="2550" spc="-25">
                <a:latin typeface="Arial"/>
                <a:cs typeface="Arial"/>
              </a:rPr>
              <a:t>inadequate</a:t>
            </a:r>
            <a:r>
              <a:rPr dirty="0" sz="2550" spc="-4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implementation</a:t>
            </a:r>
            <a:r>
              <a:rPr dirty="0" sz="2550" spc="-24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of</a:t>
            </a:r>
            <a:r>
              <a:rPr dirty="0" sz="2550" spc="-105">
                <a:latin typeface="Arial"/>
                <a:cs typeface="Arial"/>
              </a:rPr>
              <a:t> </a:t>
            </a:r>
            <a:r>
              <a:rPr dirty="0" sz="2550" spc="-110">
                <a:latin typeface="Arial"/>
                <a:cs typeface="Arial"/>
              </a:rPr>
              <a:t>AML</a:t>
            </a:r>
            <a:r>
              <a:rPr dirty="0" sz="2550" spc="-6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obligations.”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5700" y="1638300"/>
            <a:ext cx="7543800" cy="7556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16300" y="9493250"/>
            <a:ext cx="1219200" cy="13335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88085" y="431799"/>
            <a:ext cx="14225269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235">
                <a:solidFill>
                  <a:srgbClr val="082F41"/>
                </a:solidFill>
              </a:rPr>
              <a:t>Five</a:t>
            </a:r>
            <a:r>
              <a:rPr dirty="0" sz="5000" spc="-204">
                <a:solidFill>
                  <a:srgbClr val="082F41"/>
                </a:solidFill>
              </a:rPr>
              <a:t> </a:t>
            </a:r>
            <a:r>
              <a:rPr dirty="0" sz="5000" spc="-185">
                <a:solidFill>
                  <a:srgbClr val="052D3A"/>
                </a:solidFill>
              </a:rPr>
              <a:t>Operational</a:t>
            </a:r>
            <a:r>
              <a:rPr dirty="0" sz="5000" spc="-90">
                <a:solidFill>
                  <a:srgbClr val="052D3A"/>
                </a:solidFill>
              </a:rPr>
              <a:t> </a:t>
            </a:r>
            <a:r>
              <a:rPr dirty="0" sz="5000" spc="-170">
                <a:solidFill>
                  <a:srgbClr val="073141"/>
                </a:solidFill>
              </a:rPr>
              <a:t>Challenges</a:t>
            </a:r>
            <a:r>
              <a:rPr dirty="0" sz="5000" spc="25">
                <a:solidFill>
                  <a:srgbClr val="073141"/>
                </a:solidFill>
              </a:rPr>
              <a:t> </a:t>
            </a:r>
            <a:r>
              <a:rPr dirty="0" sz="5000" spc="-170">
                <a:solidFill>
                  <a:srgbClr val="01212D"/>
                </a:solidFill>
              </a:rPr>
              <a:t>Stifling</a:t>
            </a:r>
            <a:r>
              <a:rPr dirty="0" sz="5000" spc="-105">
                <a:solidFill>
                  <a:srgbClr val="01212D"/>
                </a:solidFill>
              </a:rPr>
              <a:t> </a:t>
            </a:r>
            <a:r>
              <a:rPr dirty="0" sz="5000" spc="-185">
                <a:solidFill>
                  <a:srgbClr val="08313F"/>
                </a:solidFill>
              </a:rPr>
              <a:t>Financial</a:t>
            </a:r>
            <a:r>
              <a:rPr dirty="0" sz="5000" spc="5">
                <a:solidFill>
                  <a:srgbClr val="08313F"/>
                </a:solidFill>
              </a:rPr>
              <a:t> </a:t>
            </a:r>
            <a:r>
              <a:rPr dirty="0" sz="5000" spc="-195">
                <a:solidFill>
                  <a:srgbClr val="072D38"/>
                </a:solidFill>
              </a:rPr>
              <a:t>Institutions</a:t>
            </a:r>
            <a:endParaRPr sz="5000"/>
          </a:p>
        </p:txBody>
      </p:sp>
      <p:sp>
        <p:nvSpPr>
          <p:cNvPr id="5" name="object 5"/>
          <p:cNvSpPr txBox="1"/>
          <p:nvPr/>
        </p:nvSpPr>
        <p:spPr>
          <a:xfrm>
            <a:off x="2038705" y="2211442"/>
            <a:ext cx="3211830" cy="100584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r" marL="12700" marR="5080" indent="501650">
              <a:lnSpc>
                <a:spcPct val="96800"/>
              </a:lnSpc>
              <a:spcBef>
                <a:spcPts val="325"/>
              </a:spcBef>
            </a:pPr>
            <a:r>
              <a:rPr dirty="0" sz="2300" spc="-50">
                <a:solidFill>
                  <a:srgbClr val="1A1A1A"/>
                </a:solidFill>
                <a:latin typeface="Arial"/>
                <a:cs typeface="Arial"/>
              </a:rPr>
              <a:t>5.</a:t>
            </a:r>
            <a:r>
              <a:rPr dirty="0" sz="2300" spc="-2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-50">
                <a:solidFill>
                  <a:srgbClr val="161616"/>
                </a:solidFill>
                <a:latin typeface="Arial"/>
                <a:cs typeface="Arial"/>
              </a:rPr>
              <a:t>Obsolete</a:t>
            </a:r>
            <a:r>
              <a:rPr dirty="0" sz="2300" spc="-8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11111"/>
                </a:solidFill>
                <a:latin typeface="Arial"/>
                <a:cs typeface="Arial"/>
              </a:rPr>
              <a:t>Methods: </a:t>
            </a:r>
            <a:r>
              <a:rPr dirty="0" sz="2000" spc="-114">
                <a:latin typeface="Arial"/>
                <a:cs typeface="Arial"/>
              </a:rPr>
              <a:t>The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urgent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need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move</a:t>
            </a:r>
            <a:r>
              <a:rPr dirty="0" sz="2000" spc="1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from </a:t>
            </a:r>
            <a:r>
              <a:rPr dirty="0" sz="2150" spc="-130">
                <a:latin typeface="Arial"/>
                <a:cs typeface="Arial"/>
              </a:rPr>
              <a:t>periodic</a:t>
            </a:r>
            <a:r>
              <a:rPr dirty="0" sz="2150" spc="45">
                <a:latin typeface="Arial"/>
                <a:cs typeface="Arial"/>
              </a:rPr>
              <a:t> </a:t>
            </a:r>
            <a:r>
              <a:rPr dirty="0" sz="2150" spc="-145">
                <a:latin typeface="Arial"/>
                <a:cs typeface="Arial"/>
              </a:rPr>
              <a:t>reviews</a:t>
            </a:r>
            <a:r>
              <a:rPr dirty="0" sz="2150" spc="-25">
                <a:latin typeface="Arial"/>
                <a:cs typeface="Arial"/>
              </a:rPr>
              <a:t> </a:t>
            </a:r>
            <a:r>
              <a:rPr dirty="0" sz="2150" spc="-80">
                <a:latin typeface="Arial"/>
                <a:cs typeface="Arial"/>
              </a:rPr>
              <a:t>to</a:t>
            </a:r>
            <a:r>
              <a:rPr dirty="0" sz="2150" spc="-160">
                <a:latin typeface="Arial"/>
                <a:cs typeface="Arial"/>
              </a:rPr>
              <a:t> </a:t>
            </a:r>
            <a:r>
              <a:rPr dirty="0" sz="2150" spc="-265">
                <a:latin typeface="Arial"/>
                <a:cs typeface="Arial"/>
              </a:rPr>
              <a:t>pKYC.</a:t>
            </a:r>
            <a:endParaRPr sz="2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2553" y="5760508"/>
            <a:ext cx="2559050" cy="9791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0"/>
              </a:spcBef>
            </a:pPr>
            <a:r>
              <a:rPr dirty="0" sz="2300" spc="-30">
                <a:solidFill>
                  <a:srgbClr val="232323"/>
                </a:solidFill>
                <a:latin typeface="Arial"/>
                <a:cs typeface="Arial"/>
              </a:rPr>
              <a:t>4.</a:t>
            </a:r>
            <a:r>
              <a:rPr dirty="0" sz="2300" spc="-28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300" spc="-35">
                <a:solidFill>
                  <a:srgbClr val="131313"/>
                </a:solidFill>
                <a:latin typeface="Arial"/>
                <a:cs typeface="Arial"/>
              </a:rPr>
              <a:t>Regulatory</a:t>
            </a:r>
            <a:r>
              <a:rPr dirty="0" sz="2300" spc="-8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0C0C0C"/>
                </a:solidFill>
                <a:latin typeface="Arial"/>
                <a:cs typeface="Arial"/>
              </a:rPr>
              <a:t>Flux:</a:t>
            </a:r>
            <a:endParaRPr sz="2300">
              <a:latin typeface="Arial"/>
              <a:cs typeface="Arial"/>
            </a:endParaRPr>
          </a:p>
          <a:p>
            <a:pPr algn="r" marR="33655">
              <a:lnSpc>
                <a:spcPts val="2330"/>
              </a:lnSpc>
              <a:spcBef>
                <a:spcPts val="90"/>
              </a:spcBef>
            </a:pPr>
            <a:r>
              <a:rPr dirty="0" sz="2050" spc="-200">
                <a:latin typeface="Arial"/>
                <a:cs typeface="Arial"/>
              </a:rPr>
              <a:t>6AMLD</a:t>
            </a:r>
            <a:r>
              <a:rPr dirty="0" sz="2050" spc="55">
                <a:latin typeface="Arial"/>
                <a:cs typeface="Arial"/>
              </a:rPr>
              <a:t> </a:t>
            </a:r>
            <a:r>
              <a:rPr dirty="0" sz="2050" spc="-114">
                <a:latin typeface="Arial"/>
                <a:cs typeface="Arial"/>
              </a:rPr>
              <a:t>and</a:t>
            </a:r>
            <a:r>
              <a:rPr dirty="0" sz="2050" spc="-145">
                <a:latin typeface="Arial"/>
                <a:cs typeface="Arial"/>
              </a:rPr>
              <a:t> </a:t>
            </a:r>
            <a:r>
              <a:rPr dirty="0" sz="2050" spc="-90">
                <a:latin typeface="Arial"/>
                <a:cs typeface="Arial"/>
              </a:rPr>
              <a:t>increasingly</a:t>
            </a:r>
            <a:endParaRPr sz="2050">
              <a:latin typeface="Arial"/>
              <a:cs typeface="Arial"/>
            </a:endParaRPr>
          </a:p>
          <a:p>
            <a:pPr algn="r" marR="8890">
              <a:lnSpc>
                <a:spcPts val="2330"/>
              </a:lnSpc>
            </a:pPr>
            <a:r>
              <a:rPr dirty="0" sz="2050" spc="-75">
                <a:latin typeface="Arial"/>
                <a:cs typeface="Arial"/>
              </a:rPr>
              <a:t>stringent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rules.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94630" y="7487416"/>
            <a:ext cx="2872105" cy="101600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 marR="5080" indent="236854">
              <a:lnSpc>
                <a:spcPct val="100299"/>
              </a:lnSpc>
              <a:spcBef>
                <a:spcPts val="285"/>
              </a:spcBef>
            </a:pPr>
            <a:r>
              <a:rPr dirty="0" sz="2300">
                <a:solidFill>
                  <a:srgbClr val="131313"/>
                </a:solidFill>
                <a:latin typeface="Arial"/>
                <a:cs typeface="Arial"/>
              </a:rPr>
              <a:t>3.</a:t>
            </a:r>
            <a:r>
              <a:rPr dirty="0" sz="2300" spc="-2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C1C1C"/>
                </a:solidFill>
                <a:latin typeface="Arial"/>
                <a:cs typeface="Arial"/>
              </a:rPr>
              <a:t>Talent</a:t>
            </a:r>
            <a:r>
              <a:rPr dirty="0" sz="2300" spc="-2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080808"/>
                </a:solidFill>
                <a:latin typeface="Arial"/>
                <a:cs typeface="Arial"/>
              </a:rPr>
              <a:t>Shortage: </a:t>
            </a:r>
            <a:r>
              <a:rPr dirty="0" sz="2000">
                <a:latin typeface="Arial"/>
                <a:cs typeface="Arial"/>
              </a:rPr>
              <a:t>156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90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workforce</a:t>
            </a:r>
            <a:r>
              <a:rPr dirty="0" sz="2000" spc="40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in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KYC; </a:t>
            </a:r>
            <a:r>
              <a:rPr dirty="0" sz="2000" spc="-70">
                <a:latin typeface="Arial"/>
                <a:cs typeface="Arial"/>
              </a:rPr>
              <a:t>shortage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skilled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analysts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1108" y="2223558"/>
            <a:ext cx="3626485" cy="127762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5240" marR="5080" indent="-3175">
              <a:lnSpc>
                <a:spcPct val="96200"/>
              </a:lnSpc>
              <a:spcBef>
                <a:spcPts val="195"/>
              </a:spcBef>
            </a:pPr>
            <a:r>
              <a:rPr dirty="0" sz="2300" spc="-145">
                <a:solidFill>
                  <a:srgbClr val="0A0A0A"/>
                </a:solidFill>
                <a:latin typeface="Arial"/>
                <a:cs typeface="Arial"/>
              </a:rPr>
              <a:t>1.</a:t>
            </a:r>
            <a:r>
              <a:rPr dirty="0" sz="2300" spc="-229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00" spc="-40">
                <a:solidFill>
                  <a:srgbClr val="111111"/>
                </a:solidFill>
                <a:latin typeface="Arial"/>
                <a:cs typeface="Arial"/>
              </a:rPr>
              <a:t>Negative</a:t>
            </a:r>
            <a:r>
              <a:rPr dirty="0" sz="2300" spc="-8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Arial"/>
                <a:cs typeface="Arial"/>
              </a:rPr>
              <a:t>Experience: </a:t>
            </a:r>
            <a:r>
              <a:rPr dirty="0" sz="2050" spc="-125">
                <a:latin typeface="Arial"/>
                <a:cs typeface="Arial"/>
              </a:rPr>
              <a:t>Onboarding</a:t>
            </a:r>
            <a:r>
              <a:rPr dirty="0" sz="2050" spc="70">
                <a:latin typeface="Arial"/>
                <a:cs typeface="Arial"/>
              </a:rPr>
              <a:t> </a:t>
            </a:r>
            <a:r>
              <a:rPr dirty="0" sz="2050" spc="-90">
                <a:latin typeface="Arial"/>
                <a:cs typeface="Arial"/>
              </a:rPr>
              <a:t>takes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-135">
                <a:latin typeface="Arial"/>
                <a:cs typeface="Arial"/>
              </a:rPr>
              <a:t>up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to</a:t>
            </a:r>
            <a:r>
              <a:rPr dirty="0" sz="2050" spc="-250">
                <a:latin typeface="Arial"/>
                <a:cs typeface="Arial"/>
              </a:rPr>
              <a:t> </a:t>
            </a:r>
            <a:r>
              <a:rPr dirty="0" sz="2050" spc="-114">
                <a:latin typeface="Arial"/>
                <a:cs typeface="Arial"/>
              </a:rPr>
              <a:t>100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days; </a:t>
            </a:r>
            <a:r>
              <a:rPr dirty="0" sz="2050">
                <a:latin typeface="Arial"/>
                <a:cs typeface="Arial"/>
              </a:rPr>
              <a:t>13a</a:t>
            </a:r>
            <a:r>
              <a:rPr dirty="0" sz="2050" spc="-9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of</a:t>
            </a:r>
            <a:r>
              <a:rPr dirty="0" sz="2050" spc="-80">
                <a:latin typeface="Arial"/>
                <a:cs typeface="Arial"/>
              </a:rPr>
              <a:t> corporates</a:t>
            </a:r>
            <a:r>
              <a:rPr dirty="0" sz="2050" spc="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switch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banks </a:t>
            </a:r>
            <a:r>
              <a:rPr dirty="0" sz="2050" spc="-135">
                <a:latin typeface="Arial"/>
                <a:cs typeface="Arial"/>
              </a:rPr>
              <a:t>due</a:t>
            </a:r>
            <a:r>
              <a:rPr dirty="0" sz="2050" spc="-10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to</a:t>
            </a:r>
            <a:r>
              <a:rPr dirty="0" sz="2050" spc="-100">
                <a:latin typeface="Arial"/>
                <a:cs typeface="Arial"/>
              </a:rPr>
              <a:t> </a:t>
            </a:r>
            <a:r>
              <a:rPr dirty="0" sz="2050" spc="-35">
                <a:latin typeface="Arial"/>
                <a:cs typeface="Arial"/>
              </a:rPr>
              <a:t>friction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-145">
                <a:latin typeface="Arial"/>
                <a:cs typeface="Arial"/>
              </a:rPr>
              <a:t>(Thomson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Reuters).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14249" y="5728466"/>
            <a:ext cx="3625215" cy="100965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 indent="15240">
              <a:lnSpc>
                <a:spcPct val="99800"/>
              </a:lnSpc>
              <a:spcBef>
                <a:spcPts val="300"/>
              </a:spcBef>
            </a:pPr>
            <a:r>
              <a:rPr dirty="0" sz="2300" spc="-65">
                <a:solidFill>
                  <a:srgbClr val="181818"/>
                </a:solidFill>
                <a:latin typeface="Arial"/>
                <a:cs typeface="Arial"/>
              </a:rPr>
              <a:t>2.</a:t>
            </a:r>
            <a:r>
              <a:rPr dirty="0" sz="2300" spc="-20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2300" spc="-45">
                <a:solidFill>
                  <a:srgbClr val="131313"/>
                </a:solidFill>
                <a:latin typeface="Arial"/>
                <a:cs typeface="Arial"/>
              </a:rPr>
              <a:t>Outreach</a:t>
            </a:r>
            <a:r>
              <a:rPr dirty="0" sz="2300" spc="-10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Arial"/>
                <a:cs typeface="Arial"/>
              </a:rPr>
              <a:t>Friction: </a:t>
            </a:r>
            <a:r>
              <a:rPr dirty="0" sz="2000" spc="-35">
                <a:latin typeface="Arial"/>
                <a:cs typeface="Arial"/>
              </a:rPr>
              <a:t>Inefficient</a:t>
            </a:r>
            <a:r>
              <a:rPr dirty="0" sz="2000" spc="40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email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exchanges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and </a:t>
            </a:r>
            <a:r>
              <a:rPr dirty="0" sz="2000" spc="-50">
                <a:latin typeface="Arial"/>
                <a:cs typeface="Arial"/>
              </a:rPr>
              <a:t>lack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0C0C0C"/>
                </a:solidFill>
                <a:latin typeface="Arial"/>
                <a:cs typeface="Arial"/>
              </a:rPr>
              <a:t>of</a:t>
            </a:r>
            <a:r>
              <a:rPr dirty="0" sz="2000" spc="-12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alignment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110">
                <a:latin typeface="Arial"/>
                <a:cs typeface="Arial"/>
              </a:rPr>
              <a:t>on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requirements.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5400" y="8585200"/>
            <a:ext cx="6134100" cy="22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100" y="7315200"/>
            <a:ext cx="6604000" cy="38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31300" y="2590800"/>
            <a:ext cx="596900" cy="5816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80600" y="2578100"/>
            <a:ext cx="6807200" cy="5842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29500" y="1371600"/>
            <a:ext cx="1016000" cy="5461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85800" y="2868083"/>
            <a:ext cx="6583045" cy="0"/>
          </a:xfrm>
          <a:custGeom>
            <a:avLst/>
            <a:gdLst/>
            <a:ahLst/>
            <a:cxnLst/>
            <a:rect l="l" t="t" r="r" b="b"/>
            <a:pathLst>
              <a:path w="6583045" h="0">
                <a:moveTo>
                  <a:pt x="0" y="0"/>
                </a:moveTo>
                <a:lnTo>
                  <a:pt x="6582833" y="0"/>
                </a:lnTo>
              </a:path>
            </a:pathLst>
          </a:custGeom>
          <a:ln w="29633">
            <a:solidFill>
              <a:srgbClr val="384B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325100" y="2410883"/>
            <a:ext cx="410845" cy="0"/>
          </a:xfrm>
          <a:custGeom>
            <a:avLst/>
            <a:gdLst/>
            <a:ahLst/>
            <a:cxnLst/>
            <a:rect l="l" t="t" r="r" b="b"/>
            <a:pathLst>
              <a:path w="410845" h="0">
                <a:moveTo>
                  <a:pt x="0" y="0"/>
                </a:moveTo>
                <a:lnTo>
                  <a:pt x="4106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22000" y="2254250"/>
            <a:ext cx="2197100" cy="1714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14600" y="2254250"/>
            <a:ext cx="241300" cy="1714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941300" y="622300"/>
            <a:ext cx="3924300" cy="7112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185900" y="2349500"/>
            <a:ext cx="1028700" cy="1651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078200" y="2349500"/>
            <a:ext cx="228600" cy="114300"/>
          </a:xfrm>
          <a:prstGeom prst="rect">
            <a:avLst/>
          </a:prstGeom>
        </p:spPr>
      </p:pic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641725" y="384527"/>
            <a:ext cx="10181590" cy="1685289"/>
          </a:xfrm>
          <a:prstGeom prst="rect"/>
        </p:spPr>
        <p:txBody>
          <a:bodyPr wrap="square" lIns="0" tIns="171450" rIns="0" bIns="0" rtlCol="0" vert="horz">
            <a:spAutoFit/>
          </a:bodyPr>
          <a:lstStyle/>
          <a:p>
            <a:pPr marL="12700" marR="5080" indent="6350">
              <a:lnSpc>
                <a:spcPts val="5900"/>
              </a:lnSpc>
              <a:spcBef>
                <a:spcPts val="1350"/>
              </a:spcBef>
            </a:pPr>
            <a:r>
              <a:rPr dirty="0" sz="5950" spc="-175">
                <a:solidFill>
                  <a:srgbClr val="113B54"/>
                </a:solidFill>
              </a:rPr>
              <a:t>The</a:t>
            </a:r>
            <a:r>
              <a:rPr dirty="0" sz="5950" spc="-225">
                <a:solidFill>
                  <a:srgbClr val="113B54"/>
                </a:solidFill>
              </a:rPr>
              <a:t> </a:t>
            </a:r>
            <a:r>
              <a:rPr dirty="0" sz="5950" spc="-114">
                <a:solidFill>
                  <a:srgbClr val="0A2F42"/>
                </a:solidFill>
              </a:rPr>
              <a:t>Risk-</a:t>
            </a:r>
            <a:r>
              <a:rPr dirty="0" sz="5950" spc="-20">
                <a:solidFill>
                  <a:srgbClr val="0A2F42"/>
                </a:solidFill>
              </a:rPr>
              <a:t>Based</a:t>
            </a:r>
            <a:r>
              <a:rPr dirty="0" sz="5950" spc="-150">
                <a:solidFill>
                  <a:srgbClr val="0A2F42"/>
                </a:solidFill>
              </a:rPr>
              <a:t> </a:t>
            </a:r>
            <a:r>
              <a:rPr dirty="0" sz="5950" spc="-140">
                <a:solidFill>
                  <a:srgbClr val="0C3649"/>
                </a:solidFill>
              </a:rPr>
              <a:t>Approach</a:t>
            </a:r>
            <a:r>
              <a:rPr dirty="0" sz="5950" spc="-190">
                <a:solidFill>
                  <a:srgbClr val="0C3649"/>
                </a:solidFill>
              </a:rPr>
              <a:t> </a:t>
            </a:r>
            <a:r>
              <a:rPr dirty="0" sz="5950" spc="-140">
                <a:solidFill>
                  <a:srgbClr val="113449"/>
                </a:solidFill>
              </a:rPr>
              <a:t>(RBA). </a:t>
            </a:r>
            <a:r>
              <a:rPr dirty="0" sz="5950" spc="-10">
                <a:solidFill>
                  <a:srgbClr val="0E3649"/>
                </a:solidFill>
              </a:rPr>
              <a:t>One</a:t>
            </a:r>
            <a:r>
              <a:rPr dirty="0" sz="5950" spc="-315">
                <a:solidFill>
                  <a:srgbClr val="0E3649"/>
                </a:solidFill>
              </a:rPr>
              <a:t> </a:t>
            </a:r>
            <a:r>
              <a:rPr dirty="0" sz="5950" spc="-55">
                <a:solidFill>
                  <a:srgbClr val="08364D"/>
                </a:solidFill>
              </a:rPr>
              <a:t>Size</a:t>
            </a:r>
            <a:r>
              <a:rPr dirty="0" sz="5950" spc="-254">
                <a:solidFill>
                  <a:srgbClr val="08364D"/>
                </a:solidFill>
              </a:rPr>
              <a:t> </a:t>
            </a:r>
            <a:r>
              <a:rPr dirty="0" sz="5950" spc="-100">
                <a:solidFill>
                  <a:srgbClr val="0F3D52"/>
                </a:solidFill>
              </a:rPr>
              <a:t>Does</a:t>
            </a:r>
            <a:r>
              <a:rPr dirty="0" sz="5950" spc="-315">
                <a:solidFill>
                  <a:srgbClr val="0F3D52"/>
                </a:solidFill>
              </a:rPr>
              <a:t> </a:t>
            </a:r>
            <a:r>
              <a:rPr dirty="0" sz="5950" spc="-130">
                <a:solidFill>
                  <a:srgbClr val="11364B"/>
                </a:solidFill>
              </a:rPr>
              <a:t>Not</a:t>
            </a:r>
            <a:r>
              <a:rPr dirty="0" sz="5950" spc="-200">
                <a:solidFill>
                  <a:srgbClr val="11364B"/>
                </a:solidFill>
              </a:rPr>
              <a:t> </a:t>
            </a:r>
            <a:r>
              <a:rPr dirty="0" sz="5950" spc="-25">
                <a:solidFill>
                  <a:srgbClr val="0C364F"/>
                </a:solidFill>
              </a:rPr>
              <a:t>Fit</a:t>
            </a:r>
            <a:endParaRPr sz="5950"/>
          </a:p>
        </p:txBody>
      </p:sp>
      <p:sp>
        <p:nvSpPr>
          <p:cNvPr id="15" name="object 15"/>
          <p:cNvSpPr txBox="1"/>
          <p:nvPr/>
        </p:nvSpPr>
        <p:spPr>
          <a:xfrm>
            <a:off x="877245" y="3026833"/>
            <a:ext cx="5859145" cy="226631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207645" marR="5080" indent="-195580">
              <a:lnSpc>
                <a:spcPct val="86000"/>
              </a:lnSpc>
              <a:spcBef>
                <a:spcPts val="600"/>
              </a:spcBef>
              <a:buChar char="-"/>
              <a:tabLst>
                <a:tab pos="216535" algn="l"/>
              </a:tabLst>
            </a:pPr>
            <a:r>
              <a:rPr dirty="0" sz="2900" spc="-229">
                <a:latin typeface="Arial"/>
                <a:cs typeface="Arial"/>
              </a:rPr>
              <a:t>Core</a:t>
            </a:r>
            <a:r>
              <a:rPr dirty="0" sz="2900" spc="-300">
                <a:latin typeface="Arial"/>
                <a:cs typeface="Arial"/>
              </a:rPr>
              <a:t> </a:t>
            </a:r>
            <a:r>
              <a:rPr dirty="0" sz="2900" spc="-145">
                <a:latin typeface="Arial"/>
                <a:cs typeface="Arial"/>
              </a:rPr>
              <a:t>Principle: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 spc="-150">
                <a:latin typeface="Arial"/>
                <a:cs typeface="Arial"/>
              </a:rPr>
              <a:t>Institutions</a:t>
            </a:r>
            <a:r>
              <a:rPr dirty="0" sz="2900" spc="85">
                <a:latin typeface="Arial"/>
                <a:cs typeface="Arial"/>
              </a:rPr>
              <a:t> </a:t>
            </a:r>
            <a:r>
              <a:rPr dirty="0" sz="2900" spc="-95">
                <a:latin typeface="Arial"/>
                <a:cs typeface="Arial"/>
              </a:rPr>
              <a:t>determine </a:t>
            </a:r>
            <a:r>
              <a:rPr dirty="0" sz="2900" spc="-95">
                <a:latin typeface="Arial"/>
                <a:cs typeface="Arial"/>
              </a:rPr>
              <a:t>	</a:t>
            </a:r>
            <a:r>
              <a:rPr dirty="0" sz="2750" spc="-95">
                <a:latin typeface="Arial"/>
                <a:cs typeface="Arial"/>
              </a:rPr>
              <a:t>mitigation</a:t>
            </a:r>
            <a:r>
              <a:rPr dirty="0" sz="2750" spc="-45">
                <a:latin typeface="Arial"/>
                <a:cs typeface="Arial"/>
              </a:rPr>
              <a:t> </a:t>
            </a:r>
            <a:r>
              <a:rPr dirty="0" sz="2750" spc="-105">
                <a:latin typeface="Arial"/>
                <a:cs typeface="Arial"/>
              </a:rPr>
              <a:t>strategies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 spc="-150">
                <a:latin typeface="Arial"/>
                <a:cs typeface="Arial"/>
              </a:rPr>
              <a:t>based</a:t>
            </a:r>
            <a:r>
              <a:rPr dirty="0" sz="2750" spc="-25">
                <a:latin typeface="Arial"/>
                <a:cs typeface="Arial"/>
              </a:rPr>
              <a:t> </a:t>
            </a:r>
            <a:r>
              <a:rPr dirty="0" sz="2750" spc="-195">
                <a:latin typeface="Arial"/>
                <a:cs typeface="Arial"/>
              </a:rPr>
              <a:t>on</a:t>
            </a:r>
            <a:r>
              <a:rPr dirty="0" sz="2750" spc="-10">
                <a:latin typeface="Arial"/>
                <a:cs typeface="Arial"/>
              </a:rPr>
              <a:t> </a:t>
            </a:r>
            <a:r>
              <a:rPr dirty="0" sz="2750" spc="-70">
                <a:latin typeface="Arial"/>
                <a:cs typeface="Arial"/>
              </a:rPr>
              <a:t>their</a:t>
            </a:r>
            <a:r>
              <a:rPr dirty="0" sz="2750" spc="-105">
                <a:latin typeface="Arial"/>
                <a:cs typeface="Arial"/>
              </a:rPr>
              <a:t> </a:t>
            </a:r>
            <a:r>
              <a:rPr dirty="0" sz="2750" spc="-150">
                <a:latin typeface="Arial"/>
                <a:cs typeface="Arial"/>
              </a:rPr>
              <a:t>own </a:t>
            </a:r>
            <a:r>
              <a:rPr dirty="0" sz="2750" spc="-150">
                <a:latin typeface="Arial"/>
                <a:cs typeface="Arial"/>
              </a:rPr>
              <a:t>	</a:t>
            </a:r>
            <a:r>
              <a:rPr dirty="0" sz="2750" spc="-105">
                <a:latin typeface="Arial"/>
                <a:cs typeface="Arial"/>
              </a:rPr>
              <a:t>risk</a:t>
            </a:r>
            <a:r>
              <a:rPr dirty="0" sz="2750" spc="-85">
                <a:latin typeface="Arial"/>
                <a:cs typeface="Arial"/>
              </a:rPr>
              <a:t> </a:t>
            </a:r>
            <a:r>
              <a:rPr dirty="0" sz="2750" spc="-90">
                <a:latin typeface="Arial"/>
                <a:cs typeface="Arial"/>
              </a:rPr>
              <a:t>assessment.</a:t>
            </a:r>
            <a:endParaRPr sz="2750">
              <a:latin typeface="Arial"/>
              <a:cs typeface="Arial"/>
            </a:endParaRPr>
          </a:p>
          <a:p>
            <a:pPr marL="206375" indent="-193040">
              <a:lnSpc>
                <a:spcPts val="3070"/>
              </a:lnSpc>
              <a:spcBef>
                <a:spcPts val="2450"/>
              </a:spcBef>
              <a:buChar char="-"/>
              <a:tabLst>
                <a:tab pos="206375" algn="l"/>
              </a:tabLst>
            </a:pPr>
            <a:r>
              <a:rPr dirty="0" sz="2700" spc="-105">
                <a:latin typeface="Arial"/>
                <a:cs typeface="Arial"/>
              </a:rPr>
              <a:t>The</a:t>
            </a:r>
            <a:r>
              <a:rPr dirty="0" sz="2700" spc="-190">
                <a:latin typeface="Arial"/>
                <a:cs typeface="Arial"/>
              </a:rPr>
              <a:t> </a:t>
            </a:r>
            <a:r>
              <a:rPr dirty="0" sz="2700" spc="-80">
                <a:latin typeface="Arial"/>
                <a:cs typeface="Arial"/>
              </a:rPr>
              <a:t>Reality: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 spc="-145">
                <a:latin typeface="Arial"/>
                <a:cs typeface="Arial"/>
              </a:rPr>
              <a:t>“Residual</a:t>
            </a:r>
            <a:r>
              <a:rPr dirty="0" sz="2700" spc="100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risk”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is</a:t>
            </a:r>
            <a:r>
              <a:rPr dirty="0" sz="2700" spc="-114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accepted;</a:t>
            </a:r>
            <a:endParaRPr sz="2700">
              <a:latin typeface="Arial"/>
              <a:cs typeface="Arial"/>
            </a:endParaRPr>
          </a:p>
          <a:p>
            <a:pPr marL="220979">
              <a:lnSpc>
                <a:spcPts val="2950"/>
              </a:lnSpc>
            </a:pPr>
            <a:r>
              <a:rPr dirty="0" sz="2600" spc="-85">
                <a:latin typeface="Arial"/>
                <a:cs typeface="Arial"/>
              </a:rPr>
              <a:t>zero</a:t>
            </a:r>
            <a:r>
              <a:rPr dirty="0" sz="2600" spc="-10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risk</a:t>
            </a:r>
            <a:r>
              <a:rPr dirty="0" sz="2600" spc="-130">
                <a:latin typeface="Arial"/>
                <a:cs typeface="Arial"/>
              </a:rPr>
              <a:t> </a:t>
            </a:r>
            <a:r>
              <a:rPr dirty="0" sz="2600" spc="-35">
                <a:latin typeface="Arial"/>
                <a:cs typeface="Arial"/>
              </a:rPr>
              <a:t>is</a:t>
            </a:r>
            <a:r>
              <a:rPr dirty="0" sz="2600" spc="-15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impossible.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8364" y="5589411"/>
            <a:ext cx="5973445" cy="150368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15265" marR="5080" indent="-203200">
              <a:lnSpc>
                <a:spcPct val="92400"/>
              </a:lnSpc>
              <a:spcBef>
                <a:spcPts val="375"/>
              </a:spcBef>
            </a:pPr>
            <a:r>
              <a:rPr dirty="0" sz="2600" spc="100">
                <a:latin typeface="Arial"/>
                <a:cs typeface="Arial"/>
              </a:rPr>
              <a:t>-</a:t>
            </a:r>
            <a:r>
              <a:rPr dirty="0" sz="2600" spc="-210">
                <a:latin typeface="Arial"/>
                <a:cs typeface="Arial"/>
              </a:rPr>
              <a:t> </a:t>
            </a:r>
            <a:r>
              <a:rPr dirty="0" sz="2600" spc="-170">
                <a:latin typeface="Arial"/>
                <a:cs typeface="Arial"/>
              </a:rPr>
              <a:t>DNB </a:t>
            </a:r>
            <a:r>
              <a:rPr dirty="0" sz="2600" spc="-105">
                <a:latin typeface="Arial"/>
                <a:cs typeface="Arial"/>
              </a:rPr>
              <a:t>Good</a:t>
            </a:r>
            <a:r>
              <a:rPr dirty="0" sz="2600" spc="-19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Practice:</a:t>
            </a:r>
            <a:r>
              <a:rPr dirty="0" sz="2600" spc="-185">
                <a:latin typeface="Arial"/>
                <a:cs typeface="Arial"/>
              </a:rPr>
              <a:t> </a:t>
            </a:r>
            <a:r>
              <a:rPr dirty="0" sz="2600" spc="-45">
                <a:latin typeface="Arial"/>
                <a:cs typeface="Arial"/>
              </a:rPr>
              <a:t>Classify</a:t>
            </a:r>
            <a:r>
              <a:rPr dirty="0" sz="2600" spc="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customers </a:t>
            </a:r>
            <a:r>
              <a:rPr dirty="0" sz="2550" spc="-25">
                <a:latin typeface="Arial"/>
                <a:cs typeface="Arial"/>
              </a:rPr>
              <a:t>based</a:t>
            </a:r>
            <a:r>
              <a:rPr dirty="0" sz="2550" spc="-4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on</a:t>
            </a:r>
            <a:r>
              <a:rPr dirty="0" sz="2550" spc="-17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characteristics</a:t>
            </a:r>
            <a:r>
              <a:rPr dirty="0" sz="2550" spc="-17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(sector, </a:t>
            </a:r>
            <a:r>
              <a:rPr dirty="0" sz="2600" spc="-70">
                <a:latin typeface="Arial"/>
                <a:cs typeface="Arial"/>
              </a:rPr>
              <a:t>geography,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product)</a:t>
            </a:r>
            <a:r>
              <a:rPr dirty="0" sz="2600" spc="1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to</a:t>
            </a:r>
            <a:r>
              <a:rPr dirty="0" sz="2600" spc="-180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apply</a:t>
            </a:r>
            <a:r>
              <a:rPr dirty="0" sz="2600" spc="-55">
                <a:latin typeface="Arial"/>
                <a:cs typeface="Arial"/>
              </a:rPr>
              <a:t> appropriate </a:t>
            </a:r>
            <a:r>
              <a:rPr dirty="0" sz="2500">
                <a:latin typeface="Arial"/>
                <a:cs typeface="Arial"/>
              </a:rPr>
              <a:t>diligence</a:t>
            </a:r>
            <a:r>
              <a:rPr dirty="0" sz="2500" spc="1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measures.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09744" y="6807200"/>
            <a:ext cx="148272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65">
                <a:latin typeface="Arial"/>
                <a:cs typeface="Arial"/>
              </a:rPr>
              <a:t>Low</a:t>
            </a:r>
            <a:r>
              <a:rPr dirty="0" sz="2500" spc="-110">
                <a:latin typeface="Arial"/>
                <a:cs typeface="Arial"/>
              </a:rPr>
              <a:t> </a:t>
            </a:r>
            <a:r>
              <a:rPr dirty="0" sz="2500" spc="-75">
                <a:latin typeface="Arial"/>
                <a:cs typeface="Arial"/>
              </a:rPr>
              <a:t>Risk</a:t>
            </a:r>
            <a:r>
              <a:rPr dirty="0" sz="2500" spc="-100">
                <a:latin typeface="Arial"/>
                <a:cs typeface="Arial"/>
              </a:rPr>
              <a:t> </a:t>
            </a:r>
            <a:r>
              <a:rPr dirty="0" sz="2500" spc="-70">
                <a:latin typeface="Arial"/>
                <a:cs typeface="Arial"/>
              </a:rPr>
              <a:t>=</a:t>
            </a:r>
            <a:endParaRPr sz="2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320274" y="7485591"/>
            <a:ext cx="2529840" cy="17322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305">
                <a:latin typeface="Arial"/>
                <a:cs typeface="Arial"/>
              </a:rPr>
              <a:t>(SDD).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700">
              <a:latin typeface="Arial"/>
              <a:cs typeface="Arial"/>
            </a:endParaRPr>
          </a:p>
          <a:p>
            <a:pPr marL="1113790">
              <a:lnSpc>
                <a:spcPct val="100000"/>
              </a:lnSpc>
            </a:pPr>
            <a:r>
              <a:rPr dirty="0" sz="2600" spc="-70">
                <a:latin typeface="Arial"/>
                <a:cs typeface="Arial"/>
              </a:rPr>
              <a:t>Likelihood</a:t>
            </a:r>
            <a:endParaRPr sz="2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158508" y="2184400"/>
            <a:ext cx="17907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65">
                <a:solidFill>
                  <a:srgbClr val="494949"/>
                </a:solidFill>
                <a:latin typeface="Consolas"/>
                <a:cs typeface="Consolas"/>
              </a:rPr>
              <a:t>26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"/>
                <a:cs typeface="Arial"/>
              </a:rPr>
              <a:t>G</a:t>
            </a:r>
            <a:r>
              <a:rPr dirty="0" sz="1300" spc="49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4500" y="4140200"/>
            <a:ext cx="622300" cy="571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1900" y="3771900"/>
            <a:ext cx="1295400" cy="1333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14000" y="2971800"/>
            <a:ext cx="5016500" cy="28829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529417" y="3331633"/>
            <a:ext cx="0" cy="2374900"/>
          </a:xfrm>
          <a:custGeom>
            <a:avLst/>
            <a:gdLst/>
            <a:ahLst/>
            <a:cxnLst/>
            <a:rect l="l" t="t" r="r" b="b"/>
            <a:pathLst>
              <a:path w="0" h="2374900">
                <a:moveTo>
                  <a:pt x="0" y="2374900"/>
                </a:moveTo>
                <a:lnTo>
                  <a:pt x="0" y="0"/>
                </a:lnTo>
              </a:path>
            </a:pathLst>
          </a:custGeom>
          <a:ln w="12700">
            <a:solidFill>
              <a:srgbClr val="67707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2523067" y="3331633"/>
            <a:ext cx="3898900" cy="2489200"/>
            <a:chOff x="2523067" y="3331633"/>
            <a:chExt cx="3898900" cy="2489200"/>
          </a:xfrm>
        </p:grpSpPr>
        <p:sp>
          <p:nvSpPr>
            <p:cNvPr id="7" name="object 7"/>
            <p:cNvSpPr/>
            <p:nvPr/>
          </p:nvSpPr>
          <p:spPr>
            <a:xfrm>
              <a:off x="6415617" y="3331633"/>
              <a:ext cx="0" cy="2489200"/>
            </a:xfrm>
            <a:custGeom>
              <a:avLst/>
              <a:gdLst/>
              <a:ahLst/>
              <a:cxnLst/>
              <a:rect l="l" t="t" r="r" b="b"/>
              <a:pathLst>
                <a:path w="0" h="2489200">
                  <a:moveTo>
                    <a:pt x="0" y="2489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6770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523067" y="3337983"/>
              <a:ext cx="3898900" cy="0"/>
            </a:xfrm>
            <a:custGeom>
              <a:avLst/>
              <a:gdLst/>
              <a:ahLst/>
              <a:cxnLst/>
              <a:rect l="l" t="t" r="r" b="b"/>
              <a:pathLst>
                <a:path w="3898900" h="0">
                  <a:moveTo>
                    <a:pt x="0" y="0"/>
                  </a:moveTo>
                  <a:lnTo>
                    <a:pt x="3898900" y="0"/>
                  </a:lnTo>
                </a:path>
              </a:pathLst>
            </a:custGeom>
            <a:ln w="12700">
              <a:solidFill>
                <a:srgbClr val="6770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62767" y="5814483"/>
              <a:ext cx="3759200" cy="0"/>
            </a:xfrm>
            <a:custGeom>
              <a:avLst/>
              <a:gdLst/>
              <a:ahLst/>
              <a:cxnLst/>
              <a:rect l="l" t="t" r="r" b="b"/>
              <a:pathLst>
                <a:path w="3759200" h="0">
                  <a:moveTo>
                    <a:pt x="0" y="0"/>
                  </a:moveTo>
                  <a:lnTo>
                    <a:pt x="3759200" y="0"/>
                  </a:lnTo>
                </a:path>
              </a:pathLst>
            </a:custGeom>
            <a:ln w="12700">
              <a:solidFill>
                <a:srgbClr val="6770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857500" y="5560483"/>
              <a:ext cx="1845945" cy="0"/>
            </a:xfrm>
            <a:custGeom>
              <a:avLst/>
              <a:gdLst/>
              <a:ahLst/>
              <a:cxnLst/>
              <a:rect l="l" t="t" r="r" b="b"/>
              <a:pathLst>
                <a:path w="1845945" h="0">
                  <a:moveTo>
                    <a:pt x="0" y="0"/>
                  </a:moveTo>
                  <a:lnTo>
                    <a:pt x="1845733" y="0"/>
                  </a:lnTo>
                </a:path>
              </a:pathLst>
            </a:custGeom>
            <a:ln w="42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870200" y="5357283"/>
              <a:ext cx="1833245" cy="0"/>
            </a:xfrm>
            <a:custGeom>
              <a:avLst/>
              <a:gdLst/>
              <a:ahLst/>
              <a:cxnLst/>
              <a:rect l="l" t="t" r="r" b="b"/>
              <a:pathLst>
                <a:path w="1833245" h="0">
                  <a:moveTo>
                    <a:pt x="0" y="0"/>
                  </a:moveTo>
                  <a:lnTo>
                    <a:pt x="1833033" y="0"/>
                  </a:lnTo>
                </a:path>
              </a:pathLst>
            </a:custGeom>
            <a:ln w="4233">
              <a:solidFill>
                <a:srgbClr val="7077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245100" y="4404783"/>
              <a:ext cx="448945" cy="0"/>
            </a:xfrm>
            <a:custGeom>
              <a:avLst/>
              <a:gdLst/>
              <a:ahLst/>
              <a:cxnLst/>
              <a:rect l="l" t="t" r="r" b="b"/>
              <a:pathLst>
                <a:path w="448945" h="0">
                  <a:moveTo>
                    <a:pt x="0" y="0"/>
                  </a:moveTo>
                  <a:lnTo>
                    <a:pt x="448733" y="0"/>
                  </a:lnTo>
                </a:path>
              </a:pathLst>
            </a:custGeom>
            <a:ln w="29633">
              <a:solidFill>
                <a:srgbClr val="4F54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245100" y="4239683"/>
              <a:ext cx="766445" cy="0"/>
            </a:xfrm>
            <a:custGeom>
              <a:avLst/>
              <a:gdLst/>
              <a:ahLst/>
              <a:cxnLst/>
              <a:rect l="l" t="t" r="r" b="b"/>
              <a:pathLst>
                <a:path w="766445" h="0">
                  <a:moveTo>
                    <a:pt x="0" y="0"/>
                  </a:moveTo>
                  <a:lnTo>
                    <a:pt x="766233" y="0"/>
                  </a:lnTo>
                </a:path>
              </a:pathLst>
            </a:custGeom>
            <a:ln w="4233">
              <a:solidFill>
                <a:srgbClr val="6467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245100" y="4138083"/>
              <a:ext cx="347345" cy="0"/>
            </a:xfrm>
            <a:custGeom>
              <a:avLst/>
              <a:gdLst/>
              <a:ahLst/>
              <a:cxnLst/>
              <a:rect l="l" t="t" r="r" b="b"/>
              <a:pathLst>
                <a:path w="347345" h="0">
                  <a:moveTo>
                    <a:pt x="0" y="0"/>
                  </a:moveTo>
                  <a:lnTo>
                    <a:pt x="347133" y="0"/>
                  </a:lnTo>
                </a:path>
              </a:pathLst>
            </a:custGeom>
            <a:ln w="29633">
              <a:solidFill>
                <a:srgbClr val="646B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232400" y="3972983"/>
              <a:ext cx="525145" cy="0"/>
            </a:xfrm>
            <a:custGeom>
              <a:avLst/>
              <a:gdLst/>
              <a:ahLst/>
              <a:cxnLst/>
              <a:rect l="l" t="t" r="r" b="b"/>
              <a:pathLst>
                <a:path w="525145" h="0">
                  <a:moveTo>
                    <a:pt x="0" y="0"/>
                  </a:moveTo>
                  <a:lnTo>
                    <a:pt x="524933" y="0"/>
                  </a:lnTo>
                </a:path>
              </a:pathLst>
            </a:custGeom>
            <a:ln w="4233">
              <a:solidFill>
                <a:srgbClr val="7477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937000" y="3464983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5" h="0">
                  <a:moveTo>
                    <a:pt x="0" y="0"/>
                  </a:moveTo>
                  <a:lnTo>
                    <a:pt x="575733" y="0"/>
                  </a:lnTo>
                </a:path>
              </a:pathLst>
            </a:custGeom>
            <a:ln w="4233">
              <a:solidFill>
                <a:srgbClr val="6467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800600" y="3464983"/>
              <a:ext cx="512445" cy="0"/>
            </a:xfrm>
            <a:custGeom>
              <a:avLst/>
              <a:gdLst/>
              <a:ahLst/>
              <a:cxnLst/>
              <a:rect l="l" t="t" r="r" b="b"/>
              <a:pathLst>
                <a:path w="512445" h="0">
                  <a:moveTo>
                    <a:pt x="0" y="0"/>
                  </a:moveTo>
                  <a:lnTo>
                    <a:pt x="512233" y="0"/>
                  </a:lnTo>
                </a:path>
              </a:pathLst>
            </a:custGeom>
            <a:ln w="4233">
              <a:solidFill>
                <a:srgbClr val="646B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562600" y="3579283"/>
              <a:ext cx="436245" cy="0"/>
            </a:xfrm>
            <a:custGeom>
              <a:avLst/>
              <a:gdLst/>
              <a:ahLst/>
              <a:cxnLst/>
              <a:rect l="l" t="t" r="r" b="b"/>
              <a:pathLst>
                <a:path w="436245" h="0">
                  <a:moveTo>
                    <a:pt x="0" y="0"/>
                  </a:moveTo>
                  <a:lnTo>
                    <a:pt x="436033" y="0"/>
                  </a:lnTo>
                </a:path>
              </a:pathLst>
            </a:custGeom>
            <a:ln w="4233">
              <a:solidFill>
                <a:srgbClr val="7077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562600" y="3464983"/>
              <a:ext cx="677545" cy="0"/>
            </a:xfrm>
            <a:custGeom>
              <a:avLst/>
              <a:gdLst/>
              <a:ahLst/>
              <a:cxnLst/>
              <a:rect l="l" t="t" r="r" b="b"/>
              <a:pathLst>
                <a:path w="677545" h="0">
                  <a:moveTo>
                    <a:pt x="0" y="0"/>
                  </a:moveTo>
                  <a:lnTo>
                    <a:pt x="677333" y="0"/>
                  </a:lnTo>
                </a:path>
              </a:pathLst>
            </a:custGeom>
            <a:ln w="4233">
              <a:solidFill>
                <a:srgbClr val="64677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6300" y="8420100"/>
            <a:ext cx="101600" cy="9652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30500" y="4254500"/>
            <a:ext cx="139700" cy="35560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40000" y="5314950"/>
            <a:ext cx="3943350" cy="47625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07000" y="4502150"/>
            <a:ext cx="1060450" cy="577850"/>
          </a:xfrm>
          <a:prstGeom prst="rect">
            <a:avLst/>
          </a:prstGeom>
        </p:spPr>
      </p:pic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700" spc="-204">
                <a:solidFill>
                  <a:srgbClr val="232323"/>
                </a:solidFill>
              </a:rPr>
              <a:t>Customer</a:t>
            </a:r>
            <a:r>
              <a:rPr dirty="0" sz="5700" spc="110">
                <a:solidFill>
                  <a:srgbClr val="232323"/>
                </a:solidFill>
              </a:rPr>
              <a:t> </a:t>
            </a:r>
            <a:r>
              <a:rPr dirty="0" sz="5700" spc="-140">
                <a:solidFill>
                  <a:srgbClr val="16283B"/>
                </a:solidFill>
              </a:rPr>
              <a:t>Due</a:t>
            </a:r>
            <a:r>
              <a:rPr dirty="0" sz="5700" spc="-350">
                <a:solidFill>
                  <a:srgbClr val="16283B"/>
                </a:solidFill>
              </a:rPr>
              <a:t> </a:t>
            </a:r>
            <a:r>
              <a:rPr dirty="0" sz="5700" spc="-200">
                <a:solidFill>
                  <a:srgbClr val="232323"/>
                </a:solidFill>
              </a:rPr>
              <a:t>Diligence:</a:t>
            </a:r>
            <a:r>
              <a:rPr dirty="0" sz="5700" spc="-114">
                <a:solidFill>
                  <a:srgbClr val="232323"/>
                </a:solidFill>
              </a:rPr>
              <a:t> </a:t>
            </a:r>
            <a:r>
              <a:rPr dirty="0" sz="5700" spc="-285">
                <a:solidFill>
                  <a:srgbClr val="262626"/>
                </a:solidFill>
              </a:rPr>
              <a:t>Beyond</a:t>
            </a:r>
            <a:r>
              <a:rPr dirty="0" sz="5700" spc="-25">
                <a:solidFill>
                  <a:srgbClr val="262626"/>
                </a:solidFill>
              </a:rPr>
              <a:t> </a:t>
            </a:r>
            <a:r>
              <a:rPr dirty="0" sz="5700" spc="-195">
                <a:solidFill>
                  <a:srgbClr val="282828"/>
                </a:solidFill>
              </a:rPr>
              <a:t>the</a:t>
            </a:r>
            <a:r>
              <a:rPr dirty="0" sz="5700" spc="-355">
                <a:solidFill>
                  <a:srgbClr val="282828"/>
                </a:solidFill>
              </a:rPr>
              <a:t> </a:t>
            </a:r>
            <a:r>
              <a:rPr dirty="0" sz="5700" spc="-180">
                <a:solidFill>
                  <a:srgbClr val="1A1A1A"/>
                </a:solidFill>
              </a:rPr>
              <a:t>Check-</a:t>
            </a:r>
            <a:r>
              <a:rPr dirty="0" sz="5700" spc="-20">
                <a:solidFill>
                  <a:srgbClr val="1A1A1A"/>
                </a:solidFill>
              </a:rPr>
              <a:t>Box.</a:t>
            </a:r>
            <a:endParaRPr sz="5700"/>
          </a:p>
        </p:txBody>
      </p:sp>
      <p:sp>
        <p:nvSpPr>
          <p:cNvPr id="25" name="object 25"/>
          <p:cNvSpPr txBox="1"/>
          <p:nvPr/>
        </p:nvSpPr>
        <p:spPr>
          <a:xfrm>
            <a:off x="2943664" y="1905000"/>
            <a:ext cx="1195578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39734" algn="l"/>
              </a:tabLst>
            </a:pPr>
            <a:r>
              <a:rPr dirty="0" sz="3750" spc="-110">
                <a:solidFill>
                  <a:srgbClr val="1A1A1A"/>
                </a:solidFill>
                <a:latin typeface="Cambria"/>
                <a:cs typeface="Cambria"/>
              </a:rPr>
              <a:t>Identity</a:t>
            </a:r>
            <a:r>
              <a:rPr dirty="0" sz="3750" spc="-6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dirty="0" sz="3750" spc="-10">
                <a:solidFill>
                  <a:srgbClr val="1A1A1A"/>
                </a:solidFill>
                <a:latin typeface="Cambria"/>
                <a:cs typeface="Cambria"/>
              </a:rPr>
              <a:t>(Static).</a:t>
            </a:r>
            <a:r>
              <a:rPr dirty="0" sz="3750">
                <a:solidFill>
                  <a:srgbClr val="1A1A1A"/>
                </a:solidFill>
                <a:latin typeface="Cambria"/>
                <a:cs typeface="Cambria"/>
              </a:rPr>
              <a:t>	</a:t>
            </a:r>
            <a:r>
              <a:rPr dirty="0" sz="3750" spc="-135">
                <a:solidFill>
                  <a:srgbClr val="1A1A1A"/>
                </a:solidFill>
                <a:latin typeface="Cambria"/>
                <a:cs typeface="Cambria"/>
              </a:rPr>
              <a:t>Nature</a:t>
            </a:r>
            <a:r>
              <a:rPr dirty="0" sz="3750" spc="-55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dirty="0" sz="3750" spc="-100">
                <a:solidFill>
                  <a:srgbClr val="131313"/>
                </a:solidFill>
                <a:latin typeface="Cambria"/>
                <a:cs typeface="Cambria"/>
              </a:rPr>
              <a:t>(Contextual).</a:t>
            </a:r>
            <a:endParaRPr sz="37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1472" y="6400447"/>
            <a:ext cx="6968490" cy="1519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4475" indent="-230504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dirty="0" sz="2150">
                <a:latin typeface="Arial"/>
                <a:cs typeface="Arial"/>
              </a:rPr>
              <a:t>Identity</a:t>
            </a:r>
            <a:r>
              <a:rPr dirty="0" sz="2150" spc="1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must</a:t>
            </a:r>
            <a:r>
              <a:rPr dirty="0" sz="2150" spc="55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be</a:t>
            </a:r>
            <a:r>
              <a:rPr dirty="0" sz="2150" spc="-3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verified</a:t>
            </a:r>
            <a:r>
              <a:rPr dirty="0" sz="2150" spc="-15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through </a:t>
            </a:r>
            <a:r>
              <a:rPr dirty="0" sz="2150" spc="-20">
                <a:latin typeface="Arial"/>
                <a:cs typeface="Arial"/>
              </a:rPr>
              <a:t>reliable,</a:t>
            </a:r>
            <a:r>
              <a:rPr dirty="0" sz="2150" spc="-13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independent</a:t>
            </a:r>
            <a:endParaRPr sz="2150">
              <a:latin typeface="Arial"/>
              <a:cs typeface="Arial"/>
            </a:endParaRPr>
          </a:p>
          <a:p>
            <a:pPr marL="260985">
              <a:lnSpc>
                <a:spcPct val="100000"/>
              </a:lnSpc>
              <a:spcBef>
                <a:spcPts val="70"/>
              </a:spcBef>
            </a:pPr>
            <a:r>
              <a:rPr dirty="0" sz="2300" spc="-10">
                <a:latin typeface="Arial"/>
                <a:cs typeface="Arial"/>
              </a:rPr>
              <a:t>sources.</a:t>
            </a:r>
            <a:endParaRPr sz="2300">
              <a:latin typeface="Arial"/>
              <a:cs typeface="Arial"/>
            </a:endParaRPr>
          </a:p>
          <a:p>
            <a:pPr marL="245110" indent="-232410">
              <a:lnSpc>
                <a:spcPct val="100000"/>
              </a:lnSpc>
              <a:spcBef>
                <a:spcPts val="690"/>
              </a:spcBef>
              <a:buChar char="•"/>
              <a:tabLst>
                <a:tab pos="245110" algn="l"/>
              </a:tabLst>
            </a:pPr>
            <a:r>
              <a:rPr dirty="0" sz="2400" spc="-210">
                <a:latin typeface="Arial"/>
                <a:cs typeface="Arial"/>
              </a:rPr>
              <a:t>Name-</a:t>
            </a:r>
            <a:r>
              <a:rPr dirty="0" sz="2400" spc="-145">
                <a:latin typeface="Arial"/>
                <a:cs typeface="Arial"/>
              </a:rPr>
              <a:t>number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135">
                <a:latin typeface="Arial"/>
                <a:cs typeface="Arial"/>
              </a:rPr>
              <a:t>check</a:t>
            </a:r>
            <a:r>
              <a:rPr dirty="0" sz="2400" spc="45">
                <a:latin typeface="Arial"/>
                <a:cs typeface="Arial"/>
              </a:rPr>
              <a:t> </a:t>
            </a:r>
            <a:r>
              <a:rPr dirty="0" sz="2400" spc="-160">
                <a:latin typeface="Arial"/>
                <a:cs typeface="Arial"/>
              </a:rPr>
              <a:t>(e.g.,</a:t>
            </a:r>
            <a:r>
              <a:rPr dirty="0" sz="2400" spc="-175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1</a:t>
            </a:r>
            <a:r>
              <a:rPr dirty="0" sz="2400" spc="-245">
                <a:latin typeface="Arial"/>
                <a:cs typeface="Arial"/>
              </a:rPr>
              <a:t> </a:t>
            </a:r>
            <a:r>
              <a:rPr dirty="0" sz="2400" spc="-135">
                <a:latin typeface="Arial"/>
                <a:cs typeface="Arial"/>
              </a:rPr>
              <a:t>cent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transfer)</a:t>
            </a:r>
            <a:r>
              <a:rPr dirty="0" sz="2400" spc="65">
                <a:latin typeface="Arial"/>
                <a:cs typeface="Arial"/>
              </a:rPr>
              <a:t> </a:t>
            </a:r>
            <a:r>
              <a:rPr dirty="0" sz="2400" spc="-135">
                <a:latin typeface="Arial"/>
                <a:cs typeface="Arial"/>
              </a:rPr>
              <a:t>is</a:t>
            </a:r>
            <a:r>
              <a:rPr dirty="0" sz="2400" spc="-16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insufficient</a:t>
            </a:r>
            <a:endParaRPr sz="24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20"/>
              </a:spcBef>
            </a:pPr>
            <a:r>
              <a:rPr dirty="0" sz="2300" spc="-110">
                <a:latin typeface="Arial"/>
                <a:cs typeface="Arial"/>
              </a:rPr>
              <a:t>on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its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own.</a:t>
            </a:r>
            <a:endParaRPr sz="23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519150" y="4242505"/>
            <a:ext cx="110426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215">
                <a:latin typeface="Arial"/>
                <a:cs typeface="Arial"/>
              </a:rPr>
              <a:t>Peer</a:t>
            </a:r>
            <a:r>
              <a:rPr dirty="0" sz="1950" spc="10">
                <a:latin typeface="Arial"/>
                <a:cs typeface="Arial"/>
              </a:rPr>
              <a:t> </a:t>
            </a:r>
            <a:r>
              <a:rPr dirty="0" sz="1950" spc="-145">
                <a:latin typeface="Arial"/>
                <a:cs typeface="Arial"/>
              </a:rPr>
              <a:t>Group</a:t>
            </a:r>
            <a:endParaRPr sz="19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07911" y="6391627"/>
            <a:ext cx="7315200" cy="15284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47015" indent="-234315">
              <a:lnSpc>
                <a:spcPts val="2620"/>
              </a:lnSpc>
              <a:spcBef>
                <a:spcPts val="120"/>
              </a:spcBef>
              <a:buChar char="•"/>
              <a:tabLst>
                <a:tab pos="247015" algn="l"/>
              </a:tabLst>
            </a:pPr>
            <a:r>
              <a:rPr dirty="0" sz="2200" spc="-65">
                <a:latin typeface="Arial"/>
                <a:cs typeface="Arial"/>
              </a:rPr>
              <a:t>Purpose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70">
                <a:latin typeface="Arial"/>
                <a:cs typeface="Arial"/>
              </a:rPr>
              <a:t>&amp;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45">
                <a:latin typeface="Arial"/>
                <a:cs typeface="Arial"/>
              </a:rPr>
              <a:t>Nature:</a:t>
            </a:r>
            <a:r>
              <a:rPr dirty="0" sz="2200" spc="-110">
                <a:latin typeface="Arial"/>
                <a:cs typeface="Arial"/>
              </a:rPr>
              <a:t> </a:t>
            </a:r>
            <a:r>
              <a:rPr dirty="0" sz="2200" spc="-45">
                <a:latin typeface="Arial"/>
                <a:cs typeface="Arial"/>
              </a:rPr>
              <a:t>Understanding</a:t>
            </a:r>
            <a:r>
              <a:rPr dirty="0" sz="2200" spc="65">
                <a:latin typeface="Arial"/>
                <a:cs typeface="Arial"/>
              </a:rPr>
              <a:t> </a:t>
            </a:r>
            <a:r>
              <a:rPr dirty="0" sz="2200" spc="-155">
                <a:latin typeface="Arial"/>
                <a:cs typeface="Arial"/>
              </a:rPr>
              <a:t>WHY</a:t>
            </a:r>
            <a:r>
              <a:rPr dirty="0" sz="2200" spc="1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the</a:t>
            </a:r>
            <a:r>
              <a:rPr dirty="0" sz="2200" spc="-15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relationship</a:t>
            </a:r>
            <a:endParaRPr sz="2200">
              <a:latin typeface="Arial"/>
              <a:cs typeface="Arial"/>
            </a:endParaRPr>
          </a:p>
          <a:p>
            <a:pPr marL="257810">
              <a:lnSpc>
                <a:spcPts val="2860"/>
              </a:lnSpc>
            </a:pPr>
            <a:r>
              <a:rPr dirty="0" sz="2400" spc="-10">
                <a:latin typeface="Arial"/>
                <a:cs typeface="Arial"/>
              </a:rPr>
              <a:t>exists.</a:t>
            </a:r>
            <a:endParaRPr sz="2400">
              <a:latin typeface="Arial"/>
              <a:cs typeface="Arial"/>
            </a:endParaRPr>
          </a:p>
          <a:p>
            <a:pPr marL="254000" marR="5080" indent="-241935">
              <a:lnSpc>
                <a:spcPct val="100000"/>
              </a:lnSpc>
              <a:spcBef>
                <a:spcPts val="819"/>
              </a:spcBef>
              <a:buChar char="•"/>
              <a:tabLst>
                <a:tab pos="254000" algn="l"/>
                <a:tab pos="260985" algn="l"/>
              </a:tabLst>
            </a:pPr>
            <a:r>
              <a:rPr dirty="0" sz="2300">
                <a:latin typeface="Arial"/>
                <a:cs typeface="Arial"/>
              </a:rPr>
              <a:t>	</a:t>
            </a:r>
            <a:r>
              <a:rPr dirty="0" sz="2300" spc="-140">
                <a:latin typeface="Arial"/>
                <a:cs typeface="Arial"/>
              </a:rPr>
              <a:t>Technique:</a:t>
            </a:r>
            <a:r>
              <a:rPr dirty="0" sz="2300" spc="5">
                <a:latin typeface="Arial"/>
                <a:cs typeface="Arial"/>
              </a:rPr>
              <a:t> </a:t>
            </a:r>
            <a:r>
              <a:rPr dirty="0" sz="2300" spc="-160">
                <a:latin typeface="Arial"/>
                <a:cs typeface="Arial"/>
              </a:rPr>
              <a:t>Use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135">
                <a:latin typeface="Arial"/>
                <a:cs typeface="Arial"/>
              </a:rPr>
              <a:t>Reference</a:t>
            </a:r>
            <a:r>
              <a:rPr dirty="0" sz="2300" spc="90">
                <a:latin typeface="Arial"/>
                <a:cs typeface="Arial"/>
              </a:rPr>
              <a:t> </a:t>
            </a:r>
            <a:r>
              <a:rPr dirty="0" sz="2300" spc="-140">
                <a:latin typeface="Arial"/>
                <a:cs typeface="Arial"/>
              </a:rPr>
              <a:t>Groups</a:t>
            </a:r>
            <a:r>
              <a:rPr dirty="0" sz="2300" spc="-2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95">
                <a:latin typeface="Arial"/>
                <a:cs typeface="Arial"/>
              </a:rPr>
              <a:t>determine</a:t>
            </a:r>
            <a:r>
              <a:rPr dirty="0" sz="2300" spc="-1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if</a:t>
            </a:r>
            <a:r>
              <a:rPr dirty="0" sz="2300" spc="-10">
                <a:latin typeface="Arial"/>
                <a:cs typeface="Arial"/>
              </a:rPr>
              <a:t> behavior </a:t>
            </a:r>
            <a:r>
              <a:rPr dirty="0" sz="2300">
                <a:latin typeface="Arial"/>
                <a:cs typeface="Arial"/>
              </a:rPr>
              <a:t>fits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the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95">
                <a:latin typeface="Arial"/>
                <a:cs typeface="Arial"/>
              </a:rPr>
              <a:t>standard</a:t>
            </a:r>
            <a:r>
              <a:rPr dirty="0" sz="2300" spc="15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profile</a:t>
            </a:r>
            <a:r>
              <a:rPr dirty="0" sz="2300" spc="-15">
                <a:latin typeface="Arial"/>
                <a:cs typeface="Arial"/>
              </a:rPr>
              <a:t> </a:t>
            </a:r>
            <a:r>
              <a:rPr dirty="0" sz="2300" spc="-110">
                <a:latin typeface="Arial"/>
                <a:cs typeface="Arial"/>
              </a:rPr>
              <a:t>(e.g.,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 spc="-120">
                <a:latin typeface="Arial"/>
                <a:cs typeface="Arial"/>
              </a:rPr>
              <a:t>"Students",</a:t>
            </a:r>
            <a:r>
              <a:rPr dirty="0" sz="2300" spc="-40">
                <a:latin typeface="Arial"/>
                <a:cs typeface="Arial"/>
              </a:rPr>
              <a:t> </a:t>
            </a:r>
            <a:r>
              <a:rPr dirty="0" sz="2300" spc="-130">
                <a:latin typeface="Arial"/>
                <a:cs typeface="Arial"/>
              </a:rPr>
              <a:t>“Small</a:t>
            </a:r>
            <a:r>
              <a:rPr dirty="0" sz="2300" spc="-30">
                <a:latin typeface="Arial"/>
                <a:cs typeface="Arial"/>
              </a:rPr>
              <a:t> </a:t>
            </a:r>
            <a:r>
              <a:rPr dirty="0" sz="2300" spc="-70">
                <a:latin typeface="Arial"/>
                <a:cs typeface="Arial"/>
              </a:rPr>
              <a:t>Business").</a:t>
            </a:r>
            <a:endParaRPr sz="2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66394" y="8481130"/>
            <a:ext cx="14909800" cy="77279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8415" marR="5080" indent="-6350">
              <a:lnSpc>
                <a:spcPts val="2800"/>
              </a:lnSpc>
              <a:spcBef>
                <a:spcPts val="430"/>
              </a:spcBef>
            </a:pPr>
            <a:r>
              <a:rPr dirty="0" sz="2550" spc="-140">
                <a:latin typeface="Calibri"/>
                <a:cs typeface="Calibri"/>
              </a:rPr>
              <a:t>DNB</a:t>
            </a:r>
            <a:r>
              <a:rPr dirty="0" sz="2550" spc="-5">
                <a:latin typeface="Calibri"/>
                <a:cs typeface="Calibri"/>
              </a:rPr>
              <a:t> </a:t>
            </a:r>
            <a:r>
              <a:rPr dirty="0" sz="2550" spc="-165">
                <a:latin typeface="Calibri"/>
                <a:cs typeface="Calibri"/>
              </a:rPr>
              <a:t>Good</a:t>
            </a:r>
            <a:r>
              <a:rPr dirty="0" sz="2550" spc="-35">
                <a:latin typeface="Calibri"/>
                <a:cs typeface="Calibri"/>
              </a:rPr>
              <a:t> </a:t>
            </a:r>
            <a:r>
              <a:rPr dirty="0" sz="2550" spc="-75">
                <a:latin typeface="Calibri"/>
                <a:cs typeface="Calibri"/>
              </a:rPr>
              <a:t>Practice:</a:t>
            </a:r>
            <a:r>
              <a:rPr dirty="0" sz="2550" spc="-65">
                <a:latin typeface="Calibri"/>
                <a:cs typeface="Calibri"/>
              </a:rPr>
              <a:t> </a:t>
            </a:r>
            <a:r>
              <a:rPr dirty="0" sz="2550" spc="-175">
                <a:latin typeface="Calibri"/>
                <a:cs typeface="Calibri"/>
              </a:rPr>
              <a:t>Remote</a:t>
            </a:r>
            <a:r>
              <a:rPr dirty="0" sz="2550" spc="30">
                <a:latin typeface="Calibri"/>
                <a:cs typeface="Calibri"/>
              </a:rPr>
              <a:t> </a:t>
            </a:r>
            <a:r>
              <a:rPr dirty="0" sz="2550" spc="-114">
                <a:latin typeface="Calibri"/>
                <a:cs typeface="Calibri"/>
              </a:rPr>
              <a:t>Identification</a:t>
            </a:r>
            <a:r>
              <a:rPr dirty="0" sz="2550" spc="-45">
                <a:latin typeface="Calibri"/>
                <a:cs typeface="Calibri"/>
              </a:rPr>
              <a:t> </a:t>
            </a:r>
            <a:r>
              <a:rPr dirty="0" sz="2550" spc="-120">
                <a:latin typeface="Calibri"/>
                <a:cs typeface="Calibri"/>
              </a:rPr>
              <a:t>solutions</a:t>
            </a:r>
            <a:r>
              <a:rPr dirty="0" sz="2550" spc="-25">
                <a:latin typeface="Calibri"/>
                <a:cs typeface="Calibri"/>
              </a:rPr>
              <a:t> </a:t>
            </a:r>
            <a:r>
              <a:rPr dirty="0" sz="2550" spc="-155">
                <a:latin typeface="Calibri"/>
                <a:cs typeface="Calibri"/>
              </a:rPr>
              <a:t>require</a:t>
            </a:r>
            <a:r>
              <a:rPr dirty="0" sz="2550" spc="10">
                <a:latin typeface="Calibri"/>
                <a:cs typeface="Calibri"/>
              </a:rPr>
              <a:t> </a:t>
            </a:r>
            <a:r>
              <a:rPr dirty="0" sz="2550" spc="-60">
                <a:latin typeface="Calibri"/>
                <a:cs typeface="Calibri"/>
              </a:rPr>
              <a:t>specific</a:t>
            </a:r>
            <a:r>
              <a:rPr dirty="0" sz="2550" spc="-85">
                <a:latin typeface="Calibri"/>
                <a:cs typeface="Calibri"/>
              </a:rPr>
              <a:t> policies</a:t>
            </a:r>
            <a:r>
              <a:rPr dirty="0" sz="2550" spc="-55">
                <a:latin typeface="Calibri"/>
                <a:cs typeface="Calibri"/>
              </a:rPr>
              <a:t> </a:t>
            </a:r>
            <a:r>
              <a:rPr dirty="0" sz="2550" spc="-110">
                <a:latin typeface="Calibri"/>
                <a:cs typeface="Calibri"/>
              </a:rPr>
              <a:t>detailing</a:t>
            </a:r>
            <a:r>
              <a:rPr dirty="0" sz="2550" spc="110">
                <a:latin typeface="Calibri"/>
                <a:cs typeface="Calibri"/>
              </a:rPr>
              <a:t> </a:t>
            </a:r>
            <a:r>
              <a:rPr dirty="0" sz="2550" spc="-125">
                <a:latin typeface="Calibri"/>
                <a:cs typeface="Calibri"/>
              </a:rPr>
              <a:t>which</a:t>
            </a:r>
            <a:r>
              <a:rPr dirty="0" sz="2550" spc="-10">
                <a:latin typeface="Calibri"/>
                <a:cs typeface="Calibri"/>
              </a:rPr>
              <a:t> </a:t>
            </a:r>
            <a:r>
              <a:rPr dirty="0" sz="2550" spc="-70">
                <a:latin typeface="Calibri"/>
                <a:cs typeface="Calibri"/>
              </a:rPr>
              <a:t>steps</a:t>
            </a:r>
            <a:r>
              <a:rPr dirty="0" sz="2550" spc="-65">
                <a:latin typeface="Calibri"/>
                <a:cs typeface="Calibri"/>
              </a:rPr>
              <a:t> </a:t>
            </a:r>
            <a:r>
              <a:rPr dirty="0" sz="2550" spc="-125">
                <a:latin typeface="Calibri"/>
                <a:cs typeface="Calibri"/>
              </a:rPr>
              <a:t>are</a:t>
            </a:r>
            <a:r>
              <a:rPr dirty="0" sz="2550" spc="-40">
                <a:latin typeface="Calibri"/>
                <a:cs typeface="Calibri"/>
              </a:rPr>
              <a:t> </a:t>
            </a:r>
            <a:r>
              <a:rPr dirty="0" sz="2550" spc="-155">
                <a:latin typeface="Calibri"/>
                <a:cs typeface="Calibri"/>
              </a:rPr>
              <a:t>autonomous</a:t>
            </a:r>
            <a:r>
              <a:rPr dirty="0" sz="2550" spc="165">
                <a:latin typeface="Calibri"/>
                <a:cs typeface="Calibri"/>
              </a:rPr>
              <a:t> </a:t>
            </a:r>
            <a:r>
              <a:rPr dirty="0" sz="2550" spc="-35">
                <a:latin typeface="Calibri"/>
                <a:cs typeface="Calibri"/>
              </a:rPr>
              <a:t>vs</a:t>
            </a:r>
            <a:r>
              <a:rPr dirty="0" sz="2550" spc="-13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human </a:t>
            </a:r>
            <a:r>
              <a:rPr dirty="0" sz="2550" spc="-70">
                <a:latin typeface="Calibri"/>
                <a:cs typeface="Calibri"/>
              </a:rPr>
              <a:t>intervention.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"/>
                <a:cs typeface="Arial"/>
              </a:rPr>
              <a:t>G</a:t>
            </a:r>
            <a:r>
              <a:rPr dirty="0" sz="1500" spc="260">
                <a:latin typeface="Arial"/>
                <a:cs typeface="Arial"/>
              </a:rPr>
              <a:t> </a:t>
            </a:r>
            <a:r>
              <a:rPr dirty="0" sz="1500" spc="-90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0" y="2882900"/>
            <a:ext cx="12496800" cy="61468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4562" y="457905"/>
            <a:ext cx="240538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>
                <a:solidFill>
                  <a:srgbClr val="0E0E0E"/>
                </a:solidFill>
                <a:latin typeface="Arial"/>
                <a:cs typeface="Arial"/>
              </a:rPr>
              <a:t>Architectural</a:t>
            </a:r>
            <a:r>
              <a:rPr dirty="0" sz="1950" spc="13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131313"/>
                </a:solidFill>
                <a:latin typeface="Arial"/>
                <a:cs typeface="Arial"/>
              </a:rPr>
              <a:t>Editorial</a:t>
            </a:r>
            <a:endParaRPr sz="1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50379" y="477661"/>
            <a:ext cx="324866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032635" algn="l"/>
                <a:tab pos="2272665" algn="l"/>
              </a:tabLst>
            </a:pPr>
            <a:r>
              <a:rPr dirty="0" sz="1350" spc="-125">
                <a:solidFill>
                  <a:srgbClr val="282828"/>
                </a:solidFill>
                <a:latin typeface="Calibri"/>
                <a:cs typeface="Calibri"/>
              </a:rPr>
              <a:t>Banque</a:t>
            </a:r>
            <a:r>
              <a:rPr dirty="0" sz="1350" spc="2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350" spc="-60">
                <a:solidFill>
                  <a:srgbClr val="3B3B3B"/>
                </a:solidFill>
                <a:latin typeface="Calibri"/>
                <a:cs typeface="Calibri"/>
              </a:rPr>
              <a:t>Rationale</a:t>
            </a:r>
            <a:r>
              <a:rPr dirty="0" sz="1350" spc="9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350" spc="-120">
                <a:solidFill>
                  <a:srgbClr val="728289"/>
                </a:solidFill>
                <a:latin typeface="Calibri"/>
                <a:cs typeface="Calibri"/>
              </a:rPr>
              <a:t>de</a:t>
            </a:r>
            <a:r>
              <a:rPr dirty="0" sz="1350" spc="-40">
                <a:solidFill>
                  <a:srgbClr val="72828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43434"/>
                </a:solidFill>
                <a:latin typeface="Calibri"/>
                <a:cs typeface="Calibri"/>
              </a:rPr>
              <a:t>Be|gique</a:t>
            </a:r>
            <a:r>
              <a:rPr dirty="0" sz="1350">
                <a:solidFill>
                  <a:srgbClr val="343434"/>
                </a:solidFill>
                <a:latin typeface="Calibri"/>
                <a:cs typeface="Calibri"/>
              </a:rPr>
              <a:t>	</a:t>
            </a:r>
            <a:r>
              <a:rPr dirty="0" sz="1350" spc="-50">
                <a:solidFill>
                  <a:srgbClr val="0E343F"/>
                </a:solidFill>
                <a:latin typeface="Calibri"/>
                <a:cs typeface="Calibri"/>
              </a:rPr>
              <a:t>\</a:t>
            </a:r>
            <a:r>
              <a:rPr dirty="0" sz="1350">
                <a:solidFill>
                  <a:srgbClr val="0E343F"/>
                </a:solidFill>
                <a:latin typeface="Calibri"/>
                <a:cs typeface="Calibri"/>
              </a:rPr>
              <a:t>	</a:t>
            </a:r>
            <a:r>
              <a:rPr dirty="0" sz="1350" spc="-90">
                <a:solidFill>
                  <a:srgbClr val="343434"/>
                </a:solidFill>
                <a:latin typeface="Calibri"/>
                <a:cs typeface="Calibri"/>
              </a:rPr>
              <a:t>Bank</a:t>
            </a:r>
            <a:r>
              <a:rPr dirty="0" sz="1350" spc="3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1350" spc="-120">
                <a:solidFill>
                  <a:srgbClr val="1F1F1F"/>
                </a:solidFill>
                <a:latin typeface="Calibri"/>
                <a:cs typeface="Calibri"/>
              </a:rPr>
              <a:t>van</a:t>
            </a:r>
            <a:r>
              <a:rPr dirty="0" sz="135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350" spc="-50">
                <a:solidFill>
                  <a:srgbClr val="2D2D2D"/>
                </a:solidFill>
                <a:latin typeface="Calibri"/>
                <a:cs typeface="Calibri"/>
              </a:rPr>
              <a:t>Belgie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262" y="1502127"/>
            <a:ext cx="14790419" cy="935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950" spc="-190">
                <a:solidFill>
                  <a:srgbClr val="033446"/>
                </a:solidFill>
                <a:latin typeface="Cambria"/>
                <a:cs typeface="Cambria"/>
              </a:rPr>
              <a:t>Unmasking</a:t>
            </a:r>
            <a:r>
              <a:rPr dirty="0" sz="5950" spc="-75">
                <a:solidFill>
                  <a:srgbClr val="033446"/>
                </a:solidFill>
                <a:latin typeface="Cambria"/>
                <a:cs typeface="Cambria"/>
              </a:rPr>
              <a:t> </a:t>
            </a:r>
            <a:r>
              <a:rPr dirty="0" sz="5950" spc="-65">
                <a:solidFill>
                  <a:srgbClr val="032D3B"/>
                </a:solidFill>
                <a:latin typeface="Cambria"/>
                <a:cs typeface="Cambria"/>
              </a:rPr>
              <a:t>the</a:t>
            </a:r>
            <a:r>
              <a:rPr dirty="0" sz="5950" spc="-325">
                <a:solidFill>
                  <a:srgbClr val="032D3B"/>
                </a:solidFill>
                <a:latin typeface="Cambria"/>
                <a:cs typeface="Cambria"/>
              </a:rPr>
              <a:t> </a:t>
            </a:r>
            <a:r>
              <a:rPr dirty="0" sz="5950" spc="-200">
                <a:solidFill>
                  <a:srgbClr val="012833"/>
                </a:solidFill>
                <a:latin typeface="Cambria"/>
                <a:cs typeface="Cambria"/>
              </a:rPr>
              <a:t>UBO</a:t>
            </a:r>
            <a:r>
              <a:rPr dirty="0" sz="5950" spc="-625">
                <a:solidFill>
                  <a:srgbClr val="012833"/>
                </a:solidFill>
                <a:latin typeface="Cambria"/>
                <a:cs typeface="Cambria"/>
              </a:rPr>
              <a:t> </a:t>
            </a:r>
            <a:r>
              <a:rPr dirty="0" sz="5950" spc="-165">
                <a:solidFill>
                  <a:srgbClr val="012636"/>
                </a:solidFill>
                <a:latin typeface="Cambria"/>
                <a:cs typeface="Cambria"/>
              </a:rPr>
              <a:t>(Ultimate </a:t>
            </a:r>
            <a:r>
              <a:rPr dirty="0" sz="5950" spc="-90">
                <a:solidFill>
                  <a:srgbClr val="012B34"/>
                </a:solidFill>
                <a:latin typeface="Cambria"/>
                <a:cs typeface="Cambria"/>
              </a:rPr>
              <a:t>Beneficial</a:t>
            </a:r>
            <a:r>
              <a:rPr dirty="0" sz="5950" spc="-180">
                <a:solidFill>
                  <a:srgbClr val="012B34"/>
                </a:solidFill>
                <a:latin typeface="Cambria"/>
                <a:cs typeface="Cambria"/>
              </a:rPr>
              <a:t> </a:t>
            </a:r>
            <a:r>
              <a:rPr dirty="0" sz="5950" spc="-145">
                <a:solidFill>
                  <a:srgbClr val="053646"/>
                </a:solidFill>
                <a:latin typeface="Cambria"/>
                <a:cs typeface="Cambria"/>
              </a:rPr>
              <a:t>Owner)</a:t>
            </a:r>
            <a:endParaRPr sz="59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9601" y="5311069"/>
            <a:ext cx="3359150" cy="15011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19100" marR="300990" indent="-393700">
              <a:lnSpc>
                <a:spcPct val="100699"/>
              </a:lnSpc>
              <a:spcBef>
                <a:spcPts val="110"/>
              </a:spcBef>
            </a:pPr>
            <a:r>
              <a:rPr dirty="0" sz="2400">
                <a:solidFill>
                  <a:srgbClr val="0C232D"/>
                </a:solidFill>
                <a:latin typeface="Arial"/>
                <a:cs typeface="Arial"/>
              </a:rPr>
              <a:t>The</a:t>
            </a:r>
            <a:r>
              <a:rPr dirty="0" sz="2400" spc="5">
                <a:solidFill>
                  <a:srgbClr val="0C232D"/>
                </a:solidFill>
                <a:latin typeface="Arial"/>
                <a:cs typeface="Arial"/>
              </a:rPr>
              <a:t> </a:t>
            </a:r>
            <a:r>
              <a:rPr dirty="0" sz="2400" spc="55">
                <a:solidFill>
                  <a:srgbClr val="05232F"/>
                </a:solidFill>
                <a:latin typeface="Arial"/>
                <a:cs typeface="Arial"/>
              </a:rPr>
              <a:t>Layered</a:t>
            </a:r>
            <a:r>
              <a:rPr dirty="0" sz="2400" spc="-15">
                <a:solidFill>
                  <a:srgbClr val="05232F"/>
                </a:solidFill>
                <a:latin typeface="Arial"/>
                <a:cs typeface="Arial"/>
              </a:rPr>
              <a:t> </a:t>
            </a:r>
            <a:r>
              <a:rPr dirty="0" sz="2400" spc="40">
                <a:solidFill>
                  <a:srgbClr val="111111"/>
                </a:solidFill>
                <a:latin typeface="Arial"/>
                <a:cs typeface="Arial"/>
              </a:rPr>
              <a:t>Trap: </a:t>
            </a:r>
            <a:r>
              <a:rPr dirty="0" sz="2400">
                <a:solidFill>
                  <a:srgbClr val="0F0F0F"/>
                </a:solidFill>
                <a:latin typeface="Arial"/>
                <a:cs typeface="Arial"/>
              </a:rPr>
              <a:t>minals</a:t>
            </a:r>
            <a:r>
              <a:rPr dirty="0" sz="2400" spc="20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51515"/>
                </a:solidFill>
                <a:latin typeface="Arial"/>
                <a:cs typeface="Arial"/>
              </a:rPr>
              <a:t>hide</a:t>
            </a:r>
            <a:r>
              <a:rPr dirty="0" sz="2400" spc="14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31313"/>
                </a:solidFill>
                <a:latin typeface="Arial"/>
                <a:cs typeface="Arial"/>
              </a:rPr>
              <a:t>behind</a:t>
            </a:r>
            <a:endParaRPr sz="2400">
              <a:latin typeface="Arial"/>
              <a:cs typeface="Arial"/>
            </a:endParaRPr>
          </a:p>
          <a:p>
            <a:pPr marL="12700" marR="5080" indent="8255">
              <a:lnSpc>
                <a:spcPct val="100699"/>
              </a:lnSpc>
            </a:pPr>
            <a:r>
              <a:rPr dirty="0" sz="2400">
                <a:solidFill>
                  <a:srgbClr val="0F0F0F"/>
                </a:solidFill>
                <a:latin typeface="Arial"/>
                <a:cs typeface="Arial"/>
              </a:rPr>
              <a:t>complex,</a:t>
            </a:r>
            <a:r>
              <a:rPr dirty="0" sz="2400" spc="51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F0F0F"/>
                </a:solidFill>
                <a:latin typeface="Arial"/>
                <a:cs typeface="Arial"/>
              </a:rPr>
              <a:t>multi-</a:t>
            </a:r>
            <a:r>
              <a:rPr dirty="0" sz="2400" spc="-10">
                <a:solidFill>
                  <a:srgbClr val="0F0F0F"/>
                </a:solidFill>
                <a:latin typeface="Arial"/>
                <a:cs typeface="Arial"/>
              </a:rPr>
              <a:t>layered </a:t>
            </a:r>
            <a:r>
              <a:rPr dirty="0" sz="2400">
                <a:solidFill>
                  <a:srgbClr val="0A0A0A"/>
                </a:solidFill>
                <a:latin typeface="Arial"/>
                <a:cs typeface="Arial"/>
              </a:rPr>
              <a:t>international</a:t>
            </a:r>
            <a:r>
              <a:rPr dirty="0" sz="2400" spc="40">
                <a:solidFill>
                  <a:srgbClr val="0A0A0A"/>
                </a:solidFill>
                <a:latin typeface="Arial"/>
                <a:cs typeface="Arial"/>
              </a:rPr>
              <a:t>  </a:t>
            </a:r>
            <a:r>
              <a:rPr dirty="0" sz="2400" spc="-10">
                <a:solidFill>
                  <a:srgbClr val="0F0F0F"/>
                </a:solidFill>
                <a:latin typeface="Arial"/>
                <a:cs typeface="Arial"/>
              </a:rPr>
              <a:t>structures.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28552" y="3458280"/>
            <a:ext cx="2346960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50">
                <a:solidFill>
                  <a:srgbClr val="03212B"/>
                </a:solidFill>
                <a:latin typeface="Arial"/>
                <a:cs typeface="Arial"/>
              </a:rPr>
              <a:t>The</a:t>
            </a:r>
            <a:r>
              <a:rPr dirty="0" sz="2550" spc="-135">
                <a:solidFill>
                  <a:srgbClr val="03212B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05212B"/>
                </a:solidFill>
                <a:latin typeface="Arial"/>
                <a:cs typeface="Arial"/>
              </a:rPr>
              <a:t>Legal</a:t>
            </a:r>
            <a:r>
              <a:rPr dirty="0" sz="2550" spc="-165">
                <a:solidFill>
                  <a:srgbClr val="05212B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1D1D1D"/>
                </a:solidFill>
                <a:latin typeface="Arial"/>
                <a:cs typeface="Arial"/>
              </a:rPr>
              <a:t>Entity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08087" y="7254522"/>
            <a:ext cx="2729230" cy="109982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algn="just" marL="12700" marR="5080" indent="5080">
              <a:lnSpc>
                <a:spcPct val="82900"/>
              </a:lnSpc>
              <a:spcBef>
                <a:spcPts val="690"/>
              </a:spcBef>
            </a:pPr>
            <a:r>
              <a:rPr dirty="0" sz="2750" spc="-245">
                <a:solidFill>
                  <a:srgbClr val="051C26"/>
                </a:solidFill>
                <a:latin typeface="Arial"/>
                <a:cs typeface="Arial"/>
              </a:rPr>
              <a:t>The</a:t>
            </a:r>
            <a:r>
              <a:rPr dirty="0" sz="2750" spc="75">
                <a:solidFill>
                  <a:srgbClr val="051C26"/>
                </a:solidFill>
                <a:latin typeface="Arial"/>
                <a:cs typeface="Arial"/>
              </a:rPr>
              <a:t> </a:t>
            </a:r>
            <a:r>
              <a:rPr dirty="0" sz="2750" spc="-455">
                <a:solidFill>
                  <a:srgbClr val="08232F"/>
                </a:solidFill>
                <a:latin typeface="Arial"/>
                <a:cs typeface="Arial"/>
              </a:rPr>
              <a:t>UBO</a:t>
            </a:r>
            <a:r>
              <a:rPr dirty="0" sz="2750" spc="265">
                <a:solidFill>
                  <a:srgbClr val="08232F"/>
                </a:solidFill>
                <a:latin typeface="Arial"/>
                <a:cs typeface="Arial"/>
              </a:rPr>
              <a:t> </a:t>
            </a:r>
            <a:r>
              <a:rPr dirty="0" sz="2750" spc="-50">
                <a:solidFill>
                  <a:srgbClr val="1A1A1A"/>
                </a:solidFill>
                <a:latin typeface="Arial"/>
                <a:cs typeface="Arial"/>
              </a:rPr>
              <a:t>Structure </a:t>
            </a:r>
            <a:r>
              <a:rPr dirty="0" sz="2550" spc="-250">
                <a:solidFill>
                  <a:srgbClr val="0C0C0C"/>
                </a:solidFill>
                <a:latin typeface="Arial"/>
                <a:cs typeface="Arial"/>
              </a:rPr>
              <a:t>(&gt;25%</a:t>
            </a:r>
            <a:r>
              <a:rPr dirty="0" sz="2550" spc="7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550" spc="-125">
                <a:solidFill>
                  <a:srgbClr val="070707"/>
                </a:solidFill>
                <a:latin typeface="Arial"/>
                <a:cs typeface="Arial"/>
              </a:rPr>
              <a:t>ownership</a:t>
            </a:r>
            <a:r>
              <a:rPr dirty="0" sz="2550" spc="15">
                <a:solidFill>
                  <a:srgbClr val="070707"/>
                </a:solidFill>
                <a:latin typeface="Arial"/>
                <a:cs typeface="Arial"/>
              </a:rPr>
              <a:t> </a:t>
            </a:r>
            <a:r>
              <a:rPr dirty="0" sz="2550" spc="-25">
                <a:solidFill>
                  <a:srgbClr val="111111"/>
                </a:solidFill>
                <a:latin typeface="Arial"/>
                <a:cs typeface="Arial"/>
              </a:rPr>
              <a:t>or </a:t>
            </a:r>
            <a:r>
              <a:rPr dirty="0" sz="2600" spc="-120">
                <a:solidFill>
                  <a:srgbClr val="0F0F0F"/>
                </a:solidFill>
                <a:latin typeface="Arial"/>
                <a:cs typeface="Arial"/>
              </a:rPr>
              <a:t>Effective</a:t>
            </a:r>
            <a:r>
              <a:rPr dirty="0" sz="2600" spc="-1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50">
                <a:solidFill>
                  <a:srgbClr val="080808"/>
                </a:solidFill>
                <a:latin typeface="Arial"/>
                <a:cs typeface="Arial"/>
              </a:rPr>
              <a:t>Control)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10970" y="5293430"/>
            <a:ext cx="2658745" cy="152209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 marR="5080" indent="9525">
              <a:lnSpc>
                <a:spcPts val="2900"/>
              </a:lnSpc>
              <a:spcBef>
                <a:spcPts val="350"/>
              </a:spcBef>
            </a:pPr>
            <a:r>
              <a:rPr dirty="0" sz="2550" spc="-25">
                <a:solidFill>
                  <a:srgbClr val="0A282F"/>
                </a:solidFill>
                <a:latin typeface="Arial"/>
                <a:cs typeface="Arial"/>
              </a:rPr>
              <a:t>The</a:t>
            </a:r>
            <a:r>
              <a:rPr dirty="0" sz="2550" spc="-145">
                <a:solidFill>
                  <a:srgbClr val="0A282F"/>
                </a:solidFill>
                <a:latin typeface="Arial"/>
                <a:cs typeface="Arial"/>
              </a:rPr>
              <a:t> </a:t>
            </a:r>
            <a:r>
              <a:rPr dirty="0" sz="2550" spc="-55">
                <a:solidFill>
                  <a:srgbClr val="0F0F0F"/>
                </a:solidFill>
                <a:latin typeface="Arial"/>
                <a:cs typeface="Arial"/>
              </a:rPr>
              <a:t>Pseudo-</a:t>
            </a:r>
            <a:r>
              <a:rPr dirty="0" sz="2550" spc="-20">
                <a:solidFill>
                  <a:srgbClr val="0F0F0F"/>
                </a:solidFill>
                <a:latin typeface="Arial"/>
                <a:cs typeface="Arial"/>
              </a:rPr>
              <a:t>UBO: </a:t>
            </a:r>
            <a:r>
              <a:rPr dirty="0" sz="2550">
                <a:solidFill>
                  <a:srgbClr val="111111"/>
                </a:solidFill>
                <a:latin typeface="Arial"/>
                <a:cs typeface="Arial"/>
              </a:rPr>
              <a:t>If</a:t>
            </a:r>
            <a:r>
              <a:rPr dirty="0" sz="2550" spc="1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C1C1C"/>
                </a:solidFill>
                <a:latin typeface="Arial"/>
                <a:cs typeface="Arial"/>
              </a:rPr>
              <a:t>no</a:t>
            </a:r>
            <a:r>
              <a:rPr dirty="0" sz="2550" spc="-55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550" spc="-229">
                <a:solidFill>
                  <a:srgbClr val="1C1C1C"/>
                </a:solidFill>
                <a:latin typeface="Arial"/>
                <a:cs typeface="Arial"/>
              </a:rPr>
              <a:t>UBO</a:t>
            </a:r>
            <a:r>
              <a:rPr dirty="0" sz="2550" spc="25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31313"/>
                </a:solidFill>
                <a:latin typeface="Arial"/>
                <a:cs typeface="Arial"/>
              </a:rPr>
              <a:t>is</a:t>
            </a:r>
            <a:r>
              <a:rPr dirty="0" sz="2550" spc="-1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50" spc="-30">
                <a:solidFill>
                  <a:srgbClr val="0F0F0F"/>
                </a:solidFill>
                <a:latin typeface="Arial"/>
                <a:cs typeface="Arial"/>
              </a:rPr>
              <a:t>found, </a:t>
            </a:r>
            <a:r>
              <a:rPr dirty="0" sz="2550" spc="-55">
                <a:solidFill>
                  <a:srgbClr val="0F0F0F"/>
                </a:solidFill>
                <a:latin typeface="Arial"/>
                <a:cs typeface="Arial"/>
              </a:rPr>
              <a:t>Senior</a:t>
            </a:r>
            <a:r>
              <a:rPr dirty="0" sz="2550" spc="-9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0E0E0E"/>
                </a:solidFill>
                <a:latin typeface="Arial"/>
                <a:cs typeface="Arial"/>
              </a:rPr>
              <a:t>Executives </a:t>
            </a:r>
            <a:r>
              <a:rPr dirty="0" sz="2550" spc="-35">
                <a:solidFill>
                  <a:srgbClr val="0F0F0F"/>
                </a:solidFill>
                <a:latin typeface="Arial"/>
                <a:cs typeface="Arial"/>
              </a:rPr>
              <a:t>are</a:t>
            </a:r>
            <a:r>
              <a:rPr dirty="0" sz="2550" spc="-12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0F0F0F"/>
                </a:solidFill>
                <a:latin typeface="Arial"/>
                <a:cs typeface="Arial"/>
              </a:rPr>
              <a:t>designated.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11783" y="7042150"/>
            <a:ext cx="2352040" cy="18796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7780" marR="5080" indent="-5715">
              <a:lnSpc>
                <a:spcPts val="2900"/>
              </a:lnSpc>
              <a:spcBef>
                <a:spcPts val="280"/>
              </a:spcBef>
            </a:pPr>
            <a:r>
              <a:rPr dirty="0" sz="2500">
                <a:solidFill>
                  <a:srgbClr val="0F0F0F"/>
                </a:solidFill>
                <a:latin typeface="Arial"/>
                <a:cs typeface="Arial"/>
              </a:rPr>
              <a:t>Institutions</a:t>
            </a:r>
            <a:r>
              <a:rPr dirty="0" sz="2500" spc="41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500" spc="-60">
                <a:solidFill>
                  <a:srgbClr val="0F0F0F"/>
                </a:solidFill>
                <a:latin typeface="Arial"/>
                <a:cs typeface="Arial"/>
              </a:rPr>
              <a:t>must </a:t>
            </a:r>
            <a:r>
              <a:rPr dirty="0" sz="2400">
                <a:solidFill>
                  <a:srgbClr val="111111"/>
                </a:solidFill>
                <a:latin typeface="Arial"/>
                <a:cs typeface="Arial"/>
              </a:rPr>
              <a:t>document</a:t>
            </a:r>
            <a:r>
              <a:rPr dirty="0" sz="2400" spc="58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spc="45">
                <a:solidFill>
                  <a:srgbClr val="0F0F0F"/>
                </a:solidFill>
                <a:latin typeface="Arial"/>
                <a:cs typeface="Arial"/>
              </a:rPr>
              <a:t>the </a:t>
            </a:r>
            <a:r>
              <a:rPr dirty="0" sz="2500" spc="-25">
                <a:solidFill>
                  <a:srgbClr val="111111"/>
                </a:solidFill>
                <a:latin typeface="Arial"/>
                <a:cs typeface="Arial"/>
              </a:rPr>
              <a:t>measures</a:t>
            </a:r>
            <a:r>
              <a:rPr dirty="0" sz="2500" spc="-5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0E0E0E"/>
                </a:solidFill>
                <a:latin typeface="Arial"/>
                <a:cs typeface="Arial"/>
              </a:rPr>
              <a:t>taken </a:t>
            </a:r>
            <a:r>
              <a:rPr dirty="0" sz="2500">
                <a:solidFill>
                  <a:srgbClr val="0F0F0F"/>
                </a:solidFill>
                <a:latin typeface="Arial"/>
                <a:cs typeface="Arial"/>
              </a:rPr>
              <a:t>and</a:t>
            </a:r>
            <a:r>
              <a:rPr dirty="0" sz="2500" spc="2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0F0F0F"/>
                </a:solidFill>
                <a:latin typeface="Arial"/>
                <a:cs typeface="Arial"/>
              </a:rPr>
              <a:t>difficulties </a:t>
            </a:r>
            <a:r>
              <a:rPr dirty="0" sz="2500" spc="-10">
                <a:solidFill>
                  <a:srgbClr val="0A0A0A"/>
                </a:solidFill>
                <a:latin typeface="Arial"/>
                <a:cs typeface="Arial"/>
              </a:rPr>
              <a:t>encountered.</a:t>
            </a:r>
            <a:endParaRPr sz="2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"/>
                <a:cs typeface="Arial"/>
              </a:rPr>
              <a:t>G</a:t>
            </a:r>
            <a:r>
              <a:rPr dirty="0" sz="1500" spc="270">
                <a:latin typeface="Arial"/>
                <a:cs typeface="Arial"/>
              </a:rPr>
              <a:t> </a:t>
            </a:r>
            <a:r>
              <a:rPr dirty="0" sz="1500" spc="-90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3479800"/>
            <a:ext cx="4038600" cy="2108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32400" y="4165600"/>
            <a:ext cx="1320800" cy="723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48500" y="3454400"/>
            <a:ext cx="3365500" cy="2120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22000" y="4165600"/>
            <a:ext cx="1320800" cy="723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33400" y="3390900"/>
            <a:ext cx="2247900" cy="2298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0600" y="7747000"/>
            <a:ext cx="101600" cy="1206500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0472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125"/>
              </a:spcBef>
            </a:pPr>
            <a:r>
              <a:rPr dirty="0" sz="5600" spc="-60">
                <a:solidFill>
                  <a:srgbClr val="03313F"/>
                </a:solidFill>
                <a:latin typeface="Arial"/>
                <a:cs typeface="Arial"/>
              </a:rPr>
              <a:t>Transaction</a:t>
            </a:r>
            <a:r>
              <a:rPr dirty="0" sz="5600" spc="-229">
                <a:solidFill>
                  <a:srgbClr val="03313F"/>
                </a:solidFill>
                <a:latin typeface="Arial"/>
                <a:cs typeface="Arial"/>
              </a:rPr>
              <a:t> </a:t>
            </a:r>
            <a:r>
              <a:rPr dirty="0" sz="5600">
                <a:solidFill>
                  <a:srgbClr val="032F3B"/>
                </a:solidFill>
                <a:latin typeface="Arial"/>
                <a:cs typeface="Arial"/>
              </a:rPr>
              <a:t>Monitoring:</a:t>
            </a:r>
            <a:r>
              <a:rPr dirty="0" sz="5600" spc="-155">
                <a:solidFill>
                  <a:srgbClr val="032F3B"/>
                </a:solidFill>
                <a:latin typeface="Arial"/>
                <a:cs typeface="Arial"/>
              </a:rPr>
              <a:t> </a:t>
            </a:r>
            <a:r>
              <a:rPr dirty="0" sz="5600" spc="-105">
                <a:solidFill>
                  <a:srgbClr val="05313D"/>
                </a:solidFill>
                <a:latin typeface="Arial"/>
                <a:cs typeface="Arial"/>
              </a:rPr>
              <a:t>The</a:t>
            </a:r>
            <a:r>
              <a:rPr dirty="0" sz="5600" spc="-459">
                <a:solidFill>
                  <a:srgbClr val="05313D"/>
                </a:solidFill>
                <a:latin typeface="Arial"/>
                <a:cs typeface="Arial"/>
              </a:rPr>
              <a:t> </a:t>
            </a:r>
            <a:r>
              <a:rPr dirty="0" sz="5600" spc="-105">
                <a:solidFill>
                  <a:srgbClr val="032634"/>
                </a:solidFill>
                <a:latin typeface="Arial"/>
                <a:cs typeface="Arial"/>
              </a:rPr>
              <a:t>Pulse</a:t>
            </a:r>
            <a:r>
              <a:rPr dirty="0" sz="5600" spc="-185">
                <a:solidFill>
                  <a:srgbClr val="032634"/>
                </a:solidFill>
                <a:latin typeface="Arial"/>
                <a:cs typeface="Arial"/>
              </a:rPr>
              <a:t> </a:t>
            </a:r>
            <a:r>
              <a:rPr dirty="0" sz="5600">
                <a:solidFill>
                  <a:srgbClr val="012B34"/>
                </a:solidFill>
                <a:latin typeface="Arial"/>
                <a:cs typeface="Arial"/>
              </a:rPr>
              <a:t>of</a:t>
            </a:r>
            <a:r>
              <a:rPr dirty="0" sz="5600" spc="-240">
                <a:solidFill>
                  <a:srgbClr val="012B34"/>
                </a:solidFill>
                <a:latin typeface="Arial"/>
                <a:cs typeface="Arial"/>
              </a:rPr>
              <a:t> </a:t>
            </a:r>
            <a:r>
              <a:rPr dirty="0" sz="5600" spc="-60">
                <a:solidFill>
                  <a:srgbClr val="032836"/>
                </a:solidFill>
                <a:latin typeface="Arial"/>
                <a:cs typeface="Arial"/>
              </a:rPr>
              <a:t>Compliance.</a:t>
            </a:r>
            <a:endParaRPr sz="5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2409" y="2242961"/>
            <a:ext cx="2600960" cy="8636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23495">
              <a:lnSpc>
                <a:spcPts val="3010"/>
              </a:lnSpc>
              <a:spcBef>
                <a:spcPts val="135"/>
              </a:spcBef>
            </a:pPr>
            <a:r>
              <a:rPr dirty="0" sz="2600">
                <a:solidFill>
                  <a:srgbClr val="0C0C0C"/>
                </a:solidFill>
                <a:latin typeface="Calibri"/>
                <a:cs typeface="Calibri"/>
              </a:rPr>
              <a:t>Stage</a:t>
            </a:r>
            <a:r>
              <a:rPr dirty="0" sz="2600" spc="10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600" spc="-434">
                <a:solidFill>
                  <a:srgbClr val="111111"/>
                </a:solidFill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  <a:p>
            <a:pPr algn="ctr">
              <a:lnSpc>
                <a:spcPts val="3550"/>
              </a:lnSpc>
            </a:pPr>
            <a:r>
              <a:rPr dirty="0" sz="3050" spc="70">
                <a:solidFill>
                  <a:srgbClr val="1D1D1D"/>
                </a:solidFill>
                <a:latin typeface="Calibri"/>
                <a:cs typeface="Calibri"/>
              </a:rPr>
              <a:t>Pre-</a:t>
            </a:r>
            <a:r>
              <a:rPr dirty="0" sz="3050" spc="60">
                <a:solidFill>
                  <a:srgbClr val="1D1D1D"/>
                </a:solidFill>
                <a:latin typeface="Calibri"/>
                <a:cs typeface="Calibri"/>
              </a:rPr>
              <a:t>transaction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7048" y="6055430"/>
            <a:ext cx="3691254" cy="78549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501015" marR="5080" indent="-488950">
              <a:lnSpc>
                <a:spcPts val="2900"/>
              </a:lnSpc>
              <a:spcBef>
                <a:spcPts val="350"/>
              </a:spcBef>
            </a:pPr>
            <a:r>
              <a:rPr dirty="0" sz="2550" spc="-60">
                <a:latin typeface="Arial"/>
                <a:cs typeface="Arial"/>
              </a:rPr>
              <a:t>Real-</a:t>
            </a:r>
            <a:r>
              <a:rPr dirty="0" sz="2550">
                <a:latin typeface="Arial"/>
                <a:cs typeface="Arial"/>
              </a:rPr>
              <a:t>time</a:t>
            </a:r>
            <a:r>
              <a:rPr dirty="0" sz="2550" spc="14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stopping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power </a:t>
            </a:r>
            <a:r>
              <a:rPr dirty="0" sz="2550" spc="-30">
                <a:latin typeface="Arial"/>
                <a:cs typeface="Arial"/>
              </a:rPr>
              <a:t>(e.g.,</a:t>
            </a:r>
            <a:r>
              <a:rPr dirty="0" sz="2550" spc="-15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sanction</a:t>
            </a:r>
            <a:r>
              <a:rPr dirty="0" sz="2550" spc="-7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hits)</a:t>
            </a:r>
            <a:endParaRPr sz="2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50119" y="2278238"/>
            <a:ext cx="2781300" cy="824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2540">
              <a:lnSpc>
                <a:spcPts val="2810"/>
              </a:lnSpc>
              <a:spcBef>
                <a:spcPts val="110"/>
              </a:spcBef>
            </a:pPr>
            <a:r>
              <a:rPr dirty="0" sz="2350">
                <a:solidFill>
                  <a:srgbClr val="0F0F0F"/>
                </a:solidFill>
                <a:latin typeface="Arial"/>
                <a:cs typeface="Arial"/>
              </a:rPr>
              <a:t>Stage</a:t>
            </a:r>
            <a:r>
              <a:rPr dirty="0" sz="2350" spc="-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070707"/>
                </a:solidFill>
                <a:latin typeface="Arial"/>
                <a:cs typeface="Arial"/>
              </a:rPr>
              <a:t>2</a:t>
            </a:r>
            <a:endParaRPr sz="2350">
              <a:latin typeface="Arial"/>
              <a:cs typeface="Arial"/>
            </a:endParaRPr>
          </a:p>
          <a:p>
            <a:pPr algn="ctr">
              <a:lnSpc>
                <a:spcPts val="3470"/>
              </a:lnSpc>
            </a:pPr>
            <a:r>
              <a:rPr dirty="0" sz="2900">
                <a:solidFill>
                  <a:srgbClr val="1F1F1F"/>
                </a:solidFill>
                <a:latin typeface="Arial"/>
                <a:cs typeface="Arial"/>
              </a:rPr>
              <a:t>Post-</a:t>
            </a:r>
            <a:r>
              <a:rPr dirty="0" sz="2900" spc="-10">
                <a:solidFill>
                  <a:srgbClr val="1F1F1F"/>
                </a:solidFill>
                <a:latin typeface="Arial"/>
                <a:cs typeface="Arial"/>
              </a:rPr>
              <a:t>transaction</a:t>
            </a:r>
            <a:endParaRPr sz="2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82866" y="6011333"/>
            <a:ext cx="4460240" cy="83820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 marR="5080" indent="473075">
              <a:lnSpc>
                <a:spcPts val="2900"/>
              </a:lnSpc>
              <a:spcBef>
                <a:spcPts val="695"/>
              </a:spcBef>
            </a:pPr>
            <a:r>
              <a:rPr dirty="0" sz="2900" spc="-185">
                <a:latin typeface="Arial"/>
                <a:cs typeface="Arial"/>
              </a:rPr>
              <a:t>Pattern</a:t>
            </a:r>
            <a:r>
              <a:rPr dirty="0" sz="2900" spc="-15">
                <a:latin typeface="Arial"/>
                <a:cs typeface="Arial"/>
              </a:rPr>
              <a:t> </a:t>
            </a:r>
            <a:r>
              <a:rPr dirty="0" sz="2900" spc="-165">
                <a:latin typeface="Arial"/>
                <a:cs typeface="Arial"/>
              </a:rPr>
              <a:t>recognition</a:t>
            </a:r>
            <a:r>
              <a:rPr dirty="0" sz="2900" spc="3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(e.g., </a:t>
            </a:r>
            <a:r>
              <a:rPr dirty="0" sz="2900" spc="-190">
                <a:latin typeface="Arial"/>
                <a:cs typeface="Arial"/>
              </a:rPr>
              <a:t>’Smurfing‘</a:t>
            </a:r>
            <a:r>
              <a:rPr dirty="0" sz="2900" spc="5">
                <a:latin typeface="Arial"/>
                <a:cs typeface="Arial"/>
              </a:rPr>
              <a:t> </a:t>
            </a:r>
            <a:r>
              <a:rPr dirty="0" sz="2900" spc="-200">
                <a:solidFill>
                  <a:srgbClr val="00080F"/>
                </a:solidFill>
                <a:latin typeface="Arial"/>
                <a:cs typeface="Arial"/>
              </a:rPr>
              <a:t>or</a:t>
            </a:r>
            <a:r>
              <a:rPr dirty="0" sz="2900" spc="-100">
                <a:solidFill>
                  <a:srgbClr val="00080F"/>
                </a:solidFill>
                <a:latin typeface="Arial"/>
                <a:cs typeface="Arial"/>
              </a:rPr>
              <a:t> </a:t>
            </a:r>
            <a:r>
              <a:rPr dirty="0" sz="2900" spc="-229">
                <a:solidFill>
                  <a:srgbClr val="080808"/>
                </a:solidFill>
                <a:latin typeface="Arial"/>
                <a:cs typeface="Arial"/>
              </a:rPr>
              <a:t>unusual</a:t>
            </a:r>
            <a:r>
              <a:rPr dirty="0" sz="2900" spc="9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900" spc="-265">
                <a:solidFill>
                  <a:srgbClr val="050505"/>
                </a:solidFill>
                <a:latin typeface="Arial"/>
                <a:cs typeface="Arial"/>
              </a:rPr>
              <a:t>cash</a:t>
            </a:r>
            <a:r>
              <a:rPr dirty="0" sz="2900" spc="1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900" spc="-280">
                <a:latin typeface="Arial"/>
                <a:cs typeface="Arial"/>
              </a:rPr>
              <a:t>use)</a:t>
            </a:r>
            <a:endParaRPr sz="2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4262" y="7654052"/>
            <a:ext cx="13683615" cy="133858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700" spc="-70">
                <a:solidFill>
                  <a:srgbClr val="082A34"/>
                </a:solidFill>
                <a:latin typeface="Arial"/>
                <a:cs typeface="Arial"/>
              </a:rPr>
              <a:t>DNB</a:t>
            </a:r>
            <a:r>
              <a:rPr dirty="0" sz="2700" spc="-60">
                <a:solidFill>
                  <a:srgbClr val="082A34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8232F"/>
                </a:solidFill>
                <a:latin typeface="Arial"/>
                <a:cs typeface="Arial"/>
              </a:rPr>
              <a:t>Good</a:t>
            </a:r>
            <a:r>
              <a:rPr dirty="0" sz="2700" spc="-65">
                <a:solidFill>
                  <a:srgbClr val="08232F"/>
                </a:solidFill>
                <a:latin typeface="Arial"/>
                <a:cs typeface="Arial"/>
              </a:rPr>
              <a:t> </a:t>
            </a:r>
            <a:r>
              <a:rPr dirty="0" sz="2700" spc="90">
                <a:solidFill>
                  <a:srgbClr val="082B38"/>
                </a:solidFill>
                <a:latin typeface="Arial"/>
                <a:cs typeface="Arial"/>
              </a:rPr>
              <a:t>Practice</a:t>
            </a:r>
            <a:r>
              <a:rPr dirty="0" sz="2700" spc="120">
                <a:solidFill>
                  <a:srgbClr val="082B38"/>
                </a:solidFill>
                <a:latin typeface="Arial"/>
                <a:cs typeface="Arial"/>
              </a:rPr>
              <a:t> </a:t>
            </a:r>
            <a:r>
              <a:rPr dirty="0" sz="2700" spc="100">
                <a:solidFill>
                  <a:srgbClr val="262626"/>
                </a:solidFill>
                <a:latin typeface="Arial"/>
                <a:cs typeface="Arial"/>
              </a:rPr>
              <a:t>(Backtesting):</a:t>
            </a:r>
            <a:endParaRPr sz="2700">
              <a:latin typeface="Arial"/>
              <a:cs typeface="Arial"/>
            </a:endParaRPr>
          </a:p>
          <a:p>
            <a:pPr marL="429259" indent="-269240">
              <a:lnSpc>
                <a:spcPts val="3250"/>
              </a:lnSpc>
              <a:spcBef>
                <a:spcPts val="310"/>
              </a:spcBef>
              <a:buClr>
                <a:srgbClr val="526B75"/>
              </a:buClr>
              <a:buChar char="•"/>
              <a:tabLst>
                <a:tab pos="429259" algn="l"/>
              </a:tabLst>
            </a:pPr>
            <a:r>
              <a:rPr dirty="0" sz="2750">
                <a:solidFill>
                  <a:srgbClr val="151515"/>
                </a:solidFill>
                <a:latin typeface="Arial"/>
                <a:cs typeface="Arial"/>
              </a:rPr>
              <a:t>Retrospective</a:t>
            </a:r>
            <a:r>
              <a:rPr dirty="0" sz="2750" spc="229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81818"/>
                </a:solidFill>
                <a:latin typeface="Arial"/>
                <a:cs typeface="Arial"/>
              </a:rPr>
              <a:t>analysis</a:t>
            </a:r>
            <a:r>
              <a:rPr dirty="0" sz="2750" spc="13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61616"/>
                </a:solidFill>
                <a:latin typeface="Arial"/>
                <a:cs typeface="Arial"/>
              </a:rPr>
              <a:t>of</a:t>
            </a:r>
            <a:r>
              <a:rPr dirty="0" sz="2750" spc="6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51515"/>
                </a:solidFill>
                <a:latin typeface="Arial"/>
                <a:cs typeface="Arial"/>
              </a:rPr>
              <a:t>transactions</a:t>
            </a:r>
            <a:r>
              <a:rPr dirty="0" sz="2750" spc="18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31313"/>
                </a:solidFill>
                <a:latin typeface="Arial"/>
                <a:cs typeface="Arial"/>
              </a:rPr>
              <a:t>that</a:t>
            </a:r>
            <a:r>
              <a:rPr dirty="0" sz="2750" spc="5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50" spc="55">
                <a:solidFill>
                  <a:srgbClr val="181818"/>
                </a:solidFill>
                <a:latin typeface="Arial"/>
                <a:cs typeface="Arial"/>
              </a:rPr>
              <a:t>did</a:t>
            </a:r>
            <a:r>
              <a:rPr dirty="0" sz="2750" spc="-8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2750" spc="-40">
                <a:solidFill>
                  <a:srgbClr val="161616"/>
                </a:solidFill>
                <a:latin typeface="Arial"/>
                <a:cs typeface="Arial"/>
              </a:rPr>
              <a:t>NOT</a:t>
            </a:r>
            <a:r>
              <a:rPr dirty="0" sz="2750" spc="4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31313"/>
                </a:solidFill>
                <a:latin typeface="Arial"/>
                <a:cs typeface="Arial"/>
              </a:rPr>
              <a:t>generate</a:t>
            </a:r>
            <a:r>
              <a:rPr dirty="0" sz="2750" spc="204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81818"/>
                </a:solidFill>
                <a:latin typeface="Arial"/>
                <a:cs typeface="Arial"/>
              </a:rPr>
              <a:t>alerts</a:t>
            </a:r>
            <a:r>
              <a:rPr dirty="0" sz="2750" spc="2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61616"/>
                </a:solidFill>
                <a:latin typeface="Arial"/>
                <a:cs typeface="Arial"/>
              </a:rPr>
              <a:t>(false</a:t>
            </a:r>
            <a:r>
              <a:rPr dirty="0" sz="2750" spc="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080808"/>
                </a:solidFill>
                <a:latin typeface="Arial"/>
                <a:cs typeface="Arial"/>
              </a:rPr>
              <a:t>negatives).</a:t>
            </a:r>
            <a:endParaRPr sz="2750">
              <a:latin typeface="Arial"/>
              <a:cs typeface="Arial"/>
            </a:endParaRPr>
          </a:p>
          <a:p>
            <a:pPr marL="445134" indent="-285115">
              <a:lnSpc>
                <a:spcPts val="3250"/>
              </a:lnSpc>
              <a:buClr>
                <a:srgbClr val="506970"/>
              </a:buClr>
              <a:buChar char="•"/>
              <a:tabLst>
                <a:tab pos="445134" algn="l"/>
              </a:tabLst>
            </a:pPr>
            <a:r>
              <a:rPr dirty="0" sz="2750" spc="-30">
                <a:solidFill>
                  <a:srgbClr val="161616"/>
                </a:solidFill>
                <a:latin typeface="Arial"/>
                <a:cs typeface="Arial"/>
              </a:rPr>
              <a:t>Analysis</a:t>
            </a:r>
            <a:r>
              <a:rPr dirty="0" sz="2750" spc="6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dirty="0" sz="2750" spc="6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31313"/>
                </a:solidFill>
                <a:latin typeface="Arial"/>
                <a:cs typeface="Arial"/>
              </a:rPr>
              <a:t>rules</a:t>
            </a:r>
            <a:r>
              <a:rPr dirty="0" sz="2750" spc="-4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81818"/>
                </a:solidFill>
                <a:latin typeface="Arial"/>
                <a:cs typeface="Arial"/>
              </a:rPr>
              <a:t>that</a:t>
            </a:r>
            <a:r>
              <a:rPr dirty="0" sz="2750" spc="9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31313"/>
                </a:solidFill>
                <a:latin typeface="Arial"/>
                <a:cs typeface="Arial"/>
              </a:rPr>
              <a:t>generate</a:t>
            </a:r>
            <a:r>
              <a:rPr dirty="0" sz="2750" spc="4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31313"/>
                </a:solidFill>
                <a:latin typeface="Arial"/>
                <a:cs typeface="Arial"/>
              </a:rPr>
              <a:t>excessive</a:t>
            </a:r>
            <a:r>
              <a:rPr dirty="0" sz="2750" spc="13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161616"/>
                </a:solidFill>
                <a:latin typeface="Arial"/>
                <a:cs typeface="Arial"/>
              </a:rPr>
              <a:t>false</a:t>
            </a:r>
            <a:r>
              <a:rPr dirty="0" sz="2750" spc="1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131313"/>
                </a:solidFill>
                <a:latin typeface="Arial"/>
                <a:cs typeface="Arial"/>
              </a:rPr>
              <a:t>positives.</a:t>
            </a:r>
            <a:endParaRPr sz="27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02132" y="2269419"/>
            <a:ext cx="2488565" cy="8318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8415">
              <a:lnSpc>
                <a:spcPct val="100000"/>
              </a:lnSpc>
              <a:spcBef>
                <a:spcPts val="130"/>
              </a:spcBef>
            </a:pPr>
            <a:r>
              <a:rPr dirty="0" sz="2400" spc="-10">
                <a:solidFill>
                  <a:srgbClr val="0E0E0E"/>
                </a:solidFill>
                <a:latin typeface="Arial"/>
                <a:cs typeface="Arial"/>
              </a:rPr>
              <a:t>Stage</a:t>
            </a:r>
            <a:r>
              <a:rPr dirty="0" sz="2400" spc="-114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081F24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dirty="0" sz="2850" spc="-20">
                <a:solidFill>
                  <a:srgbClr val="052633"/>
                </a:solidFill>
                <a:latin typeface="Arial"/>
                <a:cs typeface="Arial"/>
              </a:rPr>
              <a:t>Feedback</a:t>
            </a:r>
            <a:r>
              <a:rPr dirty="0" sz="2850" spc="-145">
                <a:solidFill>
                  <a:srgbClr val="052633"/>
                </a:solidFill>
                <a:latin typeface="Arial"/>
                <a:cs typeface="Arial"/>
              </a:rPr>
              <a:t> </a:t>
            </a:r>
            <a:r>
              <a:rPr dirty="0" sz="2850" spc="-20">
                <a:solidFill>
                  <a:srgbClr val="1C1C1C"/>
                </a:solidFill>
                <a:latin typeface="Arial"/>
                <a:cs typeface="Arial"/>
              </a:rPr>
              <a:t>Loop</a:t>
            </a:r>
            <a:endParaRPr sz="2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498297" y="6055430"/>
            <a:ext cx="3680460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>
                <a:latin typeface="Arial"/>
                <a:cs typeface="Arial"/>
              </a:rPr>
              <a:t>Backtesting</a:t>
            </a:r>
            <a:r>
              <a:rPr dirty="0" sz="2550" spc="-55">
                <a:latin typeface="Arial"/>
                <a:cs typeface="Arial"/>
              </a:rPr>
              <a:t> </a:t>
            </a:r>
            <a:r>
              <a:rPr dirty="0" sz="2550" spc="-195">
                <a:solidFill>
                  <a:srgbClr val="010E16"/>
                </a:solidFill>
                <a:latin typeface="Arial"/>
                <a:cs typeface="Arial"/>
              </a:rPr>
              <a:t>&amp;</a:t>
            </a:r>
            <a:r>
              <a:rPr dirty="0" sz="2550" spc="-30">
                <a:solidFill>
                  <a:srgbClr val="010E16"/>
                </a:solidFill>
                <a:latin typeface="Arial"/>
                <a:cs typeface="Arial"/>
              </a:rPr>
              <a:t> </a:t>
            </a:r>
            <a:r>
              <a:rPr dirty="0" sz="2550" spc="-25">
                <a:latin typeface="Arial"/>
                <a:cs typeface="Arial"/>
              </a:rPr>
              <a:t>Refinement</a:t>
            </a:r>
            <a:endParaRPr sz="2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14039" y="9422341"/>
            <a:ext cx="122364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latin typeface="Arial"/>
                <a:cs typeface="Arial"/>
              </a:rPr>
              <a:t>W</a:t>
            </a:r>
            <a:r>
              <a:rPr dirty="0" sz="1450" spc="135">
                <a:latin typeface="Arial"/>
                <a:cs typeface="Arial"/>
              </a:rPr>
              <a:t> </a:t>
            </a:r>
            <a:r>
              <a:rPr dirty="0" sz="1450" spc="-75">
                <a:latin typeface="Arial"/>
                <a:cs typeface="Arial"/>
              </a:rPr>
              <a:t>NotebookLM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43500" y="3187700"/>
            <a:ext cx="7905750" cy="5981700"/>
            <a:chOff x="5143500" y="3187700"/>
            <a:chExt cx="7905750" cy="5981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3500" y="3187700"/>
              <a:ext cx="7454900" cy="5981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2000" y="3943350"/>
              <a:ext cx="2127250" cy="1968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35323" y="370063"/>
            <a:ext cx="191833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60">
                <a:solidFill>
                  <a:srgbClr val="111111"/>
                </a:solidFill>
                <a:latin typeface="Arial"/>
                <a:cs typeface="Arial"/>
              </a:rPr>
              <a:t>Architectural</a:t>
            </a:r>
            <a:r>
              <a:rPr dirty="0" sz="1700" spc="-3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0E0E0E"/>
                </a:solidFill>
                <a:latin typeface="Arial"/>
                <a:cs typeface="Arial"/>
              </a:rPr>
              <a:t>Editorial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95361" y="380999"/>
            <a:ext cx="1143000" cy="35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1300"/>
              </a:lnSpc>
              <a:spcBef>
                <a:spcPts val="100"/>
              </a:spcBef>
            </a:pPr>
            <a:r>
              <a:rPr dirty="0" sz="1250" spc="-95">
                <a:solidFill>
                  <a:srgbClr val="3B3B3B"/>
                </a:solidFill>
                <a:latin typeface="Arial"/>
                <a:cs typeface="Arial"/>
              </a:rPr>
              <a:t>8anque</a:t>
            </a:r>
            <a:r>
              <a:rPr dirty="0" sz="1250" spc="35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232323"/>
                </a:solidFill>
                <a:latin typeface="Arial"/>
                <a:cs typeface="Arial"/>
              </a:rPr>
              <a:t>Nationals</a:t>
            </a:r>
            <a:endParaRPr sz="1250">
              <a:latin typeface="Arial"/>
              <a:cs typeface="Arial"/>
            </a:endParaRPr>
          </a:p>
          <a:p>
            <a:pPr algn="r" marR="6350">
              <a:lnSpc>
                <a:spcPts val="1300"/>
              </a:lnSpc>
            </a:pPr>
            <a:r>
              <a:rPr dirty="0" sz="1250" spc="-80">
                <a:solidFill>
                  <a:srgbClr val="494949"/>
                </a:solidFill>
                <a:latin typeface="Arial"/>
                <a:cs typeface="Arial"/>
              </a:rPr>
              <a:t>de</a:t>
            </a:r>
            <a:r>
              <a:rPr dirty="0" sz="1250" spc="-5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343434"/>
                </a:solidFill>
                <a:latin typeface="Arial"/>
                <a:cs typeface="Arial"/>
              </a:rPr>
              <a:t>BeTgique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73285" y="380999"/>
            <a:ext cx="1166495" cy="35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640">
              <a:lnSpc>
                <a:spcPts val="1300"/>
              </a:lnSpc>
              <a:spcBef>
                <a:spcPts val="100"/>
              </a:spcBef>
            </a:pPr>
            <a:r>
              <a:rPr dirty="0" sz="1250" spc="-120">
                <a:solidFill>
                  <a:srgbClr val="3F3F3F"/>
                </a:solidFill>
                <a:latin typeface="Arial"/>
                <a:cs typeface="Arial"/>
              </a:rPr>
              <a:t>Bank</a:t>
            </a:r>
            <a:r>
              <a:rPr dirty="0" sz="1250" spc="25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250" spc="-105">
                <a:solidFill>
                  <a:srgbClr val="2D2D2D"/>
                </a:solidFill>
                <a:latin typeface="Arial"/>
                <a:cs typeface="Arial"/>
              </a:rPr>
              <a:t>van</a:t>
            </a:r>
            <a:r>
              <a:rPr dirty="0" sz="1250" spc="-6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250" spc="-65">
                <a:solidFill>
                  <a:srgbClr val="383838"/>
                </a:solidFill>
                <a:latin typeface="Arial"/>
                <a:cs typeface="Arial"/>
              </a:rPr>
              <a:t>Bclgie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ts val="1300"/>
              </a:lnSpc>
              <a:tabLst>
                <a:tab pos="419734" algn="l"/>
              </a:tabLst>
            </a:pPr>
            <a:r>
              <a:rPr dirty="0" sz="1250">
                <a:solidFill>
                  <a:srgbClr val="878787"/>
                </a:solidFill>
                <a:latin typeface="Arial"/>
                <a:cs typeface="Arial"/>
              </a:rPr>
              <a:t>.</a:t>
            </a:r>
            <a:r>
              <a:rPr dirty="0" sz="1250" spc="105">
                <a:solidFill>
                  <a:srgbClr val="878787"/>
                </a:solidFill>
                <a:latin typeface="Arial"/>
                <a:cs typeface="Arial"/>
              </a:rPr>
              <a:t>  </a:t>
            </a:r>
            <a:r>
              <a:rPr dirty="0" sz="1250" spc="-25">
                <a:solidFill>
                  <a:srgbClr val="595959"/>
                </a:solidFill>
                <a:latin typeface="Arial"/>
                <a:cs typeface="Arial"/>
              </a:rPr>
              <a:t>›.'</a:t>
            </a:r>
            <a:r>
              <a:rPr dirty="0" sz="125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1250" spc="-25">
                <a:solidFill>
                  <a:srgbClr val="595959"/>
                </a:solidFill>
                <a:latin typeface="Arial"/>
                <a:cs typeface="Arial"/>
              </a:rPr>
              <a:t>,.i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275" y="1061155"/>
            <a:ext cx="15786100" cy="1453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6795"/>
              </a:lnSpc>
              <a:spcBef>
                <a:spcPts val="95"/>
              </a:spcBef>
            </a:pPr>
            <a:r>
              <a:rPr dirty="0" sz="5700" spc="-135">
                <a:solidFill>
                  <a:srgbClr val="012A36"/>
                </a:solidFill>
                <a:latin typeface="Cambria"/>
                <a:cs typeface="Cambria"/>
              </a:rPr>
              <a:t>Enhanced</a:t>
            </a:r>
            <a:r>
              <a:rPr dirty="0" sz="5700" spc="-180">
                <a:solidFill>
                  <a:srgbClr val="012A36"/>
                </a:solidFill>
                <a:latin typeface="Cambria"/>
                <a:cs typeface="Cambria"/>
              </a:rPr>
              <a:t> </a:t>
            </a:r>
            <a:r>
              <a:rPr dirty="0" sz="5700" spc="-20">
                <a:solidFill>
                  <a:srgbClr val="012634"/>
                </a:solidFill>
                <a:latin typeface="Cambria"/>
                <a:cs typeface="Cambria"/>
              </a:rPr>
              <a:t>Due</a:t>
            </a:r>
            <a:r>
              <a:rPr dirty="0" sz="5700" spc="-290">
                <a:solidFill>
                  <a:srgbClr val="012634"/>
                </a:solidFill>
                <a:latin typeface="Cambria"/>
                <a:cs typeface="Cambria"/>
              </a:rPr>
              <a:t> </a:t>
            </a:r>
            <a:r>
              <a:rPr dirty="0" sz="5700" spc="-100">
                <a:solidFill>
                  <a:srgbClr val="032A38"/>
                </a:solidFill>
                <a:latin typeface="Cambria"/>
                <a:cs typeface="Cambria"/>
              </a:rPr>
              <a:t>Diligence:</a:t>
            </a:r>
            <a:r>
              <a:rPr dirty="0" sz="5700" spc="-215">
                <a:solidFill>
                  <a:srgbClr val="032A38"/>
                </a:solidFill>
                <a:latin typeface="Cambria"/>
                <a:cs typeface="Cambria"/>
              </a:rPr>
              <a:t> </a:t>
            </a:r>
            <a:r>
              <a:rPr dirty="0" sz="5700" spc="-125">
                <a:solidFill>
                  <a:srgbClr val="013446"/>
                </a:solidFill>
                <a:latin typeface="Cambria"/>
                <a:cs typeface="Cambria"/>
              </a:rPr>
              <a:t>PEPs</a:t>
            </a:r>
            <a:r>
              <a:rPr dirty="0" sz="5700" spc="-185">
                <a:solidFill>
                  <a:srgbClr val="013446"/>
                </a:solidFill>
                <a:latin typeface="Cambria"/>
                <a:cs typeface="Cambria"/>
              </a:rPr>
              <a:t> </a:t>
            </a:r>
            <a:r>
              <a:rPr dirty="0" sz="5700" spc="-165">
                <a:solidFill>
                  <a:srgbClr val="032A36"/>
                </a:solidFill>
                <a:latin typeface="Cambria"/>
                <a:cs typeface="Cambria"/>
              </a:rPr>
              <a:t>&amp;</a:t>
            </a:r>
            <a:r>
              <a:rPr dirty="0" sz="5700" spc="-245">
                <a:solidFill>
                  <a:srgbClr val="032A36"/>
                </a:solidFill>
                <a:latin typeface="Cambria"/>
                <a:cs typeface="Cambria"/>
              </a:rPr>
              <a:t> </a:t>
            </a:r>
            <a:r>
              <a:rPr dirty="0" sz="5700" spc="-175">
                <a:solidFill>
                  <a:srgbClr val="013344"/>
                </a:solidFill>
                <a:latin typeface="Cambria"/>
                <a:cs typeface="Cambria"/>
              </a:rPr>
              <a:t>High-</a:t>
            </a:r>
            <a:r>
              <a:rPr dirty="0" sz="5700" spc="-60">
                <a:solidFill>
                  <a:srgbClr val="013344"/>
                </a:solidFill>
                <a:latin typeface="Cambria"/>
                <a:cs typeface="Cambria"/>
              </a:rPr>
              <a:t>Risk </a:t>
            </a:r>
            <a:r>
              <a:rPr dirty="0" sz="5700" spc="-10">
                <a:solidFill>
                  <a:srgbClr val="033444"/>
                </a:solidFill>
                <a:latin typeface="Cambria"/>
                <a:cs typeface="Cambria"/>
              </a:rPr>
              <a:t>Countries</a:t>
            </a:r>
            <a:endParaRPr sz="5700">
              <a:latin typeface="Cambria"/>
              <a:cs typeface="Cambria"/>
            </a:endParaRPr>
          </a:p>
          <a:p>
            <a:pPr marL="25400">
              <a:lnSpc>
                <a:spcPts val="4455"/>
              </a:lnSpc>
            </a:pPr>
            <a:r>
              <a:rPr dirty="0" sz="3750" spc="-110">
                <a:solidFill>
                  <a:srgbClr val="0A2B36"/>
                </a:solidFill>
                <a:latin typeface="Times New Roman"/>
                <a:cs typeface="Times New Roman"/>
              </a:rPr>
              <a:t>Senior</a:t>
            </a:r>
            <a:r>
              <a:rPr dirty="0" sz="3750" spc="-135">
                <a:solidFill>
                  <a:srgbClr val="0A2B36"/>
                </a:solidFill>
                <a:latin typeface="Times New Roman"/>
                <a:cs typeface="Times New Roman"/>
              </a:rPr>
              <a:t> </a:t>
            </a:r>
            <a:r>
              <a:rPr dirty="0" sz="3750" spc="-130">
                <a:solidFill>
                  <a:srgbClr val="082B38"/>
                </a:solidFill>
                <a:latin typeface="Times New Roman"/>
                <a:cs typeface="Times New Roman"/>
              </a:rPr>
              <a:t>Management</a:t>
            </a:r>
            <a:r>
              <a:rPr dirty="0" sz="3750" spc="-50">
                <a:solidFill>
                  <a:srgbClr val="082B38"/>
                </a:solidFill>
                <a:latin typeface="Times New Roman"/>
                <a:cs typeface="Times New Roman"/>
              </a:rPr>
              <a:t> </a:t>
            </a:r>
            <a:r>
              <a:rPr dirty="0" sz="3750" spc="-204">
                <a:solidFill>
                  <a:srgbClr val="0E2D3B"/>
                </a:solidFill>
                <a:latin typeface="Times New Roman"/>
                <a:cs typeface="Times New Roman"/>
              </a:rPr>
              <a:t>Approval</a:t>
            </a:r>
            <a:r>
              <a:rPr dirty="0" sz="3750" spc="-30">
                <a:solidFill>
                  <a:srgbClr val="0E2D3B"/>
                </a:solidFill>
                <a:latin typeface="Times New Roman"/>
                <a:cs typeface="Times New Roman"/>
              </a:rPr>
              <a:t> </a:t>
            </a:r>
            <a:r>
              <a:rPr dirty="0" sz="3750" spc="-90">
                <a:solidFill>
                  <a:srgbClr val="0A2D36"/>
                </a:solidFill>
                <a:latin typeface="Times New Roman"/>
                <a:cs typeface="Times New Roman"/>
              </a:rPr>
              <a:t>Framework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8988" y="5170663"/>
            <a:ext cx="1792605" cy="53149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315"/>
              </a:spcBef>
            </a:pPr>
            <a:r>
              <a:rPr dirty="0" sz="1700">
                <a:solidFill>
                  <a:srgbClr val="0C0C0C"/>
                </a:solidFill>
                <a:latin typeface="Arial"/>
                <a:cs typeface="Arial"/>
              </a:rPr>
              <a:t>Politically</a:t>
            </a:r>
            <a:r>
              <a:rPr dirty="0" sz="1700" spc="-7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111111"/>
                </a:solidFill>
                <a:latin typeface="Arial"/>
                <a:cs typeface="Arial"/>
              </a:rPr>
              <a:t>Exposed </a:t>
            </a:r>
            <a:r>
              <a:rPr dirty="0" sz="1700" spc="-25">
                <a:solidFill>
                  <a:srgbClr val="070707"/>
                </a:solidFill>
                <a:latin typeface="Arial"/>
                <a:cs typeface="Arial"/>
              </a:rPr>
              <a:t>Persons</a:t>
            </a:r>
            <a:r>
              <a:rPr dirty="0" sz="1700" spc="-75">
                <a:solidFill>
                  <a:srgbClr val="070707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080808"/>
                </a:solidFill>
                <a:latin typeface="Arial"/>
                <a:cs typeface="Arial"/>
              </a:rPr>
              <a:t>(PEPs)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14374" y="5936544"/>
            <a:ext cx="1501775" cy="96139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 marR="5080">
              <a:lnSpc>
                <a:spcPct val="80200"/>
              </a:lnSpc>
              <a:spcBef>
                <a:spcPts val="530"/>
              </a:spcBef>
            </a:pPr>
            <a:r>
              <a:rPr dirty="0" sz="1800" spc="-150">
                <a:solidFill>
                  <a:srgbClr val="0F0F0F"/>
                </a:solidFill>
                <a:latin typeface="Arial"/>
                <a:cs typeface="Arial"/>
              </a:rPr>
              <a:t>Not</a:t>
            </a:r>
            <a:r>
              <a:rPr dirty="0" sz="1800" spc="-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111111"/>
                </a:solidFill>
                <a:latin typeface="Arial"/>
                <a:cs typeface="Arial"/>
              </a:rPr>
              <a:t>automatically </a:t>
            </a:r>
            <a:r>
              <a:rPr dirty="0" sz="1800" spc="-65">
                <a:solidFill>
                  <a:srgbClr val="212121"/>
                </a:solidFill>
                <a:latin typeface="Arial"/>
                <a:cs typeface="Arial"/>
              </a:rPr>
              <a:t>unacceptab </a:t>
            </a:r>
            <a:r>
              <a:rPr dirty="0" sz="1800" spc="-180">
                <a:solidFill>
                  <a:srgbClr val="0E0E0E"/>
                </a:solidFill>
                <a:latin typeface="Arial"/>
                <a:cs typeface="Arial"/>
              </a:rPr>
              <a:t>Requires</a:t>
            </a:r>
            <a:r>
              <a:rPr dirty="0" sz="1800" spc="75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1D1D1D"/>
                </a:solidFill>
                <a:latin typeface="Arial"/>
                <a:cs typeface="Arial"/>
              </a:rPr>
              <a:t>Source </a:t>
            </a:r>
            <a:r>
              <a:rPr dirty="0" sz="1800" spc="-150">
                <a:solidFill>
                  <a:srgbClr val="1F1F1F"/>
                </a:solidFill>
                <a:latin typeface="Arial"/>
                <a:cs typeface="Arial"/>
              </a:rPr>
              <a:t>of</a:t>
            </a:r>
            <a:r>
              <a:rPr dirty="0" sz="1800" spc="6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800" spc="-180">
                <a:solidFill>
                  <a:srgbClr val="111111"/>
                </a:solidFill>
                <a:latin typeface="Arial"/>
                <a:cs typeface="Arial"/>
              </a:rPr>
              <a:t>Wealth</a:t>
            </a:r>
            <a:r>
              <a:rPr dirty="0" sz="1800" spc="-5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Arial"/>
                <a:cs typeface="Arial"/>
              </a:rPr>
              <a:t>check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53816" y="3401483"/>
            <a:ext cx="2908300" cy="863600"/>
          </a:xfrm>
          <a:prstGeom prst="rect">
            <a:avLst/>
          </a:prstGeom>
          <a:ln w="12700">
            <a:solidFill>
              <a:srgbClr val="4F5B5B"/>
            </a:solidFill>
          </a:ln>
        </p:spPr>
        <p:txBody>
          <a:bodyPr wrap="square" lIns="0" tIns="158115" rIns="0" bIns="0" rtlCol="0" vert="horz">
            <a:spAutoFit/>
          </a:bodyPr>
          <a:lstStyle/>
          <a:p>
            <a:pPr marL="901065" marR="125095">
              <a:lnSpc>
                <a:spcPts val="1900"/>
              </a:lnSpc>
              <a:spcBef>
                <a:spcPts val="1245"/>
              </a:spcBef>
            </a:pPr>
            <a:r>
              <a:rPr dirty="0" sz="1850" spc="-105">
                <a:solidFill>
                  <a:srgbClr val="0C0C0C"/>
                </a:solidFill>
                <a:latin typeface="Arial"/>
                <a:cs typeface="Arial"/>
              </a:rPr>
              <a:t>Senior</a:t>
            </a:r>
            <a:r>
              <a:rPr dirty="0" sz="1850" spc="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850" spc="-135">
                <a:solidFill>
                  <a:srgbClr val="0E0E0E"/>
                </a:solidFill>
                <a:latin typeface="Arial"/>
                <a:cs typeface="Arial"/>
              </a:rPr>
              <a:t>Management </a:t>
            </a:r>
            <a:r>
              <a:rPr dirty="0" sz="1850" spc="-90">
                <a:solidFill>
                  <a:srgbClr val="0E0E0E"/>
                </a:solidFill>
                <a:latin typeface="Arial"/>
                <a:cs typeface="Arial"/>
              </a:rPr>
              <a:t>Sign-</a:t>
            </a:r>
            <a:r>
              <a:rPr dirty="0" sz="1850" spc="-25">
                <a:solidFill>
                  <a:srgbClr val="0E0E0E"/>
                </a:solidFill>
                <a:latin typeface="Arial"/>
                <a:cs typeface="Arial"/>
              </a:rPr>
              <a:t>Off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94736" y="6745464"/>
            <a:ext cx="1275715" cy="53149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5080" indent="610235">
              <a:lnSpc>
                <a:spcPts val="1900"/>
              </a:lnSpc>
              <a:spcBef>
                <a:spcPts val="315"/>
              </a:spcBef>
            </a:pPr>
            <a:r>
              <a:rPr dirty="0" sz="1700" spc="-25">
                <a:solidFill>
                  <a:srgbClr val="161616"/>
                </a:solidFill>
                <a:latin typeface="Arial"/>
                <a:cs typeface="Arial"/>
              </a:rPr>
              <a:t>sk </a:t>
            </a:r>
            <a:r>
              <a:rPr dirty="0" sz="1700" spc="-10">
                <a:solidFill>
                  <a:srgbClr val="0C0C0C"/>
                </a:solidFill>
                <a:latin typeface="Arial"/>
                <a:cs typeface="Arial"/>
              </a:rPr>
              <a:t>Identification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60678" y="8336844"/>
            <a:ext cx="1813560" cy="540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8265">
              <a:lnSpc>
                <a:spcPts val="2080"/>
              </a:lnSpc>
              <a:spcBef>
                <a:spcPts val="105"/>
              </a:spcBef>
              <a:tabLst>
                <a:tab pos="652145" algn="l"/>
              </a:tabLst>
            </a:pPr>
            <a:r>
              <a:rPr dirty="0" sz="1800" spc="-395">
                <a:solidFill>
                  <a:srgbClr val="495E69"/>
                </a:solidFill>
                <a:latin typeface="Arial"/>
                <a:cs typeface="Arial"/>
              </a:rPr>
              <a:t>I</a:t>
            </a:r>
            <a:r>
              <a:rPr dirty="0" sz="1800">
                <a:solidFill>
                  <a:srgbClr val="495E69"/>
                </a:solidFill>
                <a:latin typeface="Arial"/>
                <a:cs typeface="Arial"/>
              </a:rPr>
              <a:t>	</a:t>
            </a:r>
            <a:r>
              <a:rPr dirty="0" sz="1800" spc="-75">
                <a:solidFill>
                  <a:srgbClr val="080808"/>
                </a:solidFill>
                <a:latin typeface="Arial"/>
                <a:cs typeface="Arial"/>
              </a:rPr>
              <a:t>Relationship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60"/>
              </a:lnSpc>
              <a:tabLst>
                <a:tab pos="649605" algn="l"/>
              </a:tabLst>
            </a:pPr>
            <a:r>
              <a:rPr dirty="0" sz="1700" spc="60">
                <a:solidFill>
                  <a:srgbClr val="3A3A3A"/>
                </a:solidFill>
                <a:latin typeface="Arial"/>
                <a:cs typeface="Arial"/>
              </a:rPr>
              <a:t>"</a:t>
            </a:r>
            <a:r>
              <a:rPr dirty="0" sz="1700" spc="280">
                <a:solidFill>
                  <a:srgbClr val="3A3A3A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A3A3A"/>
                </a:solidFill>
                <a:latin typeface="Arial"/>
                <a:cs typeface="Arial"/>
              </a:rPr>
              <a:t>I</a:t>
            </a:r>
            <a:r>
              <a:rPr dirty="0" sz="1700">
                <a:solidFill>
                  <a:srgbClr val="3A3A3A"/>
                </a:solidFill>
                <a:latin typeface="Arial"/>
                <a:cs typeface="Arial"/>
              </a:rPr>
              <a:t>	</a:t>
            </a:r>
            <a:r>
              <a:rPr dirty="0" sz="1700" spc="-10">
                <a:solidFill>
                  <a:srgbClr val="070707"/>
                </a:solidFill>
                <a:latin typeface="Arial"/>
                <a:cs typeface="Arial"/>
              </a:rPr>
              <a:t>Initiation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00187" y="3435702"/>
            <a:ext cx="2859405" cy="48514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4604" marR="5080" indent="-2540">
              <a:lnSpc>
                <a:spcPts val="1700"/>
              </a:lnSpc>
              <a:spcBef>
                <a:spcPts val="335"/>
              </a:spcBef>
            </a:pPr>
            <a:r>
              <a:rPr dirty="0" sz="1600" spc="-40">
                <a:solidFill>
                  <a:srgbClr val="151515"/>
                </a:solidFill>
                <a:latin typeface="Arial"/>
                <a:cs typeface="Arial"/>
              </a:rPr>
              <a:t>Senior</a:t>
            </a:r>
            <a:r>
              <a:rPr dirty="0" sz="1600" spc="-6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131313"/>
                </a:solidFill>
                <a:latin typeface="Arial"/>
                <a:cs typeface="Arial"/>
              </a:rPr>
              <a:t>management</a:t>
            </a:r>
            <a:r>
              <a:rPr dirty="0" sz="1600" spc="-3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B2B2B"/>
                </a:solidFill>
                <a:latin typeface="Arial"/>
                <a:cs typeface="Arial"/>
              </a:rPr>
              <a:t>must</a:t>
            </a:r>
            <a:r>
              <a:rPr dirty="0" sz="1600" spc="1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131313"/>
                </a:solidFill>
                <a:latin typeface="Arial"/>
                <a:cs typeface="Arial"/>
              </a:rPr>
              <a:t>sign </a:t>
            </a:r>
            <a:r>
              <a:rPr dirty="0" sz="1600">
                <a:solidFill>
                  <a:srgbClr val="1A1A1A"/>
                </a:solidFill>
                <a:latin typeface="Arial"/>
                <a:cs typeface="Arial"/>
              </a:rPr>
              <a:t>off</a:t>
            </a:r>
            <a:r>
              <a:rPr dirty="0" sz="16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600" spc="-75">
                <a:solidFill>
                  <a:srgbClr val="1A1A1A"/>
                </a:solidFill>
                <a:latin typeface="Arial"/>
                <a:cs typeface="Arial"/>
              </a:rPr>
              <a:t>on</a:t>
            </a:r>
            <a:r>
              <a:rPr dirty="0" sz="16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600" spc="-30">
                <a:solidFill>
                  <a:srgbClr val="0E0E0E"/>
                </a:solidFill>
                <a:latin typeface="Arial"/>
                <a:cs typeface="Arial"/>
              </a:rPr>
              <a:t>high-</a:t>
            </a:r>
            <a:r>
              <a:rPr dirty="0" sz="1600">
                <a:solidFill>
                  <a:srgbClr val="0E0E0E"/>
                </a:solidFill>
                <a:latin typeface="Arial"/>
                <a:cs typeface="Arial"/>
              </a:rPr>
              <a:t>risk</a:t>
            </a:r>
            <a:r>
              <a:rPr dirty="0" sz="1600" spc="-1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111111"/>
                </a:solidFill>
                <a:latin typeface="Arial"/>
                <a:cs typeface="Arial"/>
              </a:rPr>
              <a:t>relationships</a:t>
            </a:r>
            <a:r>
              <a:rPr dirty="0" sz="1600" spc="12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600" spc="-85">
                <a:solidFill>
                  <a:srgbClr val="0E0E0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19537" y="5179483"/>
            <a:ext cx="1786255" cy="526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5715">
              <a:lnSpc>
                <a:spcPts val="1839"/>
              </a:lnSpc>
              <a:spcBef>
                <a:spcPts val="114"/>
              </a:spcBef>
            </a:pPr>
            <a:r>
              <a:rPr dirty="0" sz="1650" spc="-10">
                <a:solidFill>
                  <a:srgbClr val="0F0F0F"/>
                </a:solidFill>
                <a:latin typeface="Arial"/>
                <a:cs typeface="Arial"/>
              </a:rPr>
              <a:t>High-</a:t>
            </a:r>
            <a:r>
              <a:rPr dirty="0" sz="1650">
                <a:solidFill>
                  <a:srgbClr val="0F0F0F"/>
                </a:solidFill>
                <a:latin typeface="Arial"/>
                <a:cs typeface="Arial"/>
              </a:rPr>
              <a:t>Risk</a:t>
            </a:r>
            <a:r>
              <a:rPr dirty="0" sz="1650" spc="229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080808"/>
                </a:solidFill>
                <a:latin typeface="Arial"/>
                <a:cs typeface="Arial"/>
              </a:rPr>
              <a:t>Third</a:t>
            </a:r>
            <a:endParaRPr sz="1650">
              <a:latin typeface="Arial"/>
              <a:cs typeface="Arial"/>
            </a:endParaRPr>
          </a:p>
          <a:p>
            <a:pPr algn="ctr">
              <a:lnSpc>
                <a:spcPts val="2080"/>
              </a:lnSpc>
            </a:pPr>
            <a:r>
              <a:rPr dirty="0" sz="1850" spc="-75">
                <a:solidFill>
                  <a:srgbClr val="0F0F0F"/>
                </a:solidFill>
                <a:latin typeface="Arial"/>
                <a:cs typeface="Arial"/>
              </a:rPr>
              <a:t>Countries</a:t>
            </a:r>
            <a:r>
              <a:rPr dirty="0" sz="1850" spc="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850" spc="-155">
                <a:solidFill>
                  <a:srgbClr val="0A0A0A"/>
                </a:solidFill>
                <a:latin typeface="Arial"/>
                <a:cs typeface="Arial"/>
              </a:rPr>
              <a:t>(HRTCs)</a:t>
            </a:r>
            <a:endParaRPr sz="1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57246" y="5954183"/>
            <a:ext cx="1703070" cy="50800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 marR="5080" indent="4445">
              <a:lnSpc>
                <a:spcPts val="1800"/>
              </a:lnSpc>
              <a:spcBef>
                <a:spcPts val="325"/>
              </a:spcBef>
            </a:pPr>
            <a:r>
              <a:rPr dirty="0" sz="1650" spc="-30">
                <a:solidFill>
                  <a:srgbClr val="131313"/>
                </a:solidFill>
                <a:latin typeface="Arial"/>
                <a:cs typeface="Arial"/>
              </a:rPr>
              <a:t>Strict</a:t>
            </a:r>
            <a:r>
              <a:rPr dirty="0" sz="1650" spc="-8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0E0E0E"/>
                </a:solidFill>
                <a:latin typeface="Arial"/>
                <a:cs typeface="Arial"/>
              </a:rPr>
              <a:t>enhanced </a:t>
            </a:r>
            <a:r>
              <a:rPr dirty="0" sz="1650" spc="-30">
                <a:solidFill>
                  <a:srgbClr val="0F0F0F"/>
                </a:solidFill>
                <a:latin typeface="Arial"/>
                <a:cs typeface="Arial"/>
              </a:rPr>
              <a:t>monitoring</a:t>
            </a:r>
            <a:r>
              <a:rPr dirty="0" sz="1650" spc="25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650" spc="-65">
                <a:solidFill>
                  <a:srgbClr val="151515"/>
                </a:solidFill>
                <a:latin typeface="Arial"/>
                <a:cs typeface="Arial"/>
              </a:rPr>
              <a:t>equired</a:t>
            </a:r>
            <a:endParaRPr sz="16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13937" y="9413522"/>
            <a:ext cx="122428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"/>
                <a:cs typeface="Arial"/>
              </a:rPr>
              <a:t>W</a:t>
            </a:r>
            <a:r>
              <a:rPr dirty="0" sz="1500" spc="70">
                <a:latin typeface="Arial"/>
                <a:cs typeface="Arial"/>
              </a:rPr>
              <a:t> </a:t>
            </a:r>
            <a:r>
              <a:rPr dirty="0" sz="1500" spc="-100">
                <a:latin typeface="Arial"/>
                <a:cs typeface="Arial"/>
              </a:rPr>
              <a:t>NotebaokLM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6489700"/>
            <a:ext cx="9525000" cy="2095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900" y="3048000"/>
            <a:ext cx="9525000" cy="1841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09400" y="4394200"/>
            <a:ext cx="1536700" cy="1028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47700" y="4927600"/>
            <a:ext cx="342900" cy="114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92200" y="4394200"/>
            <a:ext cx="2616200" cy="10287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121400" y="95885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 h="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12700">
            <a:solidFill>
              <a:srgbClr val="8E8E8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7569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125"/>
              </a:spcBef>
            </a:pPr>
            <a:r>
              <a:rPr dirty="0" sz="6500" spc="-325">
                <a:solidFill>
                  <a:srgbClr val="012F3B"/>
                </a:solidFill>
              </a:rPr>
              <a:t>The</a:t>
            </a:r>
            <a:r>
              <a:rPr dirty="0" sz="6500" spc="-275">
                <a:solidFill>
                  <a:srgbClr val="012F3B"/>
                </a:solidFill>
              </a:rPr>
              <a:t> </a:t>
            </a:r>
            <a:r>
              <a:rPr dirty="0" sz="6500" spc="-375">
                <a:solidFill>
                  <a:srgbClr val="012833"/>
                </a:solidFill>
              </a:rPr>
              <a:t>Paradigm</a:t>
            </a:r>
            <a:r>
              <a:rPr dirty="0" sz="6500" spc="204">
                <a:solidFill>
                  <a:srgbClr val="012833"/>
                </a:solidFill>
              </a:rPr>
              <a:t> </a:t>
            </a:r>
            <a:r>
              <a:rPr dirty="0" sz="6500" spc="-130">
                <a:solidFill>
                  <a:srgbClr val="032631"/>
                </a:solidFill>
              </a:rPr>
              <a:t>Shift:</a:t>
            </a:r>
            <a:r>
              <a:rPr dirty="0" sz="6500" spc="-560">
                <a:solidFill>
                  <a:srgbClr val="032631"/>
                </a:solidFill>
              </a:rPr>
              <a:t> </a:t>
            </a:r>
            <a:r>
              <a:rPr dirty="0" sz="6500" spc="-420">
                <a:solidFill>
                  <a:srgbClr val="032A34"/>
                </a:solidFill>
              </a:rPr>
              <a:t>From</a:t>
            </a:r>
            <a:r>
              <a:rPr dirty="0" sz="6500" spc="-250">
                <a:solidFill>
                  <a:srgbClr val="032A34"/>
                </a:solidFill>
              </a:rPr>
              <a:t> </a:t>
            </a:r>
            <a:r>
              <a:rPr dirty="0" sz="6500" spc="-330">
                <a:solidFill>
                  <a:srgbClr val="012F3B"/>
                </a:solidFill>
              </a:rPr>
              <a:t>Periodic</a:t>
            </a:r>
            <a:r>
              <a:rPr dirty="0" sz="6500" spc="70">
                <a:solidFill>
                  <a:srgbClr val="012F3B"/>
                </a:solidFill>
              </a:rPr>
              <a:t> </a:t>
            </a:r>
            <a:r>
              <a:rPr dirty="0" sz="6500" spc="-125">
                <a:solidFill>
                  <a:srgbClr val="012834"/>
                </a:solidFill>
              </a:rPr>
              <a:t>to</a:t>
            </a:r>
            <a:r>
              <a:rPr dirty="0" sz="6500" spc="-530">
                <a:solidFill>
                  <a:srgbClr val="012834"/>
                </a:solidFill>
              </a:rPr>
              <a:t> </a:t>
            </a:r>
            <a:r>
              <a:rPr dirty="0" sz="6500" spc="-330">
                <a:solidFill>
                  <a:srgbClr val="012B3B"/>
                </a:solidFill>
              </a:rPr>
              <a:t>Perpetual.</a:t>
            </a:r>
            <a:endParaRPr sz="6500"/>
          </a:p>
        </p:txBody>
      </p:sp>
      <p:sp>
        <p:nvSpPr>
          <p:cNvPr id="9" name="object 9"/>
          <p:cNvSpPr txBox="1"/>
          <p:nvPr/>
        </p:nvSpPr>
        <p:spPr>
          <a:xfrm>
            <a:off x="966812" y="2545291"/>
            <a:ext cx="441134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>
                <a:latin typeface="Cambria"/>
                <a:cs typeface="Cambria"/>
              </a:rPr>
              <a:t>The</a:t>
            </a:r>
            <a:r>
              <a:rPr dirty="0" sz="2700" spc="-90">
                <a:latin typeface="Cambria"/>
                <a:cs typeface="Cambria"/>
              </a:rPr>
              <a:t> </a:t>
            </a:r>
            <a:r>
              <a:rPr dirty="0" sz="2700">
                <a:solidFill>
                  <a:srgbClr val="0A0A0A"/>
                </a:solidFill>
                <a:latin typeface="Cambria"/>
                <a:cs typeface="Cambria"/>
              </a:rPr>
              <a:t>Old</a:t>
            </a:r>
            <a:r>
              <a:rPr dirty="0" sz="2700" spc="-45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dirty="0" sz="2700" spc="-75">
                <a:latin typeface="Cambria"/>
                <a:cs typeface="Cambria"/>
              </a:rPr>
              <a:t>Way</a:t>
            </a:r>
            <a:r>
              <a:rPr dirty="0" sz="2700" spc="-35">
                <a:latin typeface="Cambria"/>
                <a:cs typeface="Cambria"/>
              </a:rPr>
              <a:t> </a:t>
            </a:r>
            <a:r>
              <a:rPr dirty="0" sz="2700" spc="-65">
                <a:solidFill>
                  <a:srgbClr val="080808"/>
                </a:solidFill>
                <a:latin typeface="Cambria"/>
                <a:cs typeface="Cambria"/>
              </a:rPr>
              <a:t>(Periodic</a:t>
            </a:r>
            <a:r>
              <a:rPr dirty="0" sz="2700" spc="125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dirty="0" sz="2700" spc="-100">
                <a:solidFill>
                  <a:srgbClr val="0A0A0A"/>
                </a:solidFill>
                <a:latin typeface="Cambria"/>
                <a:cs typeface="Cambria"/>
              </a:rPr>
              <a:t>Review)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5327" y="4953705"/>
            <a:ext cx="64516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55">
                <a:solidFill>
                  <a:srgbClr val="070707"/>
                </a:solidFill>
                <a:latin typeface="Cambria"/>
                <a:cs typeface="Cambria"/>
              </a:rPr>
              <a:t>Year</a:t>
            </a:r>
            <a:r>
              <a:rPr dirty="0" sz="1950" spc="-30">
                <a:solidFill>
                  <a:srgbClr val="070707"/>
                </a:solidFill>
                <a:latin typeface="Cambria"/>
                <a:cs typeface="Cambria"/>
              </a:rPr>
              <a:t> </a:t>
            </a:r>
            <a:r>
              <a:rPr dirty="0" sz="1950" spc="-155">
                <a:solidFill>
                  <a:srgbClr val="131313"/>
                </a:solidFill>
                <a:latin typeface="Cambria"/>
                <a:cs typeface="Cambria"/>
              </a:rPr>
              <a:t>1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50780" y="4953705"/>
            <a:ext cx="68961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>
                <a:solidFill>
                  <a:srgbClr val="080808"/>
                </a:solidFill>
                <a:latin typeface="Calibri"/>
                <a:cs typeface="Calibri"/>
              </a:rPr>
              <a:t>Year</a:t>
            </a:r>
            <a:r>
              <a:rPr dirty="0" sz="1950" spc="204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950" spc="-50"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7096" y="5951361"/>
            <a:ext cx="310324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>
                <a:solidFill>
                  <a:srgbClr val="0A0A0A"/>
                </a:solidFill>
                <a:latin typeface="Cambria"/>
                <a:cs typeface="Cambria"/>
              </a:rPr>
              <a:t>The</a:t>
            </a:r>
            <a:r>
              <a:rPr dirty="0" sz="2600" spc="4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dirty="0" sz="2600">
                <a:solidFill>
                  <a:srgbClr val="0E0E0E"/>
                </a:solidFill>
                <a:latin typeface="Cambria"/>
                <a:cs typeface="Cambria"/>
              </a:rPr>
              <a:t>New</a:t>
            </a:r>
            <a:r>
              <a:rPr dirty="0" sz="2600" spc="14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2600" spc="-20">
                <a:solidFill>
                  <a:srgbClr val="0C0C0C"/>
                </a:solidFill>
                <a:latin typeface="Cambria"/>
                <a:cs typeface="Cambria"/>
              </a:rPr>
              <a:t>Way</a:t>
            </a:r>
            <a:r>
              <a:rPr dirty="0" sz="2600" spc="15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(pKYC)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5249" y="8602485"/>
            <a:ext cx="63944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60">
                <a:latin typeface="Cambria"/>
                <a:cs typeface="Cambria"/>
              </a:rPr>
              <a:t>Year</a:t>
            </a:r>
            <a:r>
              <a:rPr dirty="0" sz="2000" spc="-20">
                <a:latin typeface="Cambria"/>
                <a:cs typeface="Cambria"/>
              </a:rPr>
              <a:t> </a:t>
            </a:r>
            <a:r>
              <a:rPr dirty="0" sz="2000" spc="-475">
                <a:solidFill>
                  <a:srgbClr val="0E0E0E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50780" y="8624005"/>
            <a:ext cx="68961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>
                <a:solidFill>
                  <a:srgbClr val="0C0C0C"/>
                </a:solidFill>
                <a:latin typeface="Calibri"/>
                <a:cs typeface="Calibri"/>
              </a:rPr>
              <a:t>Year</a:t>
            </a:r>
            <a:r>
              <a:rPr dirty="0" sz="1950" spc="204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950" spc="-50"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19126" y="4953705"/>
            <a:ext cx="67246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45">
                <a:latin typeface="Cambria"/>
                <a:cs typeface="Cambria"/>
              </a:rPr>
              <a:t>Year</a:t>
            </a:r>
            <a:r>
              <a:rPr dirty="0" sz="1950" spc="-35">
                <a:latin typeface="Cambria"/>
                <a:cs typeface="Cambria"/>
              </a:rPr>
              <a:t> </a:t>
            </a:r>
            <a:r>
              <a:rPr dirty="0" sz="1950" spc="-50">
                <a:solidFill>
                  <a:srgbClr val="0C0C0C"/>
                </a:solidFill>
                <a:latin typeface="Cambria"/>
                <a:cs typeface="Cambria"/>
              </a:rPr>
              <a:t>3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11349" y="4944886"/>
            <a:ext cx="695960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60">
                <a:latin typeface="Cambria"/>
                <a:cs typeface="Cambria"/>
              </a:rPr>
              <a:t>Year</a:t>
            </a:r>
            <a:r>
              <a:rPr dirty="0" sz="2000" spc="-20">
                <a:latin typeface="Cambria"/>
                <a:cs typeface="Cambria"/>
              </a:rPr>
              <a:t> </a:t>
            </a:r>
            <a:r>
              <a:rPr dirty="0" sz="2000" spc="-50">
                <a:solidFill>
                  <a:srgbClr val="161616"/>
                </a:solidFill>
                <a:latin typeface="Cambria"/>
                <a:cs typeface="Cambria"/>
              </a:rPr>
              <a:t>4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14138" y="6816725"/>
            <a:ext cx="314515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080808"/>
                </a:solidFill>
                <a:latin typeface="Arial"/>
                <a:cs typeface="Arial"/>
              </a:rPr>
              <a:t>Continuous</a:t>
            </a:r>
            <a:r>
              <a:rPr dirty="0" sz="1850" spc="-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1850" spc="-30">
                <a:solidFill>
                  <a:srgbClr val="0A0A0A"/>
                </a:solidFill>
                <a:latin typeface="Arial"/>
                <a:cs typeface="Arial"/>
              </a:rPr>
              <a:t>Risk</a:t>
            </a:r>
            <a:r>
              <a:rPr dirty="0" sz="1850" spc="-5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Management</a:t>
            </a:r>
            <a:endParaRPr sz="1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19049" y="8608835"/>
            <a:ext cx="69786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75">
                <a:latin typeface="Cambria"/>
                <a:cs typeface="Cambria"/>
              </a:rPr>
              <a:t>Year</a:t>
            </a:r>
            <a:r>
              <a:rPr dirty="0" sz="2000" spc="-25">
                <a:latin typeface="Cambria"/>
                <a:cs typeface="Cambria"/>
              </a:rPr>
              <a:t> </a:t>
            </a:r>
            <a:r>
              <a:rPr dirty="0" sz="2000" spc="50">
                <a:solidFill>
                  <a:srgbClr val="1A1A1A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11194" y="8597547"/>
            <a:ext cx="69532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55">
                <a:solidFill>
                  <a:srgbClr val="080808"/>
                </a:solidFill>
                <a:latin typeface="Cambria"/>
                <a:cs typeface="Cambria"/>
              </a:rPr>
              <a:t>Year</a:t>
            </a:r>
            <a:r>
              <a:rPr dirty="0" sz="2150" spc="45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dirty="0" sz="2150" spc="-60">
                <a:solidFill>
                  <a:srgbClr val="161616"/>
                </a:solidFill>
                <a:latin typeface="Cambria"/>
                <a:cs typeface="Cambria"/>
              </a:rPr>
              <a:t>4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79772" y="4936066"/>
            <a:ext cx="69088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75">
                <a:latin typeface="Cambria"/>
                <a:cs typeface="Cambria"/>
              </a:rPr>
              <a:t>Year</a:t>
            </a:r>
            <a:r>
              <a:rPr dirty="0" sz="2050" spc="-45">
                <a:latin typeface="Cambria"/>
                <a:cs typeface="Cambria"/>
              </a:rPr>
              <a:t> </a:t>
            </a:r>
            <a:r>
              <a:rPr dirty="0" sz="2050" spc="-50">
                <a:solidFill>
                  <a:srgbClr val="161616"/>
                </a:solidFill>
                <a:latin typeface="Cambria"/>
                <a:cs typeface="Cambria"/>
              </a:rPr>
              <a:t>5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79928" y="8611305"/>
            <a:ext cx="69151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25">
                <a:latin typeface="Cambria"/>
                <a:cs typeface="Cambria"/>
              </a:rPr>
              <a:t>Year</a:t>
            </a:r>
            <a:r>
              <a:rPr dirty="0" sz="1950" spc="-20">
                <a:latin typeface="Cambria"/>
                <a:cs typeface="Cambria"/>
              </a:rPr>
              <a:t> </a:t>
            </a:r>
            <a:r>
              <a:rPr dirty="0" sz="1950" spc="-50">
                <a:solidFill>
                  <a:srgbClr val="1C1C1C"/>
                </a:solidFill>
                <a:latin typeface="Cambria"/>
                <a:cs typeface="Cambria"/>
              </a:rPr>
              <a:t>5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642719" y="5643033"/>
            <a:ext cx="4737735" cy="881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390"/>
              </a:lnSpc>
              <a:spcBef>
                <a:spcPts val="114"/>
              </a:spcBef>
            </a:pPr>
            <a:r>
              <a:rPr dirty="0" sz="2900" spc="-125">
                <a:solidFill>
                  <a:srgbClr val="070707"/>
                </a:solidFill>
                <a:latin typeface="Arial"/>
                <a:cs typeface="Arial"/>
              </a:rPr>
              <a:t>Potential</a:t>
            </a:r>
            <a:r>
              <a:rPr dirty="0" sz="2900" spc="-35">
                <a:solidFill>
                  <a:srgbClr val="070707"/>
                </a:solidFill>
                <a:latin typeface="Arial"/>
                <a:cs typeface="Arial"/>
              </a:rPr>
              <a:t> </a:t>
            </a:r>
            <a:r>
              <a:rPr dirty="0" sz="2900" spc="-170">
                <a:latin typeface="Arial"/>
                <a:cs typeface="Arial"/>
              </a:rPr>
              <a:t>savings</a:t>
            </a:r>
            <a:r>
              <a:rPr dirty="0" sz="2900" spc="-30">
                <a:latin typeface="Arial"/>
                <a:cs typeface="Arial"/>
              </a:rPr>
              <a:t> </a:t>
            </a:r>
            <a:r>
              <a:rPr dirty="0" sz="2900" spc="-105">
                <a:solidFill>
                  <a:srgbClr val="0E0E0E"/>
                </a:solidFill>
                <a:latin typeface="Arial"/>
                <a:cs typeface="Arial"/>
              </a:rPr>
              <a:t>by</a:t>
            </a:r>
            <a:r>
              <a:rPr dirty="0" sz="2900" spc="-55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2900" spc="-120">
                <a:latin typeface="Arial"/>
                <a:cs typeface="Arial"/>
              </a:rPr>
              <a:t>automating</a:t>
            </a:r>
            <a:endParaRPr sz="2900">
              <a:latin typeface="Arial"/>
              <a:cs typeface="Arial"/>
            </a:endParaRPr>
          </a:p>
          <a:p>
            <a:pPr marL="21590">
              <a:lnSpc>
                <a:spcPts val="3329"/>
              </a:lnSpc>
            </a:pPr>
            <a:r>
              <a:rPr dirty="0" sz="2850" spc="-9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dirty="0" sz="2850" spc="-11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850" spc="-85">
                <a:latin typeface="Arial"/>
                <a:cs typeface="Arial"/>
              </a:rPr>
              <a:t>end-</a:t>
            </a:r>
            <a:r>
              <a:rPr dirty="0" sz="2850" spc="-70">
                <a:latin typeface="Arial"/>
                <a:cs typeface="Arial"/>
              </a:rPr>
              <a:t>to-</a:t>
            </a:r>
            <a:r>
              <a:rPr dirty="0" sz="2850">
                <a:latin typeface="Arial"/>
                <a:cs typeface="Arial"/>
              </a:rPr>
              <a:t>end</a:t>
            </a:r>
            <a:r>
              <a:rPr dirty="0" sz="2850" spc="50">
                <a:latin typeface="Arial"/>
                <a:cs typeface="Arial"/>
              </a:rPr>
              <a:t> </a:t>
            </a:r>
            <a:r>
              <a:rPr dirty="0" sz="2850" spc="-110">
                <a:latin typeface="Arial"/>
                <a:cs typeface="Arial"/>
              </a:rPr>
              <a:t>review</a:t>
            </a:r>
            <a:r>
              <a:rPr dirty="0" sz="2850" spc="-75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process</a:t>
            </a:r>
            <a:endParaRPr sz="2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662106" y="6483702"/>
            <a:ext cx="150939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150">
                <a:latin typeface="Arial"/>
                <a:cs typeface="Arial"/>
              </a:rPr>
              <a:t>(CoorplD).</a:t>
            </a:r>
            <a:endParaRPr sz="2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114217" y="9413522"/>
            <a:ext cx="12217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Cambria"/>
                <a:cs typeface="Cambria"/>
              </a:rPr>
              <a:t>W</a:t>
            </a:r>
            <a:r>
              <a:rPr dirty="0" sz="1500" spc="105">
                <a:latin typeface="Cambria"/>
                <a:cs typeface="Cambria"/>
              </a:rPr>
              <a:t> </a:t>
            </a:r>
            <a:r>
              <a:rPr dirty="0" sz="1500" spc="-75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2578100"/>
            <a:ext cx="2400300" cy="2870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6900" y="3568700"/>
            <a:ext cx="889000" cy="914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56500" y="2832100"/>
            <a:ext cx="2362200" cy="2336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61700" y="4127500"/>
            <a:ext cx="889000" cy="177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61700" y="3759200"/>
            <a:ext cx="889000" cy="1651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01600" y="2870200"/>
            <a:ext cx="2654300" cy="2298700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450" spc="-315">
                <a:solidFill>
                  <a:srgbClr val="012A36"/>
                </a:solidFill>
                <a:latin typeface="Arial"/>
                <a:cs typeface="Arial"/>
              </a:rPr>
              <a:t>Defining</a:t>
            </a:r>
            <a:r>
              <a:rPr dirty="0" sz="8450" spc="-525">
                <a:solidFill>
                  <a:srgbClr val="012A36"/>
                </a:solidFill>
                <a:latin typeface="Arial"/>
                <a:cs typeface="Arial"/>
              </a:rPr>
              <a:t> </a:t>
            </a:r>
            <a:r>
              <a:rPr dirty="0" sz="8450" spc="-370">
                <a:solidFill>
                  <a:srgbClr val="032633"/>
                </a:solidFill>
                <a:latin typeface="Arial"/>
                <a:cs typeface="Arial"/>
              </a:rPr>
              <a:t>Perpetual</a:t>
            </a:r>
            <a:r>
              <a:rPr dirty="0" sz="8450" spc="-180">
                <a:solidFill>
                  <a:srgbClr val="032633"/>
                </a:solidFill>
                <a:latin typeface="Arial"/>
                <a:cs typeface="Arial"/>
              </a:rPr>
              <a:t> </a:t>
            </a:r>
            <a:r>
              <a:rPr dirty="0" sz="8450" spc="204">
                <a:solidFill>
                  <a:srgbClr val="00242D"/>
                </a:solidFill>
                <a:latin typeface="Arial"/>
                <a:cs typeface="Arial"/>
              </a:rPr>
              <a:t>WC</a:t>
            </a:r>
            <a:r>
              <a:rPr dirty="0" sz="8450" spc="-880">
                <a:solidFill>
                  <a:srgbClr val="00242D"/>
                </a:solidFill>
                <a:latin typeface="Arial"/>
                <a:cs typeface="Arial"/>
              </a:rPr>
              <a:t> </a:t>
            </a:r>
            <a:r>
              <a:rPr dirty="0" sz="8450" spc="-35">
                <a:solidFill>
                  <a:srgbClr val="03262F"/>
                </a:solidFill>
                <a:latin typeface="Arial"/>
                <a:cs typeface="Arial"/>
              </a:rPr>
              <a:t>(pWC).</a:t>
            </a:r>
            <a:endParaRPr sz="8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9979" y="5616575"/>
            <a:ext cx="233489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110">
                <a:latin typeface="Arial"/>
                <a:cs typeface="Arial"/>
              </a:rPr>
              <a:t>Digital</a:t>
            </a:r>
            <a:r>
              <a:rPr dirty="0" sz="3100" spc="-100">
                <a:latin typeface="Arial"/>
                <a:cs typeface="Arial"/>
              </a:rPr>
              <a:t> </a:t>
            </a:r>
            <a:r>
              <a:rPr dirty="0" sz="3100" spc="-95">
                <a:latin typeface="Arial"/>
                <a:cs typeface="Arial"/>
              </a:rPr>
              <a:t>Profiles</a:t>
            </a:r>
            <a:endParaRPr sz="3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2088" y="5598936"/>
            <a:ext cx="3621404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-40">
                <a:latin typeface="Calibri"/>
                <a:cs typeface="Calibri"/>
              </a:rPr>
              <a:t>External</a:t>
            </a:r>
            <a:r>
              <a:rPr dirty="0" sz="3250" spc="-120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Data</a:t>
            </a:r>
            <a:r>
              <a:rPr dirty="0" sz="3250" spc="-175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Sources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44996" y="5616575"/>
            <a:ext cx="2628900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160">
                <a:latin typeface="Arial"/>
                <a:cs typeface="Arial"/>
              </a:rPr>
              <a:t>Real-</a:t>
            </a:r>
            <a:r>
              <a:rPr dirty="0" sz="3100" spc="-60">
                <a:latin typeface="Arial"/>
                <a:cs typeface="Arial"/>
              </a:rPr>
              <a:t>time</a:t>
            </a:r>
            <a:r>
              <a:rPr dirty="0" sz="3100" spc="-75">
                <a:latin typeface="Arial"/>
                <a:cs typeface="Arial"/>
              </a:rPr>
              <a:t> Alerts</a:t>
            </a:r>
            <a:endParaRPr sz="3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9996" y="6734175"/>
            <a:ext cx="16045180" cy="202057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5539105" marR="2455545" indent="-2825115">
              <a:lnSpc>
                <a:spcPts val="3400"/>
              </a:lnSpc>
              <a:spcBef>
                <a:spcPts val="505"/>
              </a:spcBef>
            </a:pPr>
            <a:r>
              <a:rPr dirty="0" sz="3100" spc="-130">
                <a:solidFill>
                  <a:srgbClr val="070707"/>
                </a:solidFill>
                <a:latin typeface="Arial"/>
                <a:cs typeface="Arial"/>
              </a:rPr>
              <a:t>Continuous</a:t>
            </a:r>
            <a:r>
              <a:rPr dirty="0" sz="3100" spc="-65">
                <a:solidFill>
                  <a:srgbClr val="070707"/>
                </a:solidFill>
                <a:latin typeface="Arial"/>
                <a:cs typeface="Arial"/>
              </a:rPr>
              <a:t> </a:t>
            </a:r>
            <a:r>
              <a:rPr dirty="0" sz="3100" spc="-25">
                <a:solidFill>
                  <a:srgbClr val="181818"/>
                </a:solidFill>
                <a:latin typeface="Arial"/>
                <a:cs typeface="Arial"/>
              </a:rPr>
              <a:t>monitoring</a:t>
            </a:r>
            <a:r>
              <a:rPr dirty="0" sz="3100" spc="-14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100">
                <a:solidFill>
                  <a:srgbClr val="161616"/>
                </a:solidFill>
                <a:latin typeface="Arial"/>
                <a:cs typeface="Arial"/>
              </a:rPr>
              <a:t>of</a:t>
            </a:r>
            <a:r>
              <a:rPr dirty="0" sz="3100" spc="-21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3100" spc="-20">
                <a:solidFill>
                  <a:srgbClr val="151515"/>
                </a:solidFill>
                <a:latin typeface="Arial"/>
                <a:cs typeface="Arial"/>
              </a:rPr>
              <a:t>customer</a:t>
            </a:r>
            <a:r>
              <a:rPr dirty="0" sz="3100" spc="-3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3100" spc="-90">
                <a:latin typeface="Arial"/>
                <a:cs typeface="Arial"/>
              </a:rPr>
              <a:t>profiles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solidFill>
                  <a:srgbClr val="0F0F0F"/>
                </a:solidFill>
                <a:latin typeface="Arial"/>
                <a:cs typeface="Arial"/>
              </a:rPr>
              <a:t>to</a:t>
            </a:r>
            <a:r>
              <a:rPr dirty="0" sz="3100" spc="-21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100" spc="-105">
                <a:latin typeface="Arial"/>
                <a:cs typeface="Arial"/>
              </a:rPr>
              <a:t>validate</a:t>
            </a:r>
            <a:r>
              <a:rPr dirty="0" sz="3100" spc="-40">
                <a:latin typeface="Arial"/>
                <a:cs typeface="Arial"/>
              </a:rPr>
              <a:t> </a:t>
            </a:r>
            <a:r>
              <a:rPr dirty="0" sz="3100" spc="-60">
                <a:latin typeface="Arial"/>
                <a:cs typeface="Arial"/>
              </a:rPr>
              <a:t>information </a:t>
            </a:r>
            <a:r>
              <a:rPr dirty="0" sz="3100" spc="-150">
                <a:latin typeface="Arial"/>
                <a:cs typeface="Arial"/>
              </a:rPr>
              <a:t>and</a:t>
            </a:r>
            <a:r>
              <a:rPr dirty="0" sz="3100" spc="-155">
                <a:latin typeface="Arial"/>
                <a:cs typeface="Arial"/>
              </a:rPr>
              <a:t> </a:t>
            </a:r>
            <a:r>
              <a:rPr dirty="0" sz="3100" spc="-30">
                <a:solidFill>
                  <a:srgbClr val="080808"/>
                </a:solidFill>
                <a:latin typeface="Arial"/>
                <a:cs typeface="Arial"/>
              </a:rPr>
              <a:t>identify</a:t>
            </a:r>
            <a:r>
              <a:rPr dirty="0" sz="3100" spc="-8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100" spc="-145">
                <a:latin typeface="Arial"/>
                <a:cs typeface="Arial"/>
              </a:rPr>
              <a:t>changes</a:t>
            </a:r>
            <a:r>
              <a:rPr dirty="0" sz="3100" spc="-75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immediately.</a:t>
            </a:r>
            <a:endParaRPr sz="3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3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131313"/>
                </a:solidFill>
                <a:latin typeface="Arial"/>
                <a:cs typeface="Arial"/>
              </a:rPr>
              <a:t>Eñiciency</a:t>
            </a:r>
            <a:r>
              <a:rPr dirty="0" sz="2900" spc="-20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900" spc="-90">
                <a:latin typeface="Arial"/>
                <a:cs typeface="Arial"/>
              </a:rPr>
              <a:t>Gain:</a:t>
            </a:r>
            <a:r>
              <a:rPr dirty="0" sz="2900" spc="-114">
                <a:latin typeface="Arial"/>
                <a:cs typeface="Arial"/>
              </a:rPr>
              <a:t> </a:t>
            </a:r>
            <a:r>
              <a:rPr dirty="0" sz="2900" spc="-50">
                <a:latin typeface="Arial"/>
                <a:cs typeface="Arial"/>
              </a:rPr>
              <a:t>Moving</a:t>
            </a:r>
            <a:r>
              <a:rPr dirty="0" sz="2900" spc="-105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from</a:t>
            </a:r>
            <a:r>
              <a:rPr dirty="0" sz="2900" spc="-175">
                <a:latin typeface="Arial"/>
                <a:cs typeface="Arial"/>
              </a:rPr>
              <a:t> </a:t>
            </a:r>
            <a:r>
              <a:rPr dirty="0" sz="2900" spc="-100">
                <a:latin typeface="Arial"/>
                <a:cs typeface="Arial"/>
              </a:rPr>
              <a:t>’Reviewing Everyone’</a:t>
            </a:r>
            <a:r>
              <a:rPr dirty="0" sz="2900" spc="1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to</a:t>
            </a:r>
            <a:r>
              <a:rPr dirty="0" sz="2900" spc="-200">
                <a:latin typeface="Arial"/>
                <a:cs typeface="Arial"/>
              </a:rPr>
              <a:t> </a:t>
            </a:r>
            <a:r>
              <a:rPr dirty="0" sz="2900" spc="-90">
                <a:latin typeface="Arial"/>
                <a:cs typeface="Arial"/>
              </a:rPr>
              <a:t>‘Reviewing</a:t>
            </a:r>
            <a:r>
              <a:rPr dirty="0" sz="2900" spc="35">
                <a:latin typeface="Arial"/>
                <a:cs typeface="Arial"/>
              </a:rPr>
              <a:t> </a:t>
            </a:r>
            <a:r>
              <a:rPr dirty="0" sz="2900" spc="-10">
                <a:solidFill>
                  <a:srgbClr val="343434"/>
                </a:solidFill>
                <a:latin typeface="Arial"/>
                <a:cs typeface="Arial"/>
              </a:rPr>
              <a:t>Exceptions‘</a:t>
            </a:r>
            <a:r>
              <a:rPr dirty="0" sz="2900" spc="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2900" spc="-60">
                <a:latin typeface="Arial"/>
                <a:cs typeface="Arial"/>
              </a:rPr>
              <a:t>(Material</a:t>
            </a:r>
            <a:r>
              <a:rPr dirty="0" sz="2900" spc="-55">
                <a:latin typeface="Arial"/>
                <a:cs typeface="Arial"/>
              </a:rPr>
              <a:t> </a:t>
            </a:r>
            <a:r>
              <a:rPr dirty="0" sz="2900" spc="-95">
                <a:latin typeface="Arial"/>
                <a:cs typeface="Arial"/>
              </a:rPr>
              <a:t>Changes</a:t>
            </a:r>
            <a:r>
              <a:rPr dirty="0" sz="2900" spc="-4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only).</a:t>
            </a:r>
            <a:endParaRPr sz="2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97759" y="9241366"/>
            <a:ext cx="1644014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>
                <a:solidFill>
                  <a:srgbClr val="080808"/>
                </a:solidFill>
                <a:latin typeface="Arial"/>
                <a:cs typeface="Arial"/>
              </a:rPr>
              <a:t>@</a:t>
            </a:r>
            <a:r>
              <a:rPr dirty="0" sz="2050" spc="29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050" spc="-100">
                <a:latin typeface="Arial"/>
                <a:cs typeface="Arial"/>
              </a:rPr>
              <a:t>Encompass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"/>
                <a:cs typeface="Arial"/>
              </a:rPr>
              <a:t>G</a:t>
            </a:r>
            <a:r>
              <a:rPr dirty="0" sz="1500" spc="275">
                <a:latin typeface="Arial"/>
                <a:cs typeface="Arial"/>
              </a:rPr>
              <a:t> </a:t>
            </a:r>
            <a:r>
              <a:rPr dirty="0" sz="1500" spc="-90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97516" y="620183"/>
            <a:ext cx="4102735" cy="123190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900" spc="60">
                <a:solidFill>
                  <a:srgbClr val="03212D"/>
                </a:solidFill>
              </a:rPr>
              <a:t>Six</a:t>
            </a:r>
            <a:r>
              <a:rPr dirty="0" sz="7900" spc="-420">
                <a:solidFill>
                  <a:srgbClr val="03212D"/>
                </a:solidFill>
              </a:rPr>
              <a:t> </a:t>
            </a:r>
            <a:r>
              <a:rPr dirty="0" sz="7900" spc="-125">
                <a:solidFill>
                  <a:srgbClr val="03232D"/>
                </a:solidFill>
              </a:rPr>
              <a:t>Pillars</a:t>
            </a:r>
            <a:endParaRPr sz="7900"/>
          </a:p>
        </p:txBody>
      </p:sp>
      <p:sp>
        <p:nvSpPr>
          <p:cNvPr id="3" name="object 3"/>
          <p:cNvSpPr txBox="1"/>
          <p:nvPr/>
        </p:nvSpPr>
        <p:spPr>
          <a:xfrm>
            <a:off x="6879216" y="620183"/>
            <a:ext cx="9253220" cy="1231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900" spc="-100">
                <a:solidFill>
                  <a:srgbClr val="032A36"/>
                </a:solidFill>
                <a:latin typeface="Cambria"/>
                <a:cs typeface="Cambria"/>
              </a:rPr>
              <a:t>Strong</a:t>
            </a:r>
            <a:r>
              <a:rPr dirty="0" sz="7900" spc="-305">
                <a:solidFill>
                  <a:srgbClr val="032A36"/>
                </a:solidFill>
                <a:latin typeface="Cambria"/>
                <a:cs typeface="Cambria"/>
              </a:rPr>
              <a:t> </a:t>
            </a:r>
            <a:r>
              <a:rPr dirty="0" sz="7900" spc="-145">
                <a:solidFill>
                  <a:srgbClr val="08313F"/>
                </a:solidFill>
                <a:latin typeface="Cambria"/>
                <a:cs typeface="Cambria"/>
              </a:rPr>
              <a:t>pKYC</a:t>
            </a:r>
            <a:r>
              <a:rPr dirty="0" sz="7900" spc="-420">
                <a:solidFill>
                  <a:srgbClr val="08313F"/>
                </a:solidFill>
                <a:latin typeface="Cambria"/>
                <a:cs typeface="Cambria"/>
              </a:rPr>
              <a:t> </a:t>
            </a:r>
            <a:r>
              <a:rPr dirty="0" sz="7900" spc="-95">
                <a:solidFill>
                  <a:srgbClr val="032834"/>
                </a:solidFill>
                <a:latin typeface="Cambria"/>
                <a:cs typeface="Cambria"/>
              </a:rPr>
              <a:t>Program.</a:t>
            </a:r>
            <a:endParaRPr sz="79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4314" y="4258733"/>
            <a:ext cx="3286125" cy="140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5875">
              <a:lnSpc>
                <a:spcPct val="100000"/>
              </a:lnSpc>
              <a:spcBef>
                <a:spcPts val="114"/>
              </a:spcBef>
            </a:pPr>
            <a:r>
              <a:rPr dirty="0" sz="2900" spc="-10">
                <a:solidFill>
                  <a:srgbClr val="0F0F0F"/>
                </a:solidFill>
                <a:latin typeface="Arial"/>
                <a:cs typeface="Arial"/>
              </a:rPr>
              <a:t>Explainability</a:t>
            </a:r>
            <a:endParaRPr sz="2900">
              <a:latin typeface="Arial"/>
              <a:cs typeface="Arial"/>
            </a:endParaRPr>
          </a:p>
          <a:p>
            <a:pPr algn="ctr" marL="30480">
              <a:lnSpc>
                <a:spcPts val="2520"/>
              </a:lnSpc>
              <a:spcBef>
                <a:spcPts val="20"/>
              </a:spcBef>
            </a:pPr>
            <a:r>
              <a:rPr dirty="0" sz="2200" spc="-135">
                <a:latin typeface="Arial"/>
                <a:cs typeface="Arial"/>
              </a:rPr>
              <a:t>No</a:t>
            </a:r>
            <a:r>
              <a:rPr dirty="0" sz="2200" spc="-105">
                <a:latin typeface="Arial"/>
                <a:cs typeface="Arial"/>
              </a:rPr>
              <a:t> </a:t>
            </a:r>
            <a:r>
              <a:rPr dirty="0" sz="2200" spc="-35">
                <a:latin typeface="Arial"/>
                <a:cs typeface="Arial"/>
              </a:rPr>
              <a:t>”black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 spc="-55">
                <a:latin typeface="Arial"/>
                <a:cs typeface="Arial"/>
              </a:rPr>
              <a:t>box"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Al.</a:t>
            </a:r>
            <a:endParaRPr sz="2200">
              <a:latin typeface="Arial"/>
              <a:cs typeface="Arial"/>
            </a:endParaRPr>
          </a:p>
          <a:p>
            <a:pPr algn="ctr" marL="12700" marR="5080">
              <a:lnSpc>
                <a:spcPts val="2300"/>
              </a:lnSpc>
              <a:spcBef>
                <a:spcPts val="240"/>
              </a:spcBef>
            </a:pPr>
            <a:r>
              <a:rPr dirty="0" sz="2200" spc="-105">
                <a:latin typeface="Arial"/>
                <a:cs typeface="Arial"/>
              </a:rPr>
              <a:t>Regulators</a:t>
            </a:r>
            <a:r>
              <a:rPr dirty="0" sz="2200" spc="-20">
                <a:latin typeface="Arial"/>
                <a:cs typeface="Arial"/>
              </a:rPr>
              <a:t> </a:t>
            </a:r>
            <a:r>
              <a:rPr dirty="0" sz="2200" spc="-95">
                <a:latin typeface="Arial"/>
                <a:cs typeface="Arial"/>
              </a:rPr>
              <a:t>must</a:t>
            </a:r>
            <a:r>
              <a:rPr dirty="0" sz="2200" spc="-5">
                <a:latin typeface="Arial"/>
                <a:cs typeface="Arial"/>
              </a:rPr>
              <a:t> </a:t>
            </a:r>
            <a:r>
              <a:rPr dirty="0" sz="2200" spc="-65">
                <a:latin typeface="Arial"/>
                <a:cs typeface="Arial"/>
              </a:rPr>
              <a:t>understand </a:t>
            </a:r>
            <a:r>
              <a:rPr dirty="0" sz="2200" spc="-50">
                <a:latin typeface="Arial"/>
                <a:cs typeface="Arial"/>
              </a:rPr>
              <a:t>the</a:t>
            </a:r>
            <a:r>
              <a:rPr dirty="0" sz="2200" spc="-10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algorithm.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9985" y="4252383"/>
            <a:ext cx="3197225" cy="14116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R="30480">
              <a:lnSpc>
                <a:spcPct val="100000"/>
              </a:lnSpc>
              <a:spcBef>
                <a:spcPts val="114"/>
              </a:spcBef>
            </a:pPr>
            <a:r>
              <a:rPr dirty="0" sz="2900" spc="-120">
                <a:solidFill>
                  <a:srgbClr val="081F24"/>
                </a:solidFill>
                <a:latin typeface="Arial"/>
                <a:cs typeface="Arial"/>
              </a:rPr>
              <a:t>Human</a:t>
            </a:r>
            <a:r>
              <a:rPr dirty="0" sz="2900" spc="-75">
                <a:solidFill>
                  <a:srgbClr val="081F24"/>
                </a:solidFill>
                <a:latin typeface="Arial"/>
                <a:cs typeface="Arial"/>
              </a:rPr>
              <a:t> </a:t>
            </a:r>
            <a:r>
              <a:rPr dirty="0" sz="2900" spc="-10">
                <a:solidFill>
                  <a:srgbClr val="111111"/>
                </a:solidFill>
                <a:latin typeface="Arial"/>
                <a:cs typeface="Arial"/>
              </a:rPr>
              <a:t>Judgment</a:t>
            </a:r>
            <a:endParaRPr sz="2900">
              <a:latin typeface="Arial"/>
              <a:cs typeface="Arial"/>
            </a:endParaRPr>
          </a:p>
          <a:p>
            <a:pPr algn="ctr" marL="12700" marR="5080">
              <a:lnSpc>
                <a:spcPct val="89000"/>
              </a:lnSpc>
              <a:spcBef>
                <a:spcPts val="360"/>
              </a:spcBef>
            </a:pPr>
            <a:r>
              <a:rPr dirty="0" sz="2200" spc="-145">
                <a:latin typeface="Arial"/>
                <a:cs typeface="Arial"/>
              </a:rPr>
              <a:t>Tech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85">
                <a:latin typeface="Arial"/>
                <a:cs typeface="Arial"/>
              </a:rPr>
              <a:t>reduces</a:t>
            </a:r>
            <a:r>
              <a:rPr dirty="0" sz="2200" spc="5">
                <a:latin typeface="Arial"/>
                <a:cs typeface="Arial"/>
              </a:rPr>
              <a:t> </a:t>
            </a:r>
            <a:r>
              <a:rPr dirty="0" sz="2200" spc="-125">
                <a:latin typeface="Arial"/>
                <a:cs typeface="Arial"/>
              </a:rPr>
              <a:t>manual</a:t>
            </a:r>
            <a:r>
              <a:rPr dirty="0" sz="2200" spc="-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effort </a:t>
            </a:r>
            <a:r>
              <a:rPr dirty="0" sz="2200">
                <a:latin typeface="Arial"/>
                <a:cs typeface="Arial"/>
              </a:rPr>
              <a:t>but</a:t>
            </a:r>
            <a:r>
              <a:rPr dirty="0" sz="2200" spc="-130">
                <a:latin typeface="Arial"/>
                <a:cs typeface="Arial"/>
              </a:rPr>
              <a:t> </a:t>
            </a:r>
            <a:r>
              <a:rPr dirty="0" sz="2200" spc="-85">
                <a:latin typeface="Arial"/>
                <a:cs typeface="Arial"/>
              </a:rPr>
              <a:t>does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 spc="-35">
                <a:latin typeface="Arial"/>
                <a:cs typeface="Arial"/>
              </a:rPr>
              <a:t>not</a:t>
            </a:r>
            <a:r>
              <a:rPr dirty="0" sz="2200" spc="-10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replace oversight.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25826" y="7273572"/>
            <a:ext cx="2855595" cy="109537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ctr" marL="12700" marR="5080" indent="635">
              <a:lnSpc>
                <a:spcPct val="96500"/>
              </a:lnSpc>
              <a:spcBef>
                <a:spcPts val="240"/>
              </a:spcBef>
            </a:pPr>
            <a:r>
              <a:rPr dirty="0" sz="2750" spc="-20">
                <a:solidFill>
                  <a:srgbClr val="031A23"/>
                </a:solidFill>
                <a:latin typeface="Arial"/>
                <a:cs typeface="Arial"/>
              </a:rPr>
              <a:t>Data</a:t>
            </a:r>
            <a:r>
              <a:rPr dirty="0" sz="2750" spc="-145">
                <a:solidFill>
                  <a:srgbClr val="031A23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131313"/>
                </a:solidFill>
                <a:latin typeface="Arial"/>
                <a:cs typeface="Arial"/>
              </a:rPr>
              <a:t>Governance </a:t>
            </a:r>
            <a:r>
              <a:rPr dirty="0" sz="2200" spc="-105">
                <a:latin typeface="Arial"/>
                <a:cs typeface="Arial"/>
              </a:rPr>
              <a:t>Lineage</a:t>
            </a:r>
            <a:r>
              <a:rPr dirty="0" sz="2200" spc="-20">
                <a:latin typeface="Arial"/>
                <a:cs typeface="Arial"/>
              </a:rPr>
              <a:t> </a:t>
            </a:r>
            <a:r>
              <a:rPr dirty="0" sz="2200" spc="-95">
                <a:latin typeface="Arial"/>
                <a:cs typeface="Arial"/>
              </a:rPr>
              <a:t>and</a:t>
            </a:r>
            <a:r>
              <a:rPr dirty="0" sz="2200" spc="-114">
                <a:latin typeface="Arial"/>
                <a:cs typeface="Arial"/>
              </a:rPr>
              <a:t> </a:t>
            </a:r>
            <a:r>
              <a:rPr dirty="0" sz="2200" spc="-95">
                <a:latin typeface="Arial"/>
                <a:cs typeface="Arial"/>
              </a:rPr>
              <a:t>provenance </a:t>
            </a:r>
            <a:r>
              <a:rPr dirty="0" sz="2200" spc="-100">
                <a:latin typeface="Arial"/>
                <a:cs typeface="Arial"/>
              </a:rPr>
              <a:t>are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critical.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0098" y="4157133"/>
            <a:ext cx="2256155" cy="147002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algn="ctr" marL="82550" marR="95885" indent="10795">
              <a:lnSpc>
                <a:spcPct val="79000"/>
              </a:lnSpc>
              <a:spcBef>
                <a:spcPts val="844"/>
              </a:spcBef>
            </a:pPr>
            <a:r>
              <a:rPr dirty="0" sz="2900" spc="-120">
                <a:solidFill>
                  <a:srgbClr val="01161A"/>
                </a:solidFill>
                <a:latin typeface="Arial"/>
                <a:cs typeface="Arial"/>
              </a:rPr>
              <a:t>Residual</a:t>
            </a:r>
            <a:r>
              <a:rPr dirty="0" sz="2900" spc="-125">
                <a:solidFill>
                  <a:srgbClr val="01161A"/>
                </a:solidFill>
                <a:latin typeface="Arial"/>
                <a:cs typeface="Arial"/>
              </a:rPr>
              <a:t> </a:t>
            </a:r>
            <a:r>
              <a:rPr dirty="0" sz="2900" spc="-130">
                <a:solidFill>
                  <a:srgbClr val="131313"/>
                </a:solidFill>
                <a:latin typeface="Arial"/>
                <a:cs typeface="Arial"/>
              </a:rPr>
              <a:t>Risk </a:t>
            </a:r>
            <a:r>
              <a:rPr dirty="0" sz="2900" spc="-75">
                <a:solidFill>
                  <a:srgbClr val="111111"/>
                </a:solidFill>
                <a:latin typeface="Arial"/>
                <a:cs typeface="Arial"/>
              </a:rPr>
              <a:t>Management</a:t>
            </a:r>
            <a:endParaRPr sz="2900">
              <a:latin typeface="Arial"/>
              <a:cs typeface="Arial"/>
            </a:endParaRPr>
          </a:p>
          <a:p>
            <a:pPr algn="ctr" marL="12700" marR="5080">
              <a:lnSpc>
                <a:spcPts val="2400"/>
              </a:lnSpc>
              <a:spcBef>
                <a:spcPts val="350"/>
              </a:spcBef>
            </a:pPr>
            <a:r>
              <a:rPr dirty="0" sz="2300" spc="-100">
                <a:latin typeface="Arial"/>
                <a:cs typeface="Arial"/>
              </a:rPr>
              <a:t>Mitigating</a:t>
            </a:r>
            <a:r>
              <a:rPr dirty="0" sz="2300" spc="50">
                <a:latin typeface="Arial"/>
                <a:cs typeface="Arial"/>
              </a:rPr>
              <a:t> </a:t>
            </a:r>
            <a:r>
              <a:rPr dirty="0" sz="2300" spc="-165">
                <a:latin typeface="Arial"/>
                <a:cs typeface="Arial"/>
              </a:rPr>
              <a:t>bad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95">
                <a:latin typeface="Arial"/>
                <a:cs typeface="Arial"/>
              </a:rPr>
              <a:t>data </a:t>
            </a:r>
            <a:r>
              <a:rPr dirty="0" sz="2300" spc="-10">
                <a:latin typeface="Arial"/>
                <a:cs typeface="Arial"/>
              </a:rPr>
              <a:t>ingestion.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69584" y="7103533"/>
            <a:ext cx="2816225" cy="146875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ctr" marL="12700" marR="5080" indent="2540">
              <a:lnSpc>
                <a:spcPct val="88900"/>
              </a:lnSpc>
              <a:spcBef>
                <a:spcPts val="500"/>
              </a:spcBef>
            </a:pPr>
            <a:r>
              <a:rPr dirty="0" sz="2900" spc="-75">
                <a:solidFill>
                  <a:srgbClr val="161616"/>
                </a:solidFill>
                <a:latin typeface="Arial"/>
                <a:cs typeface="Arial"/>
              </a:rPr>
              <a:t>Model</a:t>
            </a:r>
            <a:r>
              <a:rPr dirty="0" sz="2900" spc="-21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900" spc="-20">
                <a:solidFill>
                  <a:srgbClr val="131313"/>
                </a:solidFill>
                <a:latin typeface="Arial"/>
                <a:cs typeface="Arial"/>
              </a:rPr>
              <a:t>Risk </a:t>
            </a:r>
            <a:r>
              <a:rPr dirty="0" sz="2900" spc="-10">
                <a:solidFill>
                  <a:srgbClr val="111111"/>
                </a:solidFill>
                <a:latin typeface="Arial"/>
                <a:cs typeface="Arial"/>
              </a:rPr>
              <a:t>Management </a:t>
            </a:r>
            <a:r>
              <a:rPr dirty="0" sz="2350" spc="-170">
                <a:latin typeface="Arial"/>
                <a:cs typeface="Arial"/>
              </a:rPr>
              <a:t>Validation</a:t>
            </a:r>
            <a:r>
              <a:rPr dirty="0" sz="2350" spc="65">
                <a:latin typeface="Arial"/>
                <a:cs typeface="Arial"/>
              </a:rPr>
              <a:t> </a:t>
            </a:r>
            <a:r>
              <a:rPr dirty="0" sz="2350" spc="-195">
                <a:latin typeface="Arial"/>
                <a:cs typeface="Arial"/>
              </a:rPr>
              <a:t>ano</a:t>
            </a:r>
            <a:r>
              <a:rPr dirty="0" sz="2350" spc="-55">
                <a:latin typeface="Arial"/>
                <a:cs typeface="Arial"/>
              </a:rPr>
              <a:t> </a:t>
            </a:r>
            <a:r>
              <a:rPr dirty="0" sz="2350" spc="-105">
                <a:latin typeface="Arial"/>
                <a:cs typeface="Arial"/>
              </a:rPr>
              <a:t>"effective</a:t>
            </a:r>
            <a:endParaRPr sz="2350">
              <a:latin typeface="Arial"/>
              <a:cs typeface="Arial"/>
            </a:endParaRPr>
          </a:p>
          <a:p>
            <a:pPr algn="ctr" marL="7620">
              <a:lnSpc>
                <a:spcPts val="2270"/>
              </a:lnSpc>
            </a:pPr>
            <a:r>
              <a:rPr dirty="0" sz="2200" spc="-75">
                <a:latin typeface="Arial"/>
                <a:cs typeface="Arial"/>
              </a:rPr>
              <a:t>challenge”</a:t>
            </a:r>
            <a:r>
              <a:rPr dirty="0" sz="2200" spc="-2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of</a:t>
            </a:r>
            <a:r>
              <a:rPr dirty="0" sz="2200" spc="-114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models.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81419" y="7159272"/>
            <a:ext cx="3347085" cy="140017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 indent="1062355">
              <a:lnSpc>
                <a:spcPct val="96500"/>
              </a:lnSpc>
              <a:spcBef>
                <a:spcPts val="240"/>
              </a:spcBef>
            </a:pPr>
            <a:r>
              <a:rPr dirty="0" sz="2750" spc="75">
                <a:solidFill>
                  <a:srgbClr val="151515"/>
                </a:solidFill>
                <a:latin typeface="Arial"/>
                <a:cs typeface="Arial"/>
              </a:rPr>
              <a:t>Metrics </a:t>
            </a:r>
            <a:r>
              <a:rPr dirty="0" sz="2200" spc="-85">
                <a:latin typeface="Arial"/>
                <a:cs typeface="Arial"/>
              </a:rPr>
              <a:t>Demonstrating</a:t>
            </a:r>
            <a:r>
              <a:rPr dirty="0" sz="2200" spc="85">
                <a:latin typeface="Arial"/>
                <a:cs typeface="Arial"/>
              </a:rPr>
              <a:t> </a:t>
            </a:r>
            <a:r>
              <a:rPr dirty="0" sz="2200" spc="-60">
                <a:latin typeface="Arial"/>
                <a:cs typeface="Arial"/>
              </a:rPr>
              <a:t>effectiveness </a:t>
            </a:r>
            <a:r>
              <a:rPr dirty="0" sz="2200" spc="-105">
                <a:latin typeface="Arial"/>
                <a:cs typeface="Arial"/>
              </a:rPr>
              <a:t>(e.g.,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35">
                <a:latin typeface="Arial"/>
                <a:cs typeface="Arial"/>
              </a:rPr>
              <a:t>faster</a:t>
            </a:r>
            <a:r>
              <a:rPr dirty="0" sz="2200" spc="30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alerts-to-</a:t>
            </a:r>
            <a:r>
              <a:rPr dirty="0" sz="2200" spc="-20">
                <a:latin typeface="Arial"/>
                <a:cs typeface="Arial"/>
              </a:rPr>
              <a:t>SARs</a:t>
            </a:r>
            <a:endParaRPr sz="2200">
              <a:latin typeface="Arial"/>
              <a:cs typeface="Arial"/>
            </a:endParaRPr>
          </a:p>
          <a:p>
            <a:pPr marL="1349375">
              <a:lnSpc>
                <a:spcPts val="2400"/>
              </a:lnSpc>
            </a:pPr>
            <a:r>
              <a:rPr dirty="0" sz="2200" spc="-10">
                <a:latin typeface="Arial"/>
                <a:cs typeface="Arial"/>
              </a:rPr>
              <a:t>ratio).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05306" y="9204325"/>
            <a:ext cx="3634104" cy="4622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2035"/>
              </a:lnSpc>
              <a:spcBef>
                <a:spcPts val="125"/>
              </a:spcBef>
            </a:pPr>
            <a:r>
              <a:rPr dirty="0" sz="1850" spc="-90">
                <a:latin typeface="Arial"/>
                <a:cs typeface="Arial"/>
              </a:rPr>
              <a:t>Source:</a:t>
            </a:r>
            <a:r>
              <a:rPr dirty="0" sz="1850" spc="-40">
                <a:latin typeface="Arial"/>
                <a:cs typeface="Arial"/>
              </a:rPr>
              <a:t> </a:t>
            </a:r>
            <a:r>
              <a:rPr dirty="0" sz="1850" spc="-65">
                <a:latin typeface="Arial"/>
                <a:cs typeface="Arial"/>
              </a:rPr>
              <a:t>Capgemini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1D1D1D"/>
                </a:solidFill>
                <a:latin typeface="Arial"/>
                <a:cs typeface="Arial"/>
              </a:rPr>
              <a:t>/</a:t>
            </a:r>
            <a:r>
              <a:rPr dirty="0" sz="1850" spc="-8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Encompass</a:t>
            </a:r>
            <a:endParaRPr sz="1850">
              <a:latin typeface="Arial"/>
              <a:cs typeface="Arial"/>
            </a:endParaRPr>
          </a:p>
          <a:p>
            <a:pPr marL="2414270">
              <a:lnSpc>
                <a:spcPts val="1375"/>
              </a:lnSpc>
            </a:pPr>
            <a:r>
              <a:rPr dirty="0" sz="1300">
                <a:latin typeface="Arial"/>
                <a:cs typeface="Arial"/>
              </a:rPr>
              <a:t>G</a:t>
            </a:r>
            <a:r>
              <a:rPr dirty="0" sz="1300" spc="49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540000"/>
            <a:ext cx="15201900" cy="51435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642600" y="920750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 h="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48000" y="7721600"/>
            <a:ext cx="215900" cy="1905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819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100"/>
              </a:spcBef>
            </a:pPr>
            <a:r>
              <a:rPr dirty="0" spc="60">
                <a:solidFill>
                  <a:srgbClr val="012838"/>
                </a:solidFill>
              </a:rPr>
              <a:t>The</a:t>
            </a:r>
            <a:r>
              <a:rPr dirty="0" spc="-120">
                <a:solidFill>
                  <a:srgbClr val="012838"/>
                </a:solidFill>
              </a:rPr>
              <a:t> </a:t>
            </a:r>
            <a:r>
              <a:rPr dirty="0" spc="-10"/>
              <a:t>Transition</a:t>
            </a:r>
            <a:r>
              <a:rPr dirty="0" spc="-50"/>
              <a:t> </a:t>
            </a:r>
            <a:r>
              <a:rPr dirty="0" spc="50"/>
              <a:t>Phase:</a:t>
            </a:r>
            <a:r>
              <a:rPr dirty="0" spc="-145"/>
              <a:t> </a:t>
            </a:r>
            <a:r>
              <a:rPr dirty="0"/>
              <a:t>Strategic</a:t>
            </a:r>
            <a:r>
              <a:rPr dirty="0" spc="114"/>
              <a:t> </a:t>
            </a:r>
            <a:r>
              <a:rPr dirty="0">
                <a:solidFill>
                  <a:srgbClr val="0F0F0F"/>
                </a:solidFill>
              </a:rPr>
              <a:t>Co-</a:t>
            </a:r>
            <a:r>
              <a:rPr dirty="0" spc="-10">
                <a:solidFill>
                  <a:srgbClr val="0F0F0F"/>
                </a:solidFill>
              </a:rPr>
              <a:t>Existence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4953" y="1984375"/>
            <a:ext cx="386651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160">
                <a:solidFill>
                  <a:srgbClr val="111111"/>
                </a:solidFill>
                <a:latin typeface="Cambria"/>
                <a:cs typeface="Cambria"/>
              </a:rPr>
              <a:t>Periodic</a:t>
            </a:r>
            <a:r>
              <a:rPr dirty="0" sz="3100" spc="-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3100" spc="-215">
                <a:solidFill>
                  <a:srgbClr val="161616"/>
                </a:solidFill>
                <a:latin typeface="Cambria"/>
                <a:cs typeface="Cambria"/>
              </a:rPr>
              <a:t>Review</a:t>
            </a:r>
            <a:r>
              <a:rPr dirty="0" sz="3100" spc="45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3100" spc="-114">
                <a:solidFill>
                  <a:srgbClr val="111111"/>
                </a:solidFill>
                <a:latin typeface="Cambria"/>
                <a:cs typeface="Cambria"/>
              </a:rPr>
              <a:t>(Legacy)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2498" y="5611283"/>
            <a:ext cx="215773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>
                <a:solidFill>
                  <a:srgbClr val="111111"/>
                </a:solidFill>
                <a:latin typeface="Cambria"/>
                <a:cs typeface="Cambria"/>
              </a:rPr>
              <a:t>pKYC</a:t>
            </a:r>
            <a:r>
              <a:rPr dirty="0" sz="2900" spc="3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2900" spc="-150">
                <a:solidFill>
                  <a:srgbClr val="0E0E0E"/>
                </a:solidFill>
                <a:latin typeface="Cambria"/>
                <a:cs typeface="Cambria"/>
              </a:rPr>
              <a:t>(Future)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4404" y="7210072"/>
            <a:ext cx="6448425" cy="1693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200"/>
              </a:lnSpc>
              <a:spcBef>
                <a:spcPts val="125"/>
              </a:spcBef>
            </a:pPr>
            <a:r>
              <a:rPr dirty="0" sz="2750" spc="45">
                <a:solidFill>
                  <a:srgbClr val="111111"/>
                </a:solidFill>
                <a:latin typeface="Arial"/>
                <a:cs typeface="Arial"/>
              </a:rPr>
              <a:t>Strategy:</a:t>
            </a:r>
            <a:endParaRPr sz="2750">
              <a:latin typeface="Arial"/>
              <a:cs typeface="Arial"/>
            </a:endParaRPr>
          </a:p>
          <a:p>
            <a:pPr marL="392430" indent="-379730">
              <a:lnSpc>
                <a:spcPts val="3320"/>
              </a:lnSpc>
              <a:buClr>
                <a:srgbClr val="0A0A0A"/>
              </a:buClr>
              <a:buAutoNum type="arabicPeriod"/>
              <a:tabLst>
                <a:tab pos="392430" algn="l"/>
              </a:tabLst>
            </a:pPr>
            <a:r>
              <a:rPr dirty="0" sz="2950" spc="-45">
                <a:solidFill>
                  <a:srgbClr val="0E0E0E"/>
                </a:solidFill>
                <a:latin typeface="Arial"/>
                <a:cs typeface="Arial"/>
              </a:rPr>
              <a:t>Start</a:t>
            </a:r>
            <a:r>
              <a:rPr dirty="0" sz="2950" spc="-165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2950" spc="-25">
                <a:solidFill>
                  <a:srgbClr val="0A0A0A"/>
                </a:solidFill>
                <a:latin typeface="Arial"/>
                <a:cs typeface="Arial"/>
              </a:rPr>
              <a:t>with</a:t>
            </a:r>
            <a:r>
              <a:rPr dirty="0" sz="2950" spc="-18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950" spc="-85">
                <a:solidFill>
                  <a:srgbClr val="050505"/>
                </a:solidFill>
                <a:latin typeface="Arial"/>
                <a:cs typeface="Arial"/>
              </a:rPr>
              <a:t>high-</a:t>
            </a:r>
            <a:r>
              <a:rPr dirty="0" sz="2950" spc="-25">
                <a:solidFill>
                  <a:srgbClr val="050505"/>
                </a:solidFill>
                <a:latin typeface="Arial"/>
                <a:cs typeface="Arial"/>
              </a:rPr>
              <a:t>quality</a:t>
            </a:r>
            <a:r>
              <a:rPr dirty="0" sz="2950" spc="-1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950" spc="-60">
                <a:solidFill>
                  <a:srgbClr val="161616"/>
                </a:solidFill>
                <a:latin typeface="Arial"/>
                <a:cs typeface="Arial"/>
              </a:rPr>
              <a:t>data</a:t>
            </a:r>
            <a:r>
              <a:rPr dirty="0" sz="2950" spc="-114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950" spc="-35">
                <a:solidFill>
                  <a:srgbClr val="0F0F0F"/>
                </a:solidFill>
                <a:latin typeface="Arial"/>
                <a:cs typeface="Arial"/>
              </a:rPr>
              <a:t>segments.</a:t>
            </a:r>
            <a:endParaRPr sz="2950">
              <a:latin typeface="Arial"/>
              <a:cs typeface="Arial"/>
            </a:endParaRPr>
          </a:p>
          <a:p>
            <a:pPr marL="390525" indent="-360680">
              <a:lnSpc>
                <a:spcPts val="3320"/>
              </a:lnSpc>
              <a:buClr>
                <a:srgbClr val="111111"/>
              </a:buClr>
              <a:buAutoNum type="arabicPeriod"/>
              <a:tabLst>
                <a:tab pos="390525" algn="l"/>
              </a:tabLst>
            </a:pPr>
            <a:r>
              <a:rPr dirty="0" sz="2900" spc="-270">
                <a:solidFill>
                  <a:srgbClr val="0E0E0E"/>
                </a:solidFill>
                <a:latin typeface="Arial"/>
                <a:cs typeface="Arial"/>
              </a:rPr>
              <a:t>Run</a:t>
            </a:r>
            <a:r>
              <a:rPr dirty="0" sz="2900" spc="7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2900" spc="-95">
                <a:solidFill>
                  <a:srgbClr val="111111"/>
                </a:solidFill>
                <a:latin typeface="Arial"/>
                <a:cs typeface="Arial"/>
              </a:rPr>
              <a:t>parallel</a:t>
            </a:r>
            <a:r>
              <a:rPr dirty="0" sz="2900" spc="-5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900" spc="-80">
                <a:solidFill>
                  <a:srgbClr val="111111"/>
                </a:solidFill>
                <a:latin typeface="Arial"/>
                <a:cs typeface="Arial"/>
              </a:rPr>
              <a:t>models</a:t>
            </a:r>
            <a:r>
              <a:rPr dirty="0" sz="2900" spc="-5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010F18"/>
                </a:solidFill>
                <a:latin typeface="Arial"/>
                <a:cs typeface="Arial"/>
              </a:rPr>
              <a:t>to</a:t>
            </a:r>
            <a:r>
              <a:rPr dirty="0" sz="2900" spc="-200">
                <a:solidFill>
                  <a:srgbClr val="010F18"/>
                </a:solidFill>
                <a:latin typeface="Arial"/>
                <a:cs typeface="Arial"/>
              </a:rPr>
              <a:t> </a:t>
            </a:r>
            <a:r>
              <a:rPr dirty="0" sz="2900" spc="-45">
                <a:solidFill>
                  <a:srgbClr val="0E0E0E"/>
                </a:solidFill>
                <a:latin typeface="Arial"/>
                <a:cs typeface="Arial"/>
              </a:rPr>
              <a:t>build</a:t>
            </a:r>
            <a:r>
              <a:rPr dirty="0" sz="2900" spc="-6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2900" spc="-10">
                <a:solidFill>
                  <a:srgbClr val="111111"/>
                </a:solidFill>
                <a:latin typeface="Arial"/>
                <a:cs typeface="Arial"/>
              </a:rPr>
              <a:t>trust.</a:t>
            </a:r>
            <a:endParaRPr sz="2900">
              <a:latin typeface="Arial"/>
              <a:cs typeface="Arial"/>
            </a:endParaRPr>
          </a:p>
          <a:p>
            <a:pPr marL="387350" indent="-374015">
              <a:lnSpc>
                <a:spcPts val="3260"/>
              </a:lnSpc>
              <a:buClr>
                <a:srgbClr val="070707"/>
              </a:buClr>
              <a:buAutoNum type="arabicPeriod"/>
              <a:tabLst>
                <a:tab pos="387350" algn="l"/>
              </a:tabLst>
            </a:pPr>
            <a:r>
              <a:rPr dirty="0" sz="2750" spc="-20">
                <a:solidFill>
                  <a:srgbClr val="0A0A0A"/>
                </a:solidFill>
                <a:latin typeface="Arial"/>
                <a:cs typeface="Arial"/>
              </a:rPr>
              <a:t>Increase</a:t>
            </a:r>
            <a:r>
              <a:rPr dirty="0" sz="2750" spc="-9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750" spc="-90">
                <a:solidFill>
                  <a:srgbClr val="0F0F0F"/>
                </a:solidFill>
                <a:latin typeface="Arial"/>
                <a:cs typeface="Arial"/>
              </a:rPr>
              <a:t>pKYC</a:t>
            </a:r>
            <a:r>
              <a:rPr dirty="0" sz="2750" spc="-10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0F0F0F"/>
                </a:solidFill>
                <a:latin typeface="Arial"/>
                <a:cs typeface="Arial"/>
              </a:rPr>
              <a:t>coverage</a:t>
            </a:r>
            <a:r>
              <a:rPr dirty="0" sz="2750" spc="-10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0A0A0A"/>
                </a:solidFill>
                <a:latin typeface="Arial"/>
                <a:cs typeface="Arial"/>
              </a:rPr>
              <a:t>incrementally.</a:t>
            </a:r>
            <a:endParaRPr sz="2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3440" y="4423833"/>
            <a:ext cx="2316480" cy="8890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75565" marR="5080" indent="-63500">
              <a:lnSpc>
                <a:spcPts val="3300"/>
              </a:lnSpc>
              <a:spcBef>
                <a:spcPts val="375"/>
              </a:spcBef>
            </a:pPr>
            <a:r>
              <a:rPr dirty="0" sz="2900">
                <a:solidFill>
                  <a:srgbClr val="1C82C6"/>
                </a:solidFill>
                <a:latin typeface="Cambria"/>
                <a:cs typeface="Cambria"/>
              </a:rPr>
              <a:t>Medium</a:t>
            </a:r>
            <a:r>
              <a:rPr dirty="0" sz="2900" spc="-60">
                <a:solidFill>
                  <a:srgbClr val="1C82C6"/>
                </a:solidFill>
                <a:latin typeface="Cambria"/>
                <a:cs typeface="Cambria"/>
              </a:rPr>
              <a:t> </a:t>
            </a:r>
            <a:r>
              <a:rPr dirty="0" sz="2900" spc="-65">
                <a:solidFill>
                  <a:srgbClr val="3179AA"/>
                </a:solidFill>
                <a:latin typeface="Cambria"/>
                <a:cs typeface="Cambria"/>
              </a:rPr>
              <a:t>Term: </a:t>
            </a:r>
            <a:r>
              <a:rPr dirty="0" sz="2900" spc="75">
                <a:solidFill>
                  <a:srgbClr val="217CB3"/>
                </a:solidFill>
                <a:latin typeface="Cambria"/>
                <a:cs typeface="Cambria"/>
              </a:rPr>
              <a:t>Co-</a:t>
            </a:r>
            <a:r>
              <a:rPr dirty="0" sz="2900" spc="60">
                <a:solidFill>
                  <a:srgbClr val="217CB3"/>
                </a:solidFill>
                <a:latin typeface="Cambria"/>
                <a:cs typeface="Cambria"/>
              </a:rPr>
              <a:t>existence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4890" y="9401880"/>
            <a:ext cx="114681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solidFill>
                  <a:srgbClr val="1C1C1C"/>
                </a:solidFill>
                <a:latin typeface="Cambria"/>
                <a:cs typeface="Cambria"/>
              </a:rPr>
              <a:t>@,</a:t>
            </a:r>
            <a:r>
              <a:rPr dirty="0" sz="1300" spc="9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1300" spc="60">
                <a:solidFill>
                  <a:srgbClr val="131313"/>
                </a:solidFill>
                <a:latin typeface="Cambria"/>
                <a:cs typeface="Cambria"/>
              </a:rPr>
              <a:t>Encompass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14497" y="9439980"/>
            <a:ext cx="122999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130">
                <a:latin typeface="Cambria"/>
                <a:cs typeface="Cambria"/>
              </a:rPr>
              <a:t>W</a:t>
            </a:r>
            <a:r>
              <a:rPr dirty="0" sz="1300" spc="210">
                <a:latin typeface="Cambria"/>
                <a:cs typeface="Cambria"/>
              </a:rPr>
              <a:t> </a:t>
            </a:r>
            <a:r>
              <a:rPr dirty="0" sz="1300" spc="-1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70100" y="8953500"/>
            <a:ext cx="2146300" cy="469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600" y="5524500"/>
            <a:ext cx="1028700" cy="1181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6600" y="2882900"/>
            <a:ext cx="1016000" cy="1155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2100" y="2514600"/>
            <a:ext cx="4203700" cy="4749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09400" y="4292600"/>
            <a:ext cx="1016000" cy="115570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05738" y="596547"/>
            <a:ext cx="15548610" cy="9251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>
                <a:solidFill>
                  <a:srgbClr val="012D3B"/>
                </a:solidFill>
              </a:rPr>
              <a:t>Conclusion:</a:t>
            </a:r>
            <a:r>
              <a:rPr dirty="0" spc="-265">
                <a:solidFill>
                  <a:srgbClr val="012D3B"/>
                </a:solidFill>
              </a:rPr>
              <a:t> </a:t>
            </a:r>
            <a:r>
              <a:rPr dirty="0" spc="-50"/>
              <a:t>Compliance</a:t>
            </a:r>
            <a:r>
              <a:rPr dirty="0" spc="-120"/>
              <a:t> </a:t>
            </a:r>
            <a:r>
              <a:rPr dirty="0" spc="-65">
                <a:solidFill>
                  <a:srgbClr val="032A36"/>
                </a:solidFill>
              </a:rPr>
              <a:t>as</a:t>
            </a:r>
            <a:r>
              <a:rPr dirty="0" spc="-420">
                <a:solidFill>
                  <a:srgbClr val="032A36"/>
                </a:solidFill>
              </a:rPr>
              <a:t> </a:t>
            </a:r>
            <a:r>
              <a:rPr dirty="0" spc="-130">
                <a:solidFill>
                  <a:srgbClr val="002834"/>
                </a:solidFill>
              </a:rPr>
              <a:t>Competitive</a:t>
            </a:r>
            <a:r>
              <a:rPr dirty="0" spc="-180">
                <a:solidFill>
                  <a:srgbClr val="002834"/>
                </a:solidFill>
              </a:rPr>
              <a:t> </a:t>
            </a:r>
            <a:r>
              <a:rPr dirty="0" spc="-110">
                <a:solidFill>
                  <a:srgbClr val="032A38"/>
                </a:solidFill>
              </a:rPr>
              <a:t>Advantage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07684" y="2803525"/>
            <a:ext cx="4047490" cy="12325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685"/>
              </a:lnSpc>
              <a:spcBef>
                <a:spcPts val="125"/>
              </a:spcBef>
            </a:pPr>
            <a:r>
              <a:rPr dirty="0" sz="3100">
                <a:solidFill>
                  <a:srgbClr val="082833"/>
                </a:solidFill>
                <a:latin typeface="Arial"/>
                <a:cs typeface="Arial"/>
              </a:rPr>
              <a:t>Integrity</a:t>
            </a:r>
            <a:r>
              <a:rPr dirty="0" sz="3100" spc="250">
                <a:solidFill>
                  <a:srgbClr val="082833"/>
                </a:solidFill>
                <a:latin typeface="Arial"/>
                <a:cs typeface="Arial"/>
              </a:rPr>
              <a:t> </a:t>
            </a:r>
            <a:r>
              <a:rPr dirty="0" sz="3100" spc="-10">
                <a:solidFill>
                  <a:srgbClr val="1D1D1D"/>
                </a:solidFill>
                <a:latin typeface="Arial"/>
                <a:cs typeface="Arial"/>
              </a:rPr>
              <a:t>First:</a:t>
            </a:r>
            <a:endParaRPr sz="3100">
              <a:latin typeface="Arial"/>
              <a:cs typeface="Arial"/>
            </a:endParaRPr>
          </a:p>
          <a:p>
            <a:pPr marL="25400">
              <a:lnSpc>
                <a:spcPts val="2755"/>
              </a:lnSpc>
            </a:pPr>
            <a:r>
              <a:rPr dirty="0" sz="2400">
                <a:latin typeface="Arial"/>
                <a:cs typeface="Arial"/>
              </a:rPr>
              <a:t>Preventing</a:t>
            </a:r>
            <a:r>
              <a:rPr dirty="0" sz="2400" spc="295"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C0C0C"/>
                </a:solidFill>
                <a:latin typeface="Arial"/>
                <a:cs typeface="Arial"/>
              </a:rPr>
              <a:t>financial</a:t>
            </a:r>
            <a:r>
              <a:rPr dirty="0" sz="2400" spc="14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crime,</a:t>
            </a:r>
            <a:endParaRPr sz="2400">
              <a:latin typeface="Arial"/>
              <a:cs typeface="Arial"/>
            </a:endParaRPr>
          </a:p>
          <a:p>
            <a:pPr marL="27305">
              <a:lnSpc>
                <a:spcPts val="3030"/>
              </a:lnSpc>
            </a:pPr>
            <a:r>
              <a:rPr dirty="0" sz="2600">
                <a:solidFill>
                  <a:srgbClr val="0E0E0E"/>
                </a:solidFill>
                <a:latin typeface="Arial"/>
                <a:cs typeface="Arial"/>
              </a:rPr>
              <a:t>not</a:t>
            </a:r>
            <a:r>
              <a:rPr dirty="0" sz="2600" spc="-95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just</a:t>
            </a:r>
            <a:r>
              <a:rPr dirty="0" sz="2600" spc="-110">
                <a:latin typeface="Arial"/>
                <a:cs typeface="Arial"/>
              </a:rPr>
              <a:t> </a:t>
            </a:r>
            <a:r>
              <a:rPr dirty="0" sz="2600" spc="-35">
                <a:latin typeface="Arial"/>
                <a:cs typeface="Arial"/>
              </a:rPr>
              <a:t>satisfying</a:t>
            </a:r>
            <a:r>
              <a:rPr dirty="0" sz="2600" spc="-105">
                <a:latin typeface="Arial"/>
                <a:cs typeface="Arial"/>
              </a:rPr>
              <a:t> </a:t>
            </a:r>
            <a:r>
              <a:rPr dirty="0" sz="2600" spc="-70">
                <a:latin typeface="Arial"/>
                <a:cs typeface="Arial"/>
              </a:rPr>
              <a:t>regulators.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16484" y="5446183"/>
            <a:ext cx="3536950" cy="119189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algn="just" marL="15240" marR="5080" indent="-3175">
              <a:lnSpc>
                <a:spcPct val="92900"/>
              </a:lnSpc>
              <a:spcBef>
                <a:spcPts val="360"/>
              </a:spcBef>
            </a:pPr>
            <a:r>
              <a:rPr dirty="0" sz="2900">
                <a:solidFill>
                  <a:srgbClr val="032D3B"/>
                </a:solidFill>
                <a:latin typeface="Arial"/>
                <a:cs typeface="Arial"/>
              </a:rPr>
              <a:t>No</a:t>
            </a:r>
            <a:r>
              <a:rPr dirty="0" sz="2900" spc="-150">
                <a:solidFill>
                  <a:srgbClr val="032D3B"/>
                </a:solidFill>
                <a:latin typeface="Arial"/>
                <a:cs typeface="Arial"/>
              </a:rPr>
              <a:t> </a:t>
            </a:r>
            <a:r>
              <a:rPr dirty="0" sz="2900" spc="60">
                <a:solidFill>
                  <a:srgbClr val="052D3A"/>
                </a:solidFill>
                <a:latin typeface="Arial"/>
                <a:cs typeface="Arial"/>
              </a:rPr>
              <a:t>More</a:t>
            </a:r>
            <a:r>
              <a:rPr dirty="0" sz="2900" spc="-100">
                <a:solidFill>
                  <a:srgbClr val="052D3A"/>
                </a:solidFill>
                <a:latin typeface="Arial"/>
                <a:cs typeface="Arial"/>
              </a:rPr>
              <a:t> </a:t>
            </a:r>
            <a:r>
              <a:rPr dirty="0" sz="2900" spc="55">
                <a:solidFill>
                  <a:srgbClr val="0A2F3D"/>
                </a:solidFill>
                <a:latin typeface="Arial"/>
                <a:cs typeface="Arial"/>
              </a:rPr>
              <a:t>De-</a:t>
            </a:r>
            <a:r>
              <a:rPr dirty="0" sz="2900" spc="-10">
                <a:solidFill>
                  <a:srgbClr val="0A2F3D"/>
                </a:solidFill>
                <a:latin typeface="Arial"/>
                <a:cs typeface="Arial"/>
              </a:rPr>
              <a:t>Risking: </a:t>
            </a:r>
            <a:r>
              <a:rPr dirty="0" sz="2550" spc="-50">
                <a:solidFill>
                  <a:srgbClr val="0C0C0C"/>
                </a:solidFill>
                <a:latin typeface="Arial"/>
                <a:cs typeface="Arial"/>
              </a:rPr>
              <a:t>Use</a:t>
            </a:r>
            <a:r>
              <a:rPr dirty="0" sz="2550" spc="-6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550" spc="-35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dirty="0" sz="2550" spc="-10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0F0F0F"/>
                </a:solidFill>
                <a:latin typeface="Arial"/>
                <a:cs typeface="Arial"/>
              </a:rPr>
              <a:t>to</a:t>
            </a:r>
            <a:r>
              <a:rPr dirty="0" sz="2550" spc="-16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550" spc="-90">
                <a:solidFill>
                  <a:srgbClr val="0C0C0C"/>
                </a:solidFill>
                <a:latin typeface="Arial"/>
                <a:cs typeface="Arial"/>
              </a:rPr>
              <a:t>manage</a:t>
            </a:r>
            <a:r>
              <a:rPr dirty="0" sz="255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111111"/>
                </a:solidFill>
                <a:latin typeface="Arial"/>
                <a:cs typeface="Arial"/>
              </a:rPr>
              <a:t>risk, </a:t>
            </a:r>
            <a:r>
              <a:rPr dirty="0" sz="2550">
                <a:solidFill>
                  <a:srgbClr val="0F0F0F"/>
                </a:solidFill>
                <a:latin typeface="Arial"/>
                <a:cs typeface="Arial"/>
              </a:rPr>
              <a:t>not</a:t>
            </a:r>
            <a:r>
              <a:rPr dirty="0" sz="2550" spc="-4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550" spc="-40">
                <a:solidFill>
                  <a:srgbClr val="0C0C0C"/>
                </a:solidFill>
                <a:latin typeface="Arial"/>
                <a:cs typeface="Arial"/>
              </a:rPr>
              <a:t>exclude</a:t>
            </a:r>
            <a:r>
              <a:rPr dirty="0" sz="2550" spc="-10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customers.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82956" y="4106333"/>
            <a:ext cx="3444240" cy="15563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60">
                <a:solidFill>
                  <a:srgbClr val="082A36"/>
                </a:solidFill>
                <a:latin typeface="Arial"/>
                <a:cs typeface="Arial"/>
              </a:rPr>
              <a:t>Invest</a:t>
            </a:r>
            <a:r>
              <a:rPr dirty="0" sz="2900" spc="15">
                <a:solidFill>
                  <a:srgbClr val="082A36"/>
                </a:solidFill>
                <a:latin typeface="Arial"/>
                <a:cs typeface="Arial"/>
              </a:rPr>
              <a:t> </a:t>
            </a:r>
            <a:r>
              <a:rPr dirty="0" sz="2900" spc="50">
                <a:solidFill>
                  <a:srgbClr val="0C2F3B"/>
                </a:solidFill>
                <a:latin typeface="Arial"/>
                <a:cs typeface="Arial"/>
              </a:rPr>
              <a:t>in</a:t>
            </a:r>
            <a:r>
              <a:rPr dirty="0" sz="2900" spc="-90">
                <a:solidFill>
                  <a:srgbClr val="0C2F3B"/>
                </a:solidFill>
                <a:latin typeface="Arial"/>
                <a:cs typeface="Arial"/>
              </a:rPr>
              <a:t> </a:t>
            </a:r>
            <a:r>
              <a:rPr dirty="0" sz="2900" spc="-10">
                <a:solidFill>
                  <a:srgbClr val="05262F"/>
                </a:solidFill>
                <a:latin typeface="Arial"/>
                <a:cs typeface="Arial"/>
              </a:rPr>
              <a:t>pKYC:</a:t>
            </a:r>
            <a:endParaRPr sz="2900">
              <a:latin typeface="Arial"/>
              <a:cs typeface="Arial"/>
            </a:endParaRPr>
          </a:p>
          <a:p>
            <a:pPr marL="22225" marR="5080" indent="4445">
              <a:lnSpc>
                <a:spcPct val="98300"/>
              </a:lnSpc>
              <a:spcBef>
                <a:spcPts val="120"/>
              </a:spcBef>
            </a:pPr>
            <a:r>
              <a:rPr dirty="0" sz="2350">
                <a:latin typeface="Arial"/>
                <a:cs typeface="Arial"/>
              </a:rPr>
              <a:t>The</a:t>
            </a:r>
            <a:r>
              <a:rPr dirty="0" sz="2350" spc="225"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11111"/>
                </a:solidFill>
                <a:latin typeface="Arial"/>
                <a:cs typeface="Arial"/>
              </a:rPr>
              <a:t>solution</a:t>
            </a:r>
            <a:r>
              <a:rPr dirty="0" sz="2350" spc="26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50" spc="65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2350" spc="204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61616"/>
                </a:solidFill>
                <a:latin typeface="Arial"/>
                <a:cs typeface="Arial"/>
              </a:rPr>
              <a:t>talent </a:t>
            </a:r>
            <a:r>
              <a:rPr dirty="0" sz="2400">
                <a:latin typeface="Arial"/>
                <a:cs typeface="Arial"/>
              </a:rPr>
              <a:t>shortages</a:t>
            </a:r>
            <a:r>
              <a:rPr dirty="0" sz="2400" spc="275"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A0A0A"/>
                </a:solidFill>
                <a:latin typeface="Arial"/>
                <a:cs typeface="Arial"/>
              </a:rPr>
              <a:t>and</a:t>
            </a:r>
            <a:r>
              <a:rPr dirty="0" sz="2400" spc="8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efficiency crises.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20823" y="7471833"/>
            <a:ext cx="12744450" cy="1485900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marL="2748915" marR="5080" indent="-2736850">
              <a:lnSpc>
                <a:spcPct val="77200"/>
              </a:lnSpc>
              <a:spcBef>
                <a:spcPts val="1595"/>
              </a:spcBef>
            </a:pPr>
            <a:r>
              <a:rPr dirty="0" sz="5400">
                <a:solidFill>
                  <a:srgbClr val="033444"/>
                </a:solidFill>
                <a:latin typeface="Arial"/>
                <a:cs typeface="Arial"/>
              </a:rPr>
              <a:t>Responsible</a:t>
            </a:r>
            <a:r>
              <a:rPr dirty="0" sz="5400" spc="-60">
                <a:solidFill>
                  <a:srgbClr val="033444"/>
                </a:solidFill>
                <a:latin typeface="Arial"/>
                <a:cs typeface="Arial"/>
              </a:rPr>
              <a:t> </a:t>
            </a:r>
            <a:r>
              <a:rPr dirty="0" sz="5400" spc="95">
                <a:solidFill>
                  <a:srgbClr val="012636"/>
                </a:solidFill>
                <a:latin typeface="Arial"/>
                <a:cs typeface="Arial"/>
              </a:rPr>
              <a:t>Innovation</a:t>
            </a:r>
            <a:r>
              <a:rPr dirty="0" sz="5400" spc="-20">
                <a:solidFill>
                  <a:srgbClr val="012636"/>
                </a:solidFill>
                <a:latin typeface="Arial"/>
                <a:cs typeface="Arial"/>
              </a:rPr>
              <a:t> </a:t>
            </a:r>
            <a:r>
              <a:rPr dirty="0" sz="5400" spc="114">
                <a:solidFill>
                  <a:srgbClr val="012634"/>
                </a:solidFill>
                <a:latin typeface="Arial"/>
                <a:cs typeface="Arial"/>
              </a:rPr>
              <a:t>is</a:t>
            </a:r>
            <a:r>
              <a:rPr dirty="0" sz="5400" spc="-465">
                <a:solidFill>
                  <a:srgbClr val="012634"/>
                </a:solidFill>
                <a:latin typeface="Arial"/>
                <a:cs typeface="Arial"/>
              </a:rPr>
              <a:t> </a:t>
            </a:r>
            <a:r>
              <a:rPr dirty="0" sz="5400">
                <a:solidFill>
                  <a:srgbClr val="033142"/>
                </a:solidFill>
                <a:latin typeface="Arial"/>
                <a:cs typeface="Arial"/>
              </a:rPr>
              <a:t>the</a:t>
            </a:r>
            <a:r>
              <a:rPr dirty="0" sz="5400" spc="-260">
                <a:solidFill>
                  <a:srgbClr val="033142"/>
                </a:solidFill>
                <a:latin typeface="Arial"/>
                <a:cs typeface="Arial"/>
              </a:rPr>
              <a:t> </a:t>
            </a:r>
            <a:r>
              <a:rPr dirty="0" sz="5400" spc="-10">
                <a:solidFill>
                  <a:srgbClr val="053444"/>
                </a:solidFill>
                <a:latin typeface="Arial"/>
                <a:cs typeface="Arial"/>
              </a:rPr>
              <a:t>expectation </a:t>
            </a:r>
            <a:r>
              <a:rPr dirty="0" sz="5400">
                <a:solidFill>
                  <a:srgbClr val="012F3F"/>
                </a:solidFill>
                <a:latin typeface="Arial"/>
                <a:cs typeface="Arial"/>
              </a:rPr>
              <a:t>of</a:t>
            </a:r>
            <a:r>
              <a:rPr dirty="0" sz="5400" spc="-90">
                <a:solidFill>
                  <a:srgbClr val="012F3F"/>
                </a:solidFill>
                <a:latin typeface="Arial"/>
                <a:cs typeface="Arial"/>
              </a:rPr>
              <a:t> </a:t>
            </a:r>
            <a:r>
              <a:rPr dirty="0" sz="5400">
                <a:solidFill>
                  <a:srgbClr val="073648"/>
                </a:solidFill>
                <a:latin typeface="Arial"/>
                <a:cs typeface="Arial"/>
              </a:rPr>
              <a:t>the</a:t>
            </a:r>
            <a:r>
              <a:rPr dirty="0" sz="5400" spc="-315">
                <a:solidFill>
                  <a:srgbClr val="073648"/>
                </a:solidFill>
                <a:latin typeface="Arial"/>
                <a:cs typeface="Arial"/>
              </a:rPr>
              <a:t> </a:t>
            </a:r>
            <a:r>
              <a:rPr dirty="0" sz="5400">
                <a:solidFill>
                  <a:srgbClr val="012634"/>
                </a:solidFill>
                <a:latin typeface="Arial"/>
                <a:cs typeface="Arial"/>
              </a:rPr>
              <a:t>modern</a:t>
            </a:r>
            <a:r>
              <a:rPr dirty="0" sz="5400" spc="-220">
                <a:solidFill>
                  <a:srgbClr val="012634"/>
                </a:solidFill>
                <a:latin typeface="Arial"/>
                <a:cs typeface="Arial"/>
              </a:rPr>
              <a:t> </a:t>
            </a:r>
            <a:r>
              <a:rPr dirty="0" sz="5400" spc="-10">
                <a:solidFill>
                  <a:srgbClr val="012834"/>
                </a:solidFill>
                <a:latin typeface="Arial"/>
                <a:cs typeface="Arial"/>
              </a:rPr>
              <a:t>regulator.</a:t>
            </a:r>
            <a:endParaRPr sz="5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"/>
                <a:cs typeface="Arial"/>
              </a:rPr>
              <a:t>G</a:t>
            </a:r>
            <a:r>
              <a:rPr dirty="0" sz="1300" spc="49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2026-02-22T12:00:10Z</dcterms:created>
  <dcterms:modified xsi:type="dcterms:W3CDTF">2026-02-22T12:00:10Z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2026-02-22T00:00:00Z</vt:filetime>
  </property>
  <property fmtid="{D5CDD505-2E9C-101B-9397-08002B2CF9AE}" pid="3" name="LastSaved">
    <vt:filetime>2026-02-22T00:00:00Z</vt:filetime>
  </property>
</Properties>
</file>