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0739" y="418041"/>
            <a:ext cx="16313720" cy="1479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2F2F2F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2400" y="1875367"/>
            <a:ext cx="14622144" cy="6678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Relationship Id="rId6" Type="http://schemas.openxmlformats.org/officeDocument/2006/relationships/image" Target="../media/image1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5300" y="3924300"/>
            <a:ext cx="6248400" cy="4064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4800" y="1790700"/>
            <a:ext cx="558800" cy="6731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749300" y="8883650"/>
            <a:ext cx="15976600" cy="0"/>
          </a:xfrm>
          <a:custGeom>
            <a:avLst/>
            <a:gdLst/>
            <a:ahLst/>
            <a:cxnLst/>
            <a:rect l="l" t="t" r="r" b="b"/>
            <a:pathLst>
              <a:path w="15976600" h="0">
                <a:moveTo>
                  <a:pt x="0" y="0"/>
                </a:moveTo>
                <a:lnTo>
                  <a:pt x="15976600" y="0"/>
                </a:lnTo>
              </a:path>
            </a:pathLst>
          </a:custGeom>
          <a:ln w="38100">
            <a:solidFill>
              <a:srgbClr val="1A1A1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8698" y="581377"/>
            <a:ext cx="13413105" cy="2773680"/>
          </a:xfrm>
          <a:prstGeom prst="rect"/>
        </p:spPr>
        <p:txBody>
          <a:bodyPr wrap="square" lIns="0" tIns="177800" rIns="0" bIns="0" rtlCol="0" vert="horz">
            <a:spAutoFit/>
          </a:bodyPr>
          <a:lstStyle/>
          <a:p>
            <a:pPr marL="19050" marR="2352675">
              <a:lnSpc>
                <a:spcPts val="7400"/>
              </a:lnSpc>
              <a:spcBef>
                <a:spcPts val="1400"/>
              </a:spcBef>
              <a:tabLst>
                <a:tab pos="5396230" algn="l"/>
              </a:tabLst>
            </a:pPr>
            <a:r>
              <a:rPr dirty="0" sz="7200">
                <a:solidFill>
                  <a:srgbClr val="2D2D2D"/>
                </a:solidFill>
              </a:rPr>
              <a:t>Vertex</a:t>
            </a:r>
            <a:r>
              <a:rPr dirty="0" sz="7200" spc="60">
                <a:solidFill>
                  <a:srgbClr val="2D2D2D"/>
                </a:solidFill>
              </a:rPr>
              <a:t> </a:t>
            </a:r>
            <a:r>
              <a:rPr dirty="0" sz="7200" spc="-10">
                <a:solidFill>
                  <a:srgbClr val="333333"/>
                </a:solidFill>
              </a:rPr>
              <a:t>AI</a:t>
            </a:r>
            <a:r>
              <a:rPr dirty="0" sz="7200" spc="-805">
                <a:solidFill>
                  <a:srgbClr val="333333"/>
                </a:solidFill>
              </a:rPr>
              <a:t> </a:t>
            </a:r>
            <a:r>
              <a:rPr dirty="0" sz="7200" spc="70">
                <a:solidFill>
                  <a:srgbClr val="2D2D2D"/>
                </a:solidFill>
              </a:rPr>
              <a:t>Model</a:t>
            </a:r>
            <a:r>
              <a:rPr dirty="0" sz="7200" spc="-415">
                <a:solidFill>
                  <a:srgbClr val="2D2D2D"/>
                </a:solidFill>
              </a:rPr>
              <a:t> </a:t>
            </a:r>
            <a:r>
              <a:rPr dirty="0" sz="7200" spc="40"/>
              <a:t>Registry: </a:t>
            </a:r>
            <a:r>
              <a:rPr dirty="0" sz="7200" spc="-10">
                <a:solidFill>
                  <a:srgbClr val="2D2D2D"/>
                </a:solidFill>
              </a:rPr>
              <a:t>Versioning</a:t>
            </a:r>
            <a:r>
              <a:rPr dirty="0" sz="7200">
                <a:solidFill>
                  <a:srgbClr val="2D2D2D"/>
                </a:solidFill>
              </a:rPr>
              <a:t>	</a:t>
            </a:r>
            <a:r>
              <a:rPr dirty="0" sz="7200">
                <a:solidFill>
                  <a:srgbClr val="313131"/>
                </a:solidFill>
              </a:rPr>
              <a:t>Alias</a:t>
            </a:r>
            <a:r>
              <a:rPr dirty="0" sz="7200" spc="-295">
                <a:solidFill>
                  <a:srgbClr val="313131"/>
                </a:solidFill>
              </a:rPr>
              <a:t> </a:t>
            </a:r>
            <a:r>
              <a:rPr dirty="0" sz="7200" spc="-10">
                <a:solidFill>
                  <a:srgbClr val="2D2D2D"/>
                </a:solidFill>
              </a:rPr>
              <a:t>Strategy</a:t>
            </a:r>
            <a:endParaRPr sz="7200"/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3800" spc="-35">
                <a:solidFill>
                  <a:srgbClr val="1C1C1C"/>
                </a:solidFill>
              </a:rPr>
              <a:t>Managing</a:t>
            </a:r>
            <a:r>
              <a:rPr dirty="0" sz="3800" spc="-204">
                <a:solidFill>
                  <a:srgbClr val="1C1C1C"/>
                </a:solidFill>
              </a:rPr>
              <a:t> </a:t>
            </a:r>
            <a:r>
              <a:rPr dirty="0" sz="3800" spc="-20">
                <a:solidFill>
                  <a:srgbClr val="1F1F1F"/>
                </a:solidFill>
              </a:rPr>
              <a:t>Custom</a:t>
            </a:r>
            <a:r>
              <a:rPr dirty="0" sz="3800" spc="-190">
                <a:solidFill>
                  <a:srgbClr val="1F1F1F"/>
                </a:solidFill>
              </a:rPr>
              <a:t> </a:t>
            </a:r>
            <a:r>
              <a:rPr dirty="0" sz="3800" spc="-30">
                <a:solidFill>
                  <a:srgbClr val="212121"/>
                </a:solidFill>
              </a:rPr>
              <a:t>Container</a:t>
            </a:r>
            <a:r>
              <a:rPr dirty="0" sz="3800" spc="-55">
                <a:solidFill>
                  <a:srgbClr val="212121"/>
                </a:solidFill>
              </a:rPr>
              <a:t> </a:t>
            </a:r>
            <a:r>
              <a:rPr dirty="0" sz="3800" spc="-10">
                <a:solidFill>
                  <a:srgbClr val="1F1F1F"/>
                </a:solidFill>
              </a:rPr>
              <a:t>Lifecycles </a:t>
            </a:r>
            <a:r>
              <a:rPr dirty="0" sz="3800">
                <a:solidFill>
                  <a:srgbClr val="212121"/>
                </a:solidFill>
              </a:rPr>
              <a:t>for</a:t>
            </a:r>
            <a:r>
              <a:rPr dirty="0" sz="3800" spc="-195">
                <a:solidFill>
                  <a:srgbClr val="212121"/>
                </a:solidFill>
              </a:rPr>
              <a:t> </a:t>
            </a:r>
            <a:r>
              <a:rPr dirty="0" sz="3800" spc="-20">
                <a:solidFill>
                  <a:srgbClr val="1D1D1D"/>
                </a:solidFill>
              </a:rPr>
              <a:t>Production</a:t>
            </a:r>
            <a:r>
              <a:rPr dirty="0" sz="3800" spc="-75">
                <a:solidFill>
                  <a:srgbClr val="1D1D1D"/>
                </a:solidFill>
              </a:rPr>
              <a:t> </a:t>
            </a:r>
            <a:r>
              <a:rPr dirty="0" sz="3800" spc="-20">
                <a:solidFill>
                  <a:srgbClr val="1D1D1D"/>
                </a:solidFill>
              </a:rPr>
              <a:t>Pipelines</a:t>
            </a:r>
            <a:endParaRPr sz="3800"/>
          </a:p>
        </p:txBody>
      </p:sp>
      <p:sp>
        <p:nvSpPr>
          <p:cNvPr id="6" name="object 6" descr=""/>
          <p:cNvSpPr txBox="1"/>
          <p:nvPr/>
        </p:nvSpPr>
        <p:spPr>
          <a:xfrm>
            <a:off x="743925" y="9028994"/>
            <a:ext cx="249301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65">
                <a:solidFill>
                  <a:srgbClr val="1C1C1C"/>
                </a:solidFill>
                <a:latin typeface="Arial MT"/>
                <a:cs typeface="Arial MT"/>
              </a:rPr>
              <a:t>TECHNICAL</a:t>
            </a:r>
            <a:r>
              <a:rPr dirty="0" sz="1800" spc="15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Arial MT"/>
                <a:cs typeface="Arial MT"/>
              </a:rPr>
              <a:t>ENABLEuE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60125" y="9028994"/>
            <a:ext cx="594360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800" spc="55">
                <a:solidFill>
                  <a:srgbClr val="181818"/>
                </a:solidFill>
                <a:latin typeface="Arial MT"/>
                <a:cs typeface="Arial MT"/>
              </a:rPr>
              <a:t>T</a:t>
            </a:r>
            <a:r>
              <a:rPr dirty="0" sz="1800" spc="-12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800" spc="-125">
                <a:solidFill>
                  <a:srgbClr val="161616"/>
                </a:solidFill>
                <a:latin typeface="Arial MT"/>
                <a:cs typeface="Arial MT"/>
              </a:rPr>
              <a:t>SERIES</a:t>
            </a:r>
            <a:r>
              <a:rPr dirty="0" sz="180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baseline="-10802" sz="2700">
                <a:solidFill>
                  <a:srgbClr val="919191"/>
                </a:solidFill>
                <a:latin typeface="Arial MT"/>
                <a:cs typeface="Arial MT"/>
              </a:rPr>
              <a:t>I</a:t>
            </a:r>
            <a:r>
              <a:rPr dirty="0" baseline="-10802" sz="2700" spc="-22">
                <a:solidFill>
                  <a:srgbClr val="919191"/>
                </a:solidFill>
                <a:latin typeface="Arial MT"/>
                <a:cs typeface="Arial MT"/>
              </a:rPr>
              <a:t> </a:t>
            </a:r>
            <a:r>
              <a:rPr dirty="0" sz="1800" spc="-95">
                <a:solidFill>
                  <a:srgbClr val="626262"/>
                </a:solidFill>
                <a:latin typeface="Arial MT"/>
                <a:cs typeface="Arial MT"/>
              </a:rPr>
              <a:t>MLOPS</a:t>
            </a:r>
            <a:r>
              <a:rPr dirty="0" sz="1800" spc="-3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dirty="0" sz="1800" spc="-114">
                <a:solidFill>
                  <a:srgbClr val="575757"/>
                </a:solidFill>
                <a:latin typeface="Arial MT"/>
                <a:cs typeface="Arial MT"/>
              </a:rPr>
              <a:t>STANDARD</a:t>
            </a:r>
            <a:r>
              <a:rPr dirty="0" sz="1800" spc="7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1800" spc="-125">
                <a:solidFill>
                  <a:srgbClr val="5B5B5B"/>
                </a:solidFill>
                <a:latin typeface="Arial MT"/>
                <a:cs typeface="Arial MT"/>
              </a:rPr>
              <a:t>OPERATING</a:t>
            </a:r>
            <a:r>
              <a:rPr dirty="0" sz="1800" spc="10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1800" spc="-110">
                <a:solidFill>
                  <a:srgbClr val="565656"/>
                </a:solidFill>
                <a:latin typeface="Arial MT"/>
                <a:cs typeface="Arial MT"/>
              </a:rPr>
              <a:t>PROCEDURES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1000" y="3746500"/>
            <a:ext cx="2184400" cy="2260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4200" y="2146300"/>
            <a:ext cx="4851400" cy="5359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95300" y="3721100"/>
            <a:ext cx="2717800" cy="2247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6034">
              <a:lnSpc>
                <a:spcPts val="5720"/>
              </a:lnSpc>
              <a:spcBef>
                <a:spcPts val="105"/>
              </a:spcBef>
            </a:pPr>
            <a:r>
              <a:rPr dirty="0" sz="5200" spc="-250">
                <a:solidFill>
                  <a:srgbClr val="262626"/>
                </a:solidFill>
              </a:rPr>
              <a:t>The</a:t>
            </a:r>
            <a:r>
              <a:rPr dirty="0" sz="5200" spc="-375">
                <a:solidFill>
                  <a:srgbClr val="262626"/>
                </a:solidFill>
              </a:rPr>
              <a:t> </a:t>
            </a:r>
            <a:r>
              <a:rPr dirty="0" sz="5200" spc="-50">
                <a:solidFill>
                  <a:srgbClr val="242424"/>
                </a:solidFill>
              </a:rPr>
              <a:t>Artifact</a:t>
            </a:r>
            <a:r>
              <a:rPr dirty="0" sz="5200" spc="-290">
                <a:solidFill>
                  <a:srgbClr val="242424"/>
                </a:solidFill>
              </a:rPr>
              <a:t> </a:t>
            </a:r>
            <a:r>
              <a:rPr dirty="0" sz="5200" spc="-60">
                <a:solidFill>
                  <a:srgbClr val="242424"/>
                </a:solidFill>
              </a:rPr>
              <a:t>Journey:</a:t>
            </a:r>
            <a:endParaRPr sz="5200"/>
          </a:p>
          <a:p>
            <a:pPr marL="12700">
              <a:lnSpc>
                <a:spcPts val="5720"/>
              </a:lnSpc>
            </a:pPr>
            <a:r>
              <a:rPr dirty="0" sz="5200" spc="-275">
                <a:solidFill>
                  <a:srgbClr val="232323"/>
                </a:solidFill>
              </a:rPr>
              <a:t>From</a:t>
            </a:r>
            <a:r>
              <a:rPr dirty="0" sz="5200" spc="-434">
                <a:solidFill>
                  <a:srgbClr val="232323"/>
                </a:solidFill>
              </a:rPr>
              <a:t> </a:t>
            </a:r>
            <a:r>
              <a:rPr dirty="0" sz="5200" spc="-190">
                <a:solidFill>
                  <a:srgbClr val="232323"/>
                </a:solidFill>
              </a:rPr>
              <a:t>Container</a:t>
            </a:r>
            <a:r>
              <a:rPr dirty="0" sz="5200" spc="-60">
                <a:solidFill>
                  <a:srgbClr val="232323"/>
                </a:solidFill>
              </a:rPr>
              <a:t> </a:t>
            </a:r>
            <a:r>
              <a:rPr dirty="0" sz="5200">
                <a:solidFill>
                  <a:srgbClr val="242424"/>
                </a:solidFill>
              </a:rPr>
              <a:t>to</a:t>
            </a:r>
            <a:r>
              <a:rPr dirty="0" sz="5200" spc="-685">
                <a:solidFill>
                  <a:srgbClr val="242424"/>
                </a:solidFill>
              </a:rPr>
              <a:t> </a:t>
            </a:r>
            <a:r>
              <a:rPr dirty="0" sz="5200" spc="-130">
                <a:solidFill>
                  <a:srgbClr val="232323"/>
                </a:solidFill>
              </a:rPr>
              <a:t>Prediction</a:t>
            </a:r>
            <a:endParaRPr sz="5200"/>
          </a:p>
        </p:txBody>
      </p:sp>
      <p:sp>
        <p:nvSpPr>
          <p:cNvPr id="6" name="object 6" descr=""/>
          <p:cNvSpPr txBox="1"/>
          <p:nvPr/>
        </p:nvSpPr>
        <p:spPr>
          <a:xfrm>
            <a:off x="1557712" y="6128808"/>
            <a:ext cx="2333625" cy="6908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29845">
              <a:lnSpc>
                <a:spcPts val="2680"/>
              </a:lnSpc>
              <a:spcBef>
                <a:spcPts val="90"/>
              </a:spcBef>
            </a:pPr>
            <a:r>
              <a:rPr dirty="0" sz="2300" spc="-10">
                <a:latin typeface="Arial MT"/>
                <a:cs typeface="Arial MT"/>
              </a:rPr>
              <a:t>Training</a:t>
            </a:r>
            <a:endParaRPr sz="2300">
              <a:latin typeface="Arial MT"/>
              <a:cs typeface="Arial MT"/>
            </a:endParaRPr>
          </a:p>
          <a:p>
            <a:pPr algn="ctr">
              <a:lnSpc>
                <a:spcPts val="2560"/>
              </a:lnSpc>
            </a:pPr>
            <a:r>
              <a:rPr dirty="0" sz="2200" spc="-55">
                <a:latin typeface="Arial MT"/>
                <a:cs typeface="Arial MT"/>
              </a:rPr>
              <a:t>(Custom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50">
                <a:latin typeface="Arial MT"/>
                <a:cs typeface="Arial MT"/>
              </a:rPr>
              <a:t>Container)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37722" y="7836958"/>
            <a:ext cx="296926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75">
                <a:latin typeface="Arial MT"/>
                <a:cs typeface="Arial MT"/>
              </a:rPr>
              <a:t>Vertex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 spc="-180">
                <a:latin typeface="Arial MT"/>
                <a:cs typeface="Arial MT"/>
              </a:rPr>
              <a:t>AI</a:t>
            </a:r>
            <a:r>
              <a:rPr dirty="0" sz="2300" spc="-155">
                <a:latin typeface="Arial MT"/>
                <a:cs typeface="Arial MT"/>
              </a:rPr>
              <a:t> </a:t>
            </a:r>
            <a:r>
              <a:rPr dirty="0" sz="2300" spc="-105">
                <a:latin typeface="Arial MT"/>
                <a:cs typeface="Arial MT"/>
              </a:rPr>
              <a:t>Model</a:t>
            </a:r>
            <a:r>
              <a:rPr dirty="0" sz="2300" spc="-55">
                <a:latin typeface="Arial MT"/>
                <a:cs typeface="Arial MT"/>
              </a:rPr>
              <a:t> </a:t>
            </a:r>
            <a:r>
              <a:rPr dirty="0" sz="2300" spc="-80">
                <a:latin typeface="Arial MT"/>
                <a:cs typeface="Arial MT"/>
              </a:rPr>
              <a:t>Registry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330618" y="6119988"/>
            <a:ext cx="2513965" cy="6997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3335">
              <a:lnSpc>
                <a:spcPts val="2735"/>
              </a:lnSpc>
              <a:spcBef>
                <a:spcPts val="110"/>
              </a:spcBef>
            </a:pPr>
            <a:r>
              <a:rPr dirty="0" sz="2350" spc="-10">
                <a:latin typeface="Arial MT"/>
                <a:cs typeface="Arial MT"/>
              </a:rPr>
              <a:t>Serving</a:t>
            </a:r>
            <a:endParaRPr sz="2350">
              <a:latin typeface="Arial MT"/>
              <a:cs typeface="Arial MT"/>
            </a:endParaRPr>
          </a:p>
          <a:p>
            <a:pPr algn="ctr">
              <a:lnSpc>
                <a:spcPts val="2555"/>
              </a:lnSpc>
            </a:pPr>
            <a:r>
              <a:rPr dirty="0" sz="2200" spc="-40">
                <a:latin typeface="Arial MT"/>
                <a:cs typeface="Arial MT"/>
              </a:rPr>
              <a:t>(Prediction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40">
                <a:latin typeface="Arial MT"/>
                <a:cs typeface="Arial MT"/>
              </a:rPr>
              <a:t>Endpoint)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275033" y="7955139"/>
            <a:ext cx="5335270" cy="103314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320">
              <a:lnSpc>
                <a:spcPts val="2685"/>
              </a:lnSpc>
              <a:spcBef>
                <a:spcPts val="110"/>
              </a:spcBef>
            </a:pPr>
            <a:r>
              <a:rPr dirty="0" sz="2350" spc="-185">
                <a:latin typeface="Arial MT"/>
                <a:cs typeface="Arial MT"/>
              </a:rPr>
              <a:t>The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 spc="-125">
                <a:latin typeface="Arial MT"/>
                <a:cs typeface="Arial MT"/>
              </a:rPr>
              <a:t>Registry</a:t>
            </a:r>
            <a:r>
              <a:rPr dirty="0" sz="2350" spc="-30">
                <a:latin typeface="Arial MT"/>
                <a:cs typeface="Arial MT"/>
              </a:rPr>
              <a:t> </a:t>
            </a:r>
            <a:r>
              <a:rPr dirty="0" sz="2350" spc="-90">
                <a:latin typeface="Arial MT"/>
                <a:cs typeface="Arial MT"/>
              </a:rPr>
              <a:t>acts</a:t>
            </a:r>
            <a:r>
              <a:rPr dirty="0" sz="2350" spc="-140">
                <a:latin typeface="Arial MT"/>
                <a:cs typeface="Arial MT"/>
              </a:rPr>
              <a:t> </a:t>
            </a:r>
            <a:r>
              <a:rPr dirty="0" sz="2350" spc="-145">
                <a:latin typeface="Arial MT"/>
                <a:cs typeface="Arial MT"/>
              </a:rPr>
              <a:t>as</a:t>
            </a:r>
            <a:r>
              <a:rPr dirty="0" sz="2350" spc="-130">
                <a:latin typeface="Arial MT"/>
                <a:cs typeface="Arial MT"/>
              </a:rPr>
              <a:t> </a:t>
            </a:r>
            <a:r>
              <a:rPr dirty="0" sz="2350" spc="-70">
                <a:latin typeface="Arial MT"/>
                <a:cs typeface="Arial MT"/>
              </a:rPr>
              <a:t>the</a:t>
            </a:r>
            <a:r>
              <a:rPr dirty="0" sz="2350" spc="-95">
                <a:latin typeface="Arial MT"/>
                <a:cs typeface="Arial MT"/>
              </a:rPr>
              <a:t> </a:t>
            </a:r>
            <a:r>
              <a:rPr dirty="0" sz="2350" spc="-120">
                <a:latin typeface="Arial MT"/>
                <a:cs typeface="Arial MT"/>
              </a:rPr>
              <a:t>decoupling</a:t>
            </a:r>
            <a:r>
              <a:rPr dirty="0" sz="2350" spc="90">
                <a:latin typeface="Arial MT"/>
                <a:cs typeface="Arial MT"/>
              </a:rPr>
              <a:t> </a:t>
            </a:r>
            <a:r>
              <a:rPr dirty="0" sz="2350" spc="-10">
                <a:latin typeface="Arial MT"/>
                <a:cs typeface="Arial MT"/>
              </a:rPr>
              <a:t>point.</a:t>
            </a:r>
            <a:endParaRPr sz="2350">
              <a:latin typeface="Arial MT"/>
              <a:cs typeface="Arial MT"/>
            </a:endParaRPr>
          </a:p>
          <a:p>
            <a:pPr marL="20320" marR="5080" indent="-8255">
              <a:lnSpc>
                <a:spcPts val="2550"/>
              </a:lnSpc>
              <a:spcBef>
                <a:spcPts val="175"/>
              </a:spcBef>
            </a:pPr>
            <a:r>
              <a:rPr dirty="0" sz="2350">
                <a:latin typeface="Arial MT"/>
                <a:cs typeface="Arial MT"/>
              </a:rPr>
              <a:t>It</a:t>
            </a:r>
            <a:r>
              <a:rPr dirty="0" sz="2350" spc="-150">
                <a:latin typeface="Arial MT"/>
                <a:cs typeface="Arial MT"/>
              </a:rPr>
              <a:t> </a:t>
            </a:r>
            <a:r>
              <a:rPr dirty="0" sz="2350" spc="-114">
                <a:latin typeface="Arial MT"/>
                <a:cs typeface="Arial MT"/>
              </a:rPr>
              <a:t>transforms</a:t>
            </a:r>
            <a:r>
              <a:rPr dirty="0" sz="2350" spc="-35">
                <a:latin typeface="Arial MT"/>
                <a:cs typeface="Arial MT"/>
              </a:rPr>
              <a:t> </a:t>
            </a:r>
            <a:r>
              <a:rPr dirty="0" sz="2350" spc="-110">
                <a:latin typeface="Arial MT"/>
                <a:cs typeface="Arial MT"/>
              </a:rPr>
              <a:t>raw</a:t>
            </a:r>
            <a:r>
              <a:rPr dirty="0" sz="2350" spc="-95">
                <a:latin typeface="Arial MT"/>
                <a:cs typeface="Arial MT"/>
              </a:rPr>
              <a:t> </a:t>
            </a:r>
            <a:r>
              <a:rPr dirty="0" sz="2350" spc="-105">
                <a:latin typeface="Arial MT"/>
                <a:cs typeface="Arial MT"/>
              </a:rPr>
              <a:t>container</a:t>
            </a:r>
            <a:r>
              <a:rPr dirty="0" sz="2350" spc="70">
                <a:latin typeface="Arial MT"/>
                <a:cs typeface="Arial MT"/>
              </a:rPr>
              <a:t> </a:t>
            </a:r>
            <a:r>
              <a:rPr dirty="0" sz="2350" spc="-55">
                <a:latin typeface="Arial MT"/>
                <a:cs typeface="Arial MT"/>
              </a:rPr>
              <a:t>artifacts</a:t>
            </a:r>
            <a:r>
              <a:rPr dirty="0" sz="2350" spc="-45">
                <a:latin typeface="Arial MT"/>
                <a:cs typeface="Arial MT"/>
              </a:rPr>
              <a:t> </a:t>
            </a:r>
            <a:r>
              <a:rPr dirty="0" sz="2350" spc="-20">
                <a:latin typeface="Arial MT"/>
                <a:cs typeface="Arial MT"/>
              </a:rPr>
              <a:t>into </a:t>
            </a:r>
            <a:r>
              <a:rPr dirty="0" sz="2350" spc="-160">
                <a:latin typeface="Arial MT"/>
                <a:cs typeface="Arial MT"/>
              </a:rPr>
              <a:t>managed,</a:t>
            </a:r>
            <a:r>
              <a:rPr dirty="0" sz="2350" spc="-10">
                <a:latin typeface="Arial MT"/>
                <a:cs typeface="Arial MT"/>
              </a:rPr>
              <a:t> </a:t>
            </a:r>
            <a:r>
              <a:rPr dirty="0" sz="2350" spc="-125">
                <a:latin typeface="Arial MT"/>
                <a:cs typeface="Arial MT"/>
              </a:rPr>
              <a:t>versioned,</a:t>
            </a:r>
            <a:r>
              <a:rPr dirty="0" sz="2350" spc="60">
                <a:latin typeface="Arial MT"/>
                <a:cs typeface="Arial MT"/>
              </a:rPr>
              <a:t> </a:t>
            </a:r>
            <a:r>
              <a:rPr dirty="0" sz="2350" spc="-170">
                <a:latin typeface="Arial MT"/>
                <a:cs typeface="Arial MT"/>
              </a:rPr>
              <a:t>and</a:t>
            </a:r>
            <a:r>
              <a:rPr dirty="0" sz="2350" spc="-114">
                <a:latin typeface="Arial MT"/>
                <a:cs typeface="Arial MT"/>
              </a:rPr>
              <a:t> </a:t>
            </a:r>
            <a:r>
              <a:rPr dirty="0" sz="2350" spc="-125">
                <a:latin typeface="Arial MT"/>
                <a:cs typeface="Arial MT"/>
              </a:rPr>
              <a:t>deployable</a:t>
            </a:r>
            <a:r>
              <a:rPr dirty="0" sz="2350" spc="45">
                <a:latin typeface="Arial MT"/>
                <a:cs typeface="Arial MT"/>
              </a:rPr>
              <a:t> </a:t>
            </a:r>
            <a:r>
              <a:rPr dirty="0" sz="2350" spc="-114">
                <a:latin typeface="Arial MT"/>
                <a:cs typeface="Arial MT"/>
              </a:rPr>
              <a:t>assets.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" y="2755900"/>
            <a:ext cx="7721600" cy="54737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5316" y="379236"/>
            <a:ext cx="12882245" cy="16478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6500"/>
              </a:lnSpc>
              <a:spcBef>
                <a:spcPts val="110"/>
              </a:spcBef>
              <a:tabLst>
                <a:tab pos="1958975" algn="l"/>
              </a:tabLst>
            </a:pPr>
            <a:r>
              <a:rPr dirty="0" sz="5750" spc="-20">
                <a:solidFill>
                  <a:srgbClr val="2D2D2D"/>
                </a:solidFill>
              </a:rPr>
              <a:t>Step</a:t>
            </a:r>
            <a:r>
              <a:rPr dirty="0" sz="5750">
                <a:solidFill>
                  <a:srgbClr val="2D2D2D"/>
                </a:solidFill>
              </a:rPr>
              <a:t>	</a:t>
            </a:r>
            <a:r>
              <a:rPr dirty="0" sz="5750" spc="-434" i="1">
                <a:solidFill>
                  <a:srgbClr val="343434"/>
                </a:solidFill>
                <a:latin typeface="Arial"/>
                <a:cs typeface="Arial"/>
              </a:rPr>
              <a:t>:</a:t>
            </a:r>
            <a:r>
              <a:rPr dirty="0" sz="5750" spc="-195" i="1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5750" spc="-55">
                <a:solidFill>
                  <a:srgbClr val="2D2D2D"/>
                </a:solidFill>
              </a:rPr>
              <a:t>Encapsulating</a:t>
            </a:r>
            <a:r>
              <a:rPr dirty="0" sz="5750" spc="-345">
                <a:solidFill>
                  <a:srgbClr val="2D2D2D"/>
                </a:solidFill>
              </a:rPr>
              <a:t> </a:t>
            </a:r>
            <a:r>
              <a:rPr dirty="0" sz="5750">
                <a:solidFill>
                  <a:srgbClr val="2D2D2D"/>
                </a:solidFill>
              </a:rPr>
              <a:t>Logic</a:t>
            </a:r>
            <a:r>
              <a:rPr dirty="0" sz="5750" spc="-320">
                <a:solidFill>
                  <a:srgbClr val="2D2D2D"/>
                </a:solidFill>
              </a:rPr>
              <a:t> </a:t>
            </a:r>
            <a:r>
              <a:rPr dirty="0" sz="5750" spc="145">
                <a:solidFill>
                  <a:srgbClr val="313131"/>
                </a:solidFill>
              </a:rPr>
              <a:t>with</a:t>
            </a:r>
            <a:r>
              <a:rPr dirty="0" sz="5750" spc="-430">
                <a:solidFill>
                  <a:srgbClr val="313131"/>
                </a:solidFill>
              </a:rPr>
              <a:t> </a:t>
            </a:r>
            <a:r>
              <a:rPr dirty="0" sz="5750" spc="-25">
                <a:solidFill>
                  <a:srgbClr val="E85421"/>
                </a:solidFill>
              </a:rPr>
              <a:t>Custom</a:t>
            </a:r>
            <a:endParaRPr sz="5750">
              <a:latin typeface="Arial"/>
              <a:cs typeface="Arial"/>
            </a:endParaRPr>
          </a:p>
          <a:p>
            <a:pPr marL="22860">
              <a:lnSpc>
                <a:spcPts val="6260"/>
              </a:lnSpc>
            </a:pPr>
            <a:r>
              <a:rPr dirty="0" sz="5550" spc="-10">
                <a:solidFill>
                  <a:srgbClr val="E95726"/>
                </a:solidFill>
              </a:rPr>
              <a:t>Containers</a:t>
            </a:r>
            <a:endParaRPr sz="5550"/>
          </a:p>
        </p:txBody>
      </p:sp>
      <p:sp>
        <p:nvSpPr>
          <p:cNvPr id="4" name="object 4" descr=""/>
          <p:cNvSpPr txBox="1"/>
          <p:nvPr/>
        </p:nvSpPr>
        <p:spPr>
          <a:xfrm>
            <a:off x="4796026" y="2729441"/>
            <a:ext cx="188023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solidFill>
                  <a:srgbClr val="0F0F0F"/>
                </a:solidFill>
                <a:latin typeface="Arial MT"/>
                <a:cs typeface="Arial MT"/>
              </a:rPr>
              <a:t>Immutable</a:t>
            </a:r>
            <a:r>
              <a:rPr dirty="0" sz="1450" spc="2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1450" spc="-40">
                <a:solidFill>
                  <a:srgbClr val="977764"/>
                </a:solidFill>
                <a:latin typeface="Arial MT"/>
                <a:cs typeface="Arial MT"/>
              </a:rPr>
              <a:t>I</a:t>
            </a:r>
            <a:r>
              <a:rPr dirty="0" sz="1450" spc="-40">
                <a:solidFill>
                  <a:srgbClr val="AF795B"/>
                </a:solidFill>
                <a:latin typeface="Arial MT"/>
                <a:cs typeface="Arial MT"/>
              </a:rPr>
              <a:t>ma</a:t>
            </a:r>
            <a:r>
              <a:rPr dirty="0" sz="1450" spc="-110">
                <a:solidFill>
                  <a:srgbClr val="AF795B"/>
                </a:solidFill>
                <a:latin typeface="Arial MT"/>
                <a:cs typeface="Arial MT"/>
              </a:rPr>
              <a:t> </a:t>
            </a:r>
            <a:r>
              <a:rPr dirty="0" sz="1450">
                <a:solidFill>
                  <a:srgbClr val="B37252"/>
                </a:solidFill>
                <a:latin typeface="Arial MT"/>
                <a:cs typeface="Arial MT"/>
              </a:rPr>
              <a:t>ge</a:t>
            </a:r>
            <a:r>
              <a:rPr dirty="0" sz="1450" spc="150">
                <a:solidFill>
                  <a:srgbClr val="B37252"/>
                </a:solidFill>
                <a:latin typeface="Arial MT"/>
                <a:cs typeface="Arial MT"/>
              </a:rPr>
              <a:t> </a:t>
            </a:r>
            <a:r>
              <a:rPr dirty="0" sz="1450" spc="-35">
                <a:solidFill>
                  <a:srgbClr val="A57254"/>
                </a:solidFill>
                <a:latin typeface="Arial MT"/>
                <a:cs typeface="Arial MT"/>
              </a:rPr>
              <a:t>URI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37768" y="8532283"/>
            <a:ext cx="101282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>
                <a:solidFill>
                  <a:srgbClr val="131313"/>
                </a:solidFill>
                <a:latin typeface="Arial MT"/>
                <a:cs typeface="Arial MT"/>
              </a:rPr>
              <a:t>Docker</a:t>
            </a:r>
            <a:r>
              <a:rPr dirty="0" sz="1650" spc="-17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050505"/>
                </a:solidFill>
                <a:latin typeface="Arial MT"/>
                <a:cs typeface="Arial MT"/>
              </a:rPr>
              <a:t>file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40395" y="8532283"/>
            <a:ext cx="132778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>
                <a:solidFill>
                  <a:srgbClr val="151515"/>
                </a:solidFill>
                <a:latin typeface="Arial MT"/>
                <a:cs typeface="Arial MT"/>
              </a:rPr>
              <a:t>Build</a:t>
            </a:r>
            <a:r>
              <a:rPr dirty="0" sz="1650" spc="14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Process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13856" y="8532283"/>
            <a:ext cx="1418590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>
                <a:solidFill>
                  <a:srgbClr val="050505"/>
                </a:solidFill>
                <a:latin typeface="Arial MT"/>
                <a:cs typeface="Arial MT"/>
              </a:rPr>
              <a:t>Custom</a:t>
            </a:r>
            <a:r>
              <a:rPr dirty="0" sz="1650" spc="275">
                <a:solidFill>
                  <a:srgbClr val="050505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80808"/>
                </a:solidFill>
                <a:latin typeface="Arial MT"/>
                <a:cs typeface="Arial MT"/>
              </a:rPr>
              <a:t>Image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31310" y="8532283"/>
            <a:ext cx="1583055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>
                <a:latin typeface="Arial MT"/>
                <a:cs typeface="Arial MT"/>
              </a:rPr>
              <a:t>Artifact</a:t>
            </a:r>
            <a:r>
              <a:rPr dirty="0" sz="1650" spc="440"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161616"/>
                </a:solidFill>
                <a:latin typeface="Arial MT"/>
                <a:cs typeface="Arial MT"/>
              </a:rPr>
              <a:t>Reg</a:t>
            </a:r>
            <a:r>
              <a:rPr dirty="0" sz="1650" spc="-10">
                <a:solidFill>
                  <a:srgbClr val="050505"/>
                </a:solidFill>
                <a:latin typeface="Arial MT"/>
                <a:cs typeface="Arial MT"/>
              </a:rPr>
              <a:t>istry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583226" y="2469797"/>
            <a:ext cx="7567295" cy="2676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>
                <a:solidFill>
                  <a:srgbClr val="2B2B2B"/>
                </a:solidFill>
                <a:latin typeface="Arial MT"/>
                <a:cs typeface="Arial MT"/>
              </a:rPr>
              <a:t>Why</a:t>
            </a:r>
            <a:r>
              <a:rPr dirty="0" sz="3400" spc="6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dirty="0" sz="3400" spc="95">
                <a:solidFill>
                  <a:srgbClr val="262626"/>
                </a:solidFill>
                <a:latin typeface="Arial MT"/>
                <a:cs typeface="Arial MT"/>
              </a:rPr>
              <a:t>Custom</a:t>
            </a:r>
            <a:r>
              <a:rPr dirty="0" sz="3400" spc="2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3400" spc="50">
                <a:solidFill>
                  <a:srgbClr val="282828"/>
                </a:solidFill>
                <a:latin typeface="Arial MT"/>
                <a:cs typeface="Arial MT"/>
              </a:rPr>
              <a:t>Containers?</a:t>
            </a:r>
            <a:endParaRPr sz="3400">
              <a:latin typeface="Arial MT"/>
              <a:cs typeface="Arial MT"/>
            </a:endParaRPr>
          </a:p>
          <a:p>
            <a:pPr marL="501650" marR="1024255" indent="-376555">
              <a:lnSpc>
                <a:spcPct val="108500"/>
              </a:lnSpc>
              <a:spcBef>
                <a:spcPts val="1780"/>
              </a:spcBef>
              <a:buChar char="•"/>
              <a:tabLst>
                <a:tab pos="501650" algn="l"/>
                <a:tab pos="509905" algn="l"/>
              </a:tabLst>
            </a:pPr>
            <a:r>
              <a:rPr dirty="0" sz="2850">
                <a:latin typeface="Arial MT"/>
                <a:cs typeface="Arial MT"/>
              </a:rPr>
              <a:t>	</a:t>
            </a:r>
            <a:r>
              <a:rPr dirty="0" sz="2850" spc="-50">
                <a:latin typeface="Arial MT"/>
                <a:cs typeface="Arial MT"/>
              </a:rPr>
              <a:t>Essential</a:t>
            </a:r>
            <a:r>
              <a:rPr dirty="0" sz="2850">
                <a:latin typeface="Arial MT"/>
                <a:cs typeface="Arial MT"/>
              </a:rPr>
              <a:t> for</a:t>
            </a:r>
            <a:r>
              <a:rPr dirty="0" sz="2850" spc="-16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models</a:t>
            </a:r>
            <a:r>
              <a:rPr dirty="0" sz="2850" spc="-1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requiring</a:t>
            </a:r>
            <a:r>
              <a:rPr dirty="0" sz="2850" spc="-75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specific </a:t>
            </a:r>
            <a:r>
              <a:rPr dirty="0" sz="2950">
                <a:latin typeface="Arial MT"/>
                <a:cs typeface="Arial MT"/>
              </a:rPr>
              <a:t>library</a:t>
            </a:r>
            <a:r>
              <a:rPr dirty="0" sz="2950" spc="-75">
                <a:latin typeface="Arial MT"/>
                <a:cs typeface="Arial MT"/>
              </a:rPr>
              <a:t> </a:t>
            </a:r>
            <a:r>
              <a:rPr dirty="0" sz="2950" spc="-55">
                <a:latin typeface="Arial MT"/>
                <a:cs typeface="Arial MT"/>
              </a:rPr>
              <a:t>versions,</a:t>
            </a:r>
            <a:r>
              <a:rPr dirty="0" sz="2950" spc="-125">
                <a:latin typeface="Arial MT"/>
                <a:cs typeface="Arial MT"/>
              </a:rPr>
              <a:t> </a:t>
            </a:r>
            <a:r>
              <a:rPr dirty="0" sz="2950" spc="-70">
                <a:latin typeface="Arial MT"/>
                <a:cs typeface="Arial MT"/>
              </a:rPr>
              <a:t>system-</a:t>
            </a:r>
            <a:r>
              <a:rPr dirty="0" sz="2950" spc="-10">
                <a:latin typeface="Arial MT"/>
                <a:cs typeface="Arial MT"/>
              </a:rPr>
              <a:t>level </a:t>
            </a:r>
            <a:r>
              <a:rPr dirty="0" sz="2900" spc="-40">
                <a:latin typeface="Arial MT"/>
                <a:cs typeface="Arial MT"/>
              </a:rPr>
              <a:t>dependencies,</a:t>
            </a:r>
            <a:r>
              <a:rPr dirty="0" sz="2900" spc="1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or</a:t>
            </a:r>
            <a:r>
              <a:rPr dirty="0" sz="2900" spc="-16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custom</a:t>
            </a:r>
            <a:r>
              <a:rPr dirty="0" sz="2900" spc="-14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prediction</a:t>
            </a:r>
            <a:endParaRPr sz="2900">
              <a:latin typeface="Arial MT"/>
              <a:cs typeface="Arial MT"/>
            </a:endParaRPr>
          </a:p>
          <a:p>
            <a:pPr marL="502284">
              <a:lnSpc>
                <a:spcPct val="100000"/>
              </a:lnSpc>
              <a:spcBef>
                <a:spcPts val="270"/>
              </a:spcBef>
            </a:pPr>
            <a:r>
              <a:rPr dirty="0" sz="2850">
                <a:latin typeface="Arial MT"/>
                <a:cs typeface="Arial MT"/>
              </a:rPr>
              <a:t>routines</a:t>
            </a:r>
            <a:r>
              <a:rPr dirty="0" sz="2850" spc="1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not</a:t>
            </a:r>
            <a:r>
              <a:rPr dirty="0" sz="2850" spc="12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supported</a:t>
            </a:r>
            <a:r>
              <a:rPr dirty="0" sz="2850" spc="19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by</a:t>
            </a:r>
            <a:r>
              <a:rPr dirty="0" sz="2850" spc="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pre-built</a:t>
            </a:r>
            <a:r>
              <a:rPr dirty="0" sz="2850" spc="180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binaries.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78371" y="5498747"/>
            <a:ext cx="7235825" cy="2646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55">
                <a:solidFill>
                  <a:srgbClr val="2D2D2D"/>
                </a:solidFill>
                <a:latin typeface="Arial MT"/>
                <a:cs typeface="Arial MT"/>
              </a:rPr>
              <a:t>The</a:t>
            </a:r>
            <a:r>
              <a:rPr dirty="0" sz="3400" spc="-145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3400" spc="105">
                <a:solidFill>
                  <a:srgbClr val="2D2D2D"/>
                </a:solidFill>
                <a:latin typeface="Arial MT"/>
                <a:cs typeface="Arial MT"/>
              </a:rPr>
              <a:t>Workflow</a:t>
            </a:r>
            <a:endParaRPr sz="3400">
              <a:latin typeface="Arial MT"/>
              <a:cs typeface="Arial MT"/>
            </a:endParaRPr>
          </a:p>
          <a:p>
            <a:pPr marL="506730" marR="5080" indent="-376555">
              <a:lnSpc>
                <a:spcPct val="108500"/>
              </a:lnSpc>
              <a:spcBef>
                <a:spcPts val="1780"/>
              </a:spcBef>
              <a:buChar char="•"/>
              <a:tabLst>
                <a:tab pos="506730" algn="l"/>
                <a:tab pos="516890" algn="l"/>
              </a:tabLst>
            </a:pPr>
            <a:r>
              <a:rPr dirty="0" sz="2850">
                <a:latin typeface="Arial MT"/>
                <a:cs typeface="Arial MT"/>
              </a:rPr>
              <a:t>	</a:t>
            </a:r>
            <a:r>
              <a:rPr dirty="0" sz="2850" spc="-160">
                <a:latin typeface="Arial MT"/>
                <a:cs typeface="Arial MT"/>
              </a:rPr>
              <a:t>You</a:t>
            </a:r>
            <a:r>
              <a:rPr dirty="0" sz="2850" spc="-5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build</a:t>
            </a:r>
            <a:r>
              <a:rPr dirty="0" sz="2850" spc="-17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the</a:t>
            </a:r>
            <a:r>
              <a:rPr dirty="0" sz="2850" spc="-16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image</a:t>
            </a:r>
            <a:r>
              <a:rPr dirty="0" sz="2850" spc="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once;</a:t>
            </a:r>
            <a:r>
              <a:rPr dirty="0" sz="2850" spc="-9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Vertex</a:t>
            </a:r>
            <a:r>
              <a:rPr dirty="0" sz="2850" spc="60">
                <a:latin typeface="Arial MT"/>
                <a:cs typeface="Arial MT"/>
              </a:rPr>
              <a:t> </a:t>
            </a:r>
            <a:r>
              <a:rPr dirty="0" sz="2850" spc="-25">
                <a:latin typeface="Arial MT"/>
                <a:cs typeface="Arial MT"/>
              </a:rPr>
              <a:t>AI</a:t>
            </a:r>
            <a:r>
              <a:rPr dirty="0" sz="2850" spc="7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Model</a:t>
            </a:r>
            <a:r>
              <a:rPr dirty="0" sz="2750" spc="1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Registry</a:t>
            </a:r>
            <a:r>
              <a:rPr dirty="0" sz="2750" spc="3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references</a:t>
            </a:r>
            <a:r>
              <a:rPr dirty="0" sz="2750" spc="484">
                <a:latin typeface="Arial MT"/>
                <a:cs typeface="Arial MT"/>
              </a:rPr>
              <a:t> </a:t>
            </a:r>
            <a:r>
              <a:rPr dirty="0" sz="2750" spc="50">
                <a:latin typeface="Arial MT"/>
                <a:cs typeface="Arial MT"/>
              </a:rPr>
              <a:t>this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 spc="80">
                <a:solidFill>
                  <a:srgbClr val="BC6041"/>
                </a:solidFill>
                <a:latin typeface="Arial MT"/>
                <a:cs typeface="Arial MT"/>
              </a:rPr>
              <a:t>immutable </a:t>
            </a:r>
            <a:r>
              <a:rPr dirty="0" sz="2850">
                <a:solidFill>
                  <a:srgbClr val="D85931"/>
                </a:solidFill>
                <a:latin typeface="Arial MT"/>
                <a:cs typeface="Arial MT"/>
              </a:rPr>
              <a:t>image</a:t>
            </a:r>
            <a:r>
              <a:rPr dirty="0" sz="2850" spc="-210">
                <a:solidFill>
                  <a:srgbClr val="D85931"/>
                </a:solidFill>
                <a:latin typeface="Arial MT"/>
                <a:cs typeface="Arial MT"/>
              </a:rPr>
              <a:t> </a:t>
            </a:r>
            <a:r>
              <a:rPr dirty="0" sz="2850" spc="-130">
                <a:solidFill>
                  <a:srgbClr val="D85021"/>
                </a:solidFill>
                <a:latin typeface="Arial MT"/>
                <a:cs typeface="Arial MT"/>
              </a:rPr>
              <a:t>URI</a:t>
            </a:r>
            <a:r>
              <a:rPr dirty="0" sz="2850" spc="-65">
                <a:solidFill>
                  <a:srgbClr val="D85021"/>
                </a:solidFill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for</a:t>
            </a:r>
            <a:r>
              <a:rPr dirty="0" sz="2850" spc="-125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every</a:t>
            </a:r>
            <a:r>
              <a:rPr dirty="0" sz="2850" spc="40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subsequent</a:t>
            </a:r>
            <a:r>
              <a:rPr dirty="0" sz="2850" spc="114">
                <a:latin typeface="Arial MT"/>
                <a:cs typeface="Arial MT"/>
              </a:rPr>
              <a:t> </a:t>
            </a:r>
            <a:r>
              <a:rPr dirty="0" sz="2850" spc="-10">
                <a:latin typeface="Arial MT"/>
                <a:cs typeface="Arial MT"/>
              </a:rPr>
              <a:t>training </a:t>
            </a:r>
            <a:r>
              <a:rPr dirty="0" sz="2900">
                <a:latin typeface="Arial MT"/>
                <a:cs typeface="Arial MT"/>
              </a:rPr>
              <a:t>run</a:t>
            </a:r>
            <a:r>
              <a:rPr dirty="0" sz="2900" spc="-105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or</a:t>
            </a:r>
            <a:r>
              <a:rPr dirty="0" sz="2900" spc="-190">
                <a:latin typeface="Arial MT"/>
                <a:cs typeface="Arial MT"/>
              </a:rPr>
              <a:t> </a:t>
            </a:r>
            <a:r>
              <a:rPr dirty="0" sz="2900">
                <a:latin typeface="Arial MT"/>
                <a:cs typeface="Arial MT"/>
              </a:rPr>
              <a:t>model</a:t>
            </a:r>
            <a:r>
              <a:rPr dirty="0" sz="2900" spc="-105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upload.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84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0300" y="1562100"/>
            <a:ext cx="15176500" cy="7226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3467" y="544688"/>
            <a:ext cx="6791325" cy="1420495"/>
          </a:xfrm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28575" marR="5080" indent="-16510">
              <a:lnSpc>
                <a:spcPts val="5150"/>
              </a:lnSpc>
              <a:spcBef>
                <a:spcPts val="840"/>
              </a:spcBef>
            </a:pPr>
            <a:r>
              <a:rPr dirty="0" sz="4850">
                <a:solidFill>
                  <a:srgbClr val="2A2A2A"/>
                </a:solidFill>
              </a:rPr>
              <a:t>Step</a:t>
            </a:r>
            <a:r>
              <a:rPr dirty="0" sz="4850" spc="110">
                <a:solidFill>
                  <a:srgbClr val="2A2A2A"/>
                </a:solidFill>
              </a:rPr>
              <a:t> </a:t>
            </a:r>
            <a:r>
              <a:rPr dirty="0" sz="4850" spc="75">
                <a:solidFill>
                  <a:srgbClr val="2B2B2B"/>
                </a:solidFill>
              </a:rPr>
              <a:t>2:</a:t>
            </a:r>
            <a:r>
              <a:rPr dirty="0" sz="4850" spc="-385">
                <a:solidFill>
                  <a:srgbClr val="2B2B2B"/>
                </a:solidFill>
              </a:rPr>
              <a:t> </a:t>
            </a:r>
            <a:r>
              <a:rPr dirty="0" sz="4850" spc="110">
                <a:solidFill>
                  <a:srgbClr val="262626"/>
                </a:solidFill>
              </a:rPr>
              <a:t>Stability</a:t>
            </a:r>
            <a:r>
              <a:rPr dirty="0" sz="4850" spc="125">
                <a:solidFill>
                  <a:srgbClr val="262626"/>
                </a:solidFill>
              </a:rPr>
              <a:t> </a:t>
            </a:r>
            <a:r>
              <a:rPr dirty="0" sz="4850" spc="75">
                <a:solidFill>
                  <a:srgbClr val="282828"/>
                </a:solidFill>
              </a:rPr>
              <a:t>through </a:t>
            </a:r>
            <a:r>
              <a:rPr dirty="0" sz="4850" spc="110">
                <a:solidFill>
                  <a:srgbClr val="282828"/>
                </a:solidFill>
              </a:rPr>
              <a:t>Auto-</a:t>
            </a:r>
            <a:r>
              <a:rPr dirty="0" sz="4850" spc="95">
                <a:solidFill>
                  <a:srgbClr val="282828"/>
                </a:solidFill>
              </a:rPr>
              <a:t>Versioning</a:t>
            </a:r>
            <a:endParaRPr sz="4850"/>
          </a:p>
        </p:txBody>
      </p:sp>
      <p:sp>
        <p:nvSpPr>
          <p:cNvPr id="4" name="object 4" descr=""/>
          <p:cNvSpPr txBox="1"/>
          <p:nvPr/>
        </p:nvSpPr>
        <p:spPr>
          <a:xfrm>
            <a:off x="1713577" y="4912077"/>
            <a:ext cx="3096895" cy="101854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24765" marR="5080" indent="-12700">
              <a:lnSpc>
                <a:spcPct val="97500"/>
              </a:lnSpc>
              <a:spcBef>
                <a:spcPts val="185"/>
              </a:spcBef>
            </a:pPr>
            <a:r>
              <a:rPr dirty="0" sz="2200">
                <a:latin typeface="Arial MT"/>
                <a:cs typeface="Arial MT"/>
              </a:rPr>
              <a:t>Immutable</a:t>
            </a:r>
            <a:r>
              <a:rPr dirty="0" sz="2200" spc="-9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History:</a:t>
            </a:r>
            <a:r>
              <a:rPr dirty="0" sz="2200" spc="550">
                <a:latin typeface="Arial MT"/>
                <a:cs typeface="Arial MT"/>
              </a:rPr>
              <a:t>  </a:t>
            </a:r>
            <a:r>
              <a:rPr dirty="0" sz="2200" spc="-75">
                <a:latin typeface="Arial MT"/>
                <a:cs typeface="Arial MT"/>
              </a:rPr>
              <a:t>Once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40">
                <a:latin typeface="Arial MT"/>
                <a:cs typeface="Arial MT"/>
              </a:rPr>
              <a:t>uploaded,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</a:t>
            </a:r>
            <a:r>
              <a:rPr dirty="0" sz="2200" spc="-70">
                <a:latin typeface="Arial MT"/>
                <a:cs typeface="Arial MT"/>
              </a:rPr>
              <a:t> </a:t>
            </a:r>
            <a:r>
              <a:rPr dirty="0" sz="2200" spc="-30">
                <a:latin typeface="Arial MT"/>
                <a:cs typeface="Arial MT"/>
              </a:rPr>
              <a:t>version </a:t>
            </a:r>
            <a:r>
              <a:rPr dirty="0" sz="2200" spc="-85">
                <a:latin typeface="Arial MT"/>
                <a:cs typeface="Arial MT"/>
              </a:rPr>
              <a:t>ID</a:t>
            </a:r>
            <a:r>
              <a:rPr dirty="0" sz="2200" spc="-120">
                <a:latin typeface="Arial MT"/>
                <a:cs typeface="Arial MT"/>
              </a:rPr>
              <a:t> </a:t>
            </a:r>
            <a:r>
              <a:rPr dirty="0" sz="2200" spc="-40">
                <a:latin typeface="Arial MT"/>
                <a:cs typeface="Arial MT"/>
              </a:rPr>
              <a:t>never</a:t>
            </a:r>
            <a:r>
              <a:rPr dirty="0" sz="2200" spc="-10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changes.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893026" y="4212519"/>
            <a:ext cx="3267710" cy="137668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12700" marR="5080" indent="10160">
              <a:lnSpc>
                <a:spcPct val="93400"/>
              </a:lnSpc>
              <a:spcBef>
                <a:spcPts val="320"/>
              </a:spcBef>
            </a:pPr>
            <a:r>
              <a:rPr dirty="0" sz="2400" spc="-85">
                <a:latin typeface="Arial MT"/>
                <a:cs typeface="Arial MT"/>
              </a:rPr>
              <a:t>Automatic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Incrementing: </a:t>
            </a:r>
            <a:r>
              <a:rPr dirty="0" sz="2300" spc="-95">
                <a:latin typeface="Arial MT"/>
                <a:cs typeface="Arial MT"/>
              </a:rPr>
              <a:t>Uploading</a:t>
            </a:r>
            <a:r>
              <a:rPr dirty="0" sz="2300" spc="35">
                <a:latin typeface="Arial MT"/>
                <a:cs typeface="Arial MT"/>
              </a:rPr>
              <a:t> </a:t>
            </a:r>
            <a:r>
              <a:rPr dirty="0" sz="2300">
                <a:latin typeface="Arial MT"/>
                <a:cs typeface="Arial MT"/>
              </a:rPr>
              <a:t>to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 spc="-160">
                <a:latin typeface="Arial MT"/>
                <a:cs typeface="Arial MT"/>
              </a:rPr>
              <a:t>an</a:t>
            </a:r>
            <a:r>
              <a:rPr dirty="0" sz="2300" spc="-10">
                <a:latin typeface="Arial MT"/>
                <a:cs typeface="Arial MT"/>
              </a:rPr>
              <a:t> </a:t>
            </a:r>
            <a:r>
              <a:rPr dirty="0" sz="2300" spc="-80">
                <a:latin typeface="Arial MT"/>
                <a:cs typeface="Arial MT"/>
              </a:rPr>
              <a:t>existing</a:t>
            </a:r>
            <a:r>
              <a:rPr dirty="0" sz="2300" spc="-75">
                <a:latin typeface="Arial MT"/>
                <a:cs typeface="Arial MT"/>
              </a:rPr>
              <a:t> </a:t>
            </a:r>
            <a:r>
              <a:rPr dirty="0" sz="2300" spc="-25">
                <a:latin typeface="Arial MT"/>
                <a:cs typeface="Arial MT"/>
              </a:rPr>
              <a:t>ID </a:t>
            </a:r>
            <a:r>
              <a:rPr dirty="0" sz="2300" spc="-100">
                <a:latin typeface="Arial MT"/>
                <a:cs typeface="Arial MT"/>
              </a:rPr>
              <a:t>generates</a:t>
            </a:r>
            <a:r>
              <a:rPr dirty="0" sz="2300" spc="-6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the</a:t>
            </a:r>
            <a:r>
              <a:rPr dirty="0" sz="2300" spc="-95">
                <a:latin typeface="Arial MT"/>
                <a:cs typeface="Arial MT"/>
              </a:rPr>
              <a:t> </a:t>
            </a:r>
            <a:r>
              <a:rPr dirty="0" sz="2300" spc="-20">
                <a:latin typeface="Arial MT"/>
                <a:cs typeface="Arial MT"/>
              </a:rPr>
              <a:t>next </a:t>
            </a:r>
            <a:r>
              <a:rPr dirty="0" sz="2300" spc="-105">
                <a:latin typeface="Arial MT"/>
                <a:cs typeface="Arial MT"/>
              </a:rPr>
              <a:t>sequential</a:t>
            </a:r>
            <a:r>
              <a:rPr dirty="0" sz="2300" spc="30">
                <a:latin typeface="Arial MT"/>
                <a:cs typeface="Arial MT"/>
              </a:rPr>
              <a:t> </a:t>
            </a:r>
            <a:r>
              <a:rPr dirty="0" sz="2300" spc="-10">
                <a:latin typeface="Arial MT"/>
                <a:cs typeface="Arial MT"/>
              </a:rPr>
              <a:t>number.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6900" y="1257300"/>
            <a:ext cx="584200" cy="520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4900" y="3848100"/>
            <a:ext cx="1066800" cy="33528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03900" y="3746500"/>
            <a:ext cx="1117600" cy="800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26600" y="3594100"/>
            <a:ext cx="165100" cy="787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91100" y="5080000"/>
            <a:ext cx="4724400" cy="32893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77212" y="1029405"/>
            <a:ext cx="1557655" cy="89344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700" spc="30"/>
              <a:t>Step</a:t>
            </a:r>
            <a:endParaRPr sz="5700"/>
          </a:p>
        </p:txBody>
      </p:sp>
      <p:sp>
        <p:nvSpPr>
          <p:cNvPr id="8" name="object 8" descr=""/>
          <p:cNvSpPr txBox="1"/>
          <p:nvPr/>
        </p:nvSpPr>
        <p:spPr>
          <a:xfrm>
            <a:off x="3925361" y="1029405"/>
            <a:ext cx="10100945" cy="89344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700" spc="195">
                <a:solidFill>
                  <a:srgbClr val="2F2F2F"/>
                </a:solidFill>
                <a:latin typeface="Arial MT"/>
                <a:cs typeface="Arial MT"/>
              </a:rPr>
              <a:t>Agility</a:t>
            </a:r>
            <a:r>
              <a:rPr dirty="0" sz="5700" spc="-9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5700" spc="185">
                <a:solidFill>
                  <a:srgbClr val="313131"/>
                </a:solidFill>
                <a:latin typeface="Arial MT"/>
                <a:cs typeface="Arial MT"/>
              </a:rPr>
              <a:t>through</a:t>
            </a:r>
            <a:r>
              <a:rPr dirty="0" sz="5700" spc="-145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5700" spc="150">
                <a:solidFill>
                  <a:srgbClr val="2F2F2F"/>
                </a:solidFill>
                <a:latin typeface="Arial MT"/>
                <a:cs typeface="Arial MT"/>
              </a:rPr>
              <a:t>Model</a:t>
            </a:r>
            <a:r>
              <a:rPr dirty="0" sz="5700" spc="-75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dirty="0" sz="5700" spc="80">
                <a:solidFill>
                  <a:srgbClr val="2F2F2F"/>
                </a:solidFill>
                <a:latin typeface="Arial MT"/>
                <a:cs typeface="Arial MT"/>
              </a:rPr>
              <a:t>Aliasing</a:t>
            </a:r>
            <a:endParaRPr sz="57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79614" y="4308122"/>
            <a:ext cx="541655" cy="639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000" spc="-25">
                <a:solidFill>
                  <a:srgbClr val="3A3A3A"/>
                </a:solidFill>
                <a:latin typeface="Arial MT"/>
                <a:cs typeface="Arial MT"/>
              </a:rPr>
              <a:t>*Z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877409" y="5812366"/>
            <a:ext cx="542925" cy="723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50" spc="-95">
                <a:solidFill>
                  <a:srgbClr val="383838"/>
                </a:solidFill>
                <a:latin typeface="Arial MT"/>
                <a:cs typeface="Arial MT"/>
              </a:rPr>
              <a:t>*2</a:t>
            </a:r>
            <a:endParaRPr sz="45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917163" y="7249583"/>
            <a:ext cx="525780" cy="660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150" spc="-25">
                <a:solidFill>
                  <a:srgbClr val="3A3A3A"/>
                </a:solidFill>
                <a:latin typeface="Arial MT"/>
                <a:cs typeface="Arial MT"/>
              </a:rPr>
              <a:t>*1</a:t>
            </a:r>
            <a:endParaRPr sz="41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982705" y="2835971"/>
            <a:ext cx="5621655" cy="2078355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720"/>
              </a:spcBef>
            </a:pPr>
            <a:r>
              <a:rPr dirty="0" sz="3050" spc="80">
                <a:latin typeface="Arial MT"/>
                <a:cs typeface="Arial MT"/>
              </a:rPr>
              <a:t>**Mutable</a:t>
            </a:r>
            <a:r>
              <a:rPr dirty="0" sz="3050" spc="-100">
                <a:latin typeface="Arial MT"/>
                <a:cs typeface="Arial MT"/>
              </a:rPr>
              <a:t> </a:t>
            </a:r>
            <a:r>
              <a:rPr dirty="0" sz="3050" spc="60">
                <a:latin typeface="Arial MT"/>
                <a:cs typeface="Arial MT"/>
              </a:rPr>
              <a:t>Pointers**:</a:t>
            </a:r>
            <a:endParaRPr sz="3050">
              <a:latin typeface="Arial MT"/>
              <a:cs typeface="Arial MT"/>
            </a:endParaRPr>
          </a:p>
          <a:p>
            <a:pPr marL="13970" marR="5080" indent="-1905">
              <a:lnSpc>
                <a:spcPts val="3100"/>
              </a:lnSpc>
              <a:spcBef>
                <a:spcPts val="1660"/>
              </a:spcBef>
            </a:pPr>
            <a:r>
              <a:rPr dirty="0" sz="2700" spc="-40">
                <a:latin typeface="Arial MT"/>
                <a:cs typeface="Arial MT"/>
              </a:rPr>
              <a:t>Aliases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are</a:t>
            </a:r>
            <a:r>
              <a:rPr dirty="0" sz="2700" spc="-105">
                <a:latin typeface="Arial MT"/>
                <a:cs typeface="Arial MT"/>
              </a:rPr>
              <a:t> </a:t>
            </a:r>
            <a:r>
              <a:rPr dirty="0" sz="2700" spc="-25">
                <a:latin typeface="Arial MT"/>
                <a:cs typeface="Arial MT"/>
              </a:rPr>
              <a:t>user-</a:t>
            </a:r>
            <a:r>
              <a:rPr dirty="0" sz="2700">
                <a:latin typeface="Arial MT"/>
                <a:cs typeface="Arial MT"/>
              </a:rPr>
              <a:t>defined</a:t>
            </a:r>
            <a:r>
              <a:rPr dirty="0" sz="2700" spc="5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references </a:t>
            </a:r>
            <a:r>
              <a:rPr dirty="0" sz="2700" spc="-35">
                <a:latin typeface="Arial MT"/>
                <a:cs typeface="Arial MT"/>
              </a:rPr>
              <a:t>(e.g.,</a:t>
            </a:r>
            <a:r>
              <a:rPr dirty="0" sz="2700" spc="-110">
                <a:latin typeface="Arial MT"/>
                <a:cs typeface="Arial MT"/>
              </a:rPr>
              <a:t> </a:t>
            </a:r>
            <a:r>
              <a:rPr dirty="0" sz="2700" spc="-45">
                <a:latin typeface="Arial MT"/>
                <a:cs typeface="Arial MT"/>
              </a:rPr>
              <a:t>‘prod’,</a:t>
            </a:r>
            <a:r>
              <a:rPr dirty="0" sz="2700" spc="-80">
                <a:latin typeface="Arial MT"/>
                <a:cs typeface="Arial MT"/>
              </a:rPr>
              <a:t> </a:t>
            </a:r>
            <a:r>
              <a:rPr dirty="0" sz="2700" spc="-25">
                <a:latin typeface="Arial MT"/>
                <a:cs typeface="Arial MT"/>
              </a:rPr>
              <a:t>‘challenger’)</a:t>
            </a:r>
            <a:r>
              <a:rPr dirty="0" sz="2700" spc="21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that</a:t>
            </a:r>
            <a:r>
              <a:rPr dirty="0" sz="2700" spc="4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point </a:t>
            </a:r>
            <a:r>
              <a:rPr dirty="0" sz="2700" spc="45">
                <a:latin typeface="Arial MT"/>
                <a:cs typeface="Arial MT"/>
              </a:rPr>
              <a:t>to </a:t>
            </a:r>
            <a:r>
              <a:rPr dirty="0" sz="2700">
                <a:latin typeface="Arial MT"/>
                <a:cs typeface="Arial MT"/>
              </a:rPr>
              <a:t>specific</a:t>
            </a:r>
            <a:r>
              <a:rPr dirty="0" sz="2700" spc="80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version</a:t>
            </a:r>
            <a:r>
              <a:rPr dirty="0" sz="2700" spc="-75">
                <a:latin typeface="Arial MT"/>
                <a:cs typeface="Arial MT"/>
              </a:rPr>
              <a:t> </a:t>
            </a:r>
            <a:r>
              <a:rPr dirty="0" sz="2700" spc="-20">
                <a:latin typeface="Arial MT"/>
                <a:cs typeface="Arial MT"/>
              </a:rPr>
              <a:t>IDs.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981751" y="5887938"/>
            <a:ext cx="5836285" cy="2339340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2950" spc="110">
                <a:latin typeface="Arial MT"/>
                <a:cs typeface="Arial MT"/>
              </a:rPr>
              <a:t>”*Decoupled</a:t>
            </a:r>
            <a:r>
              <a:rPr dirty="0" sz="2950" spc="5">
                <a:latin typeface="Arial MT"/>
                <a:cs typeface="Arial MT"/>
              </a:rPr>
              <a:t> </a:t>
            </a:r>
            <a:r>
              <a:rPr dirty="0" sz="2950" spc="110">
                <a:latin typeface="Arial MT"/>
                <a:cs typeface="Arial MT"/>
              </a:rPr>
              <a:t>Deployment”*:</a:t>
            </a:r>
            <a:endParaRPr sz="2950">
              <a:latin typeface="Arial MT"/>
              <a:cs typeface="Arial MT"/>
            </a:endParaRPr>
          </a:p>
          <a:p>
            <a:pPr marL="40640" marR="5080" indent="10795">
              <a:lnSpc>
                <a:spcPts val="3100"/>
              </a:lnSpc>
              <a:spcBef>
                <a:spcPts val="1330"/>
              </a:spcBef>
            </a:pPr>
            <a:r>
              <a:rPr dirty="0" sz="2850" spc="-70">
                <a:latin typeface="Arial MT"/>
                <a:cs typeface="Arial MT"/>
              </a:rPr>
              <a:t>Application</a:t>
            </a:r>
            <a:r>
              <a:rPr dirty="0" sz="2850" spc="-95">
                <a:latin typeface="Arial MT"/>
                <a:cs typeface="Arial MT"/>
              </a:rPr>
              <a:t> </a:t>
            </a:r>
            <a:r>
              <a:rPr dirty="0" sz="2850" spc="-50">
                <a:latin typeface="Arial MT"/>
                <a:cs typeface="Arial MT"/>
              </a:rPr>
              <a:t>code</a:t>
            </a:r>
            <a:r>
              <a:rPr dirty="0" sz="2850" spc="-150">
                <a:latin typeface="Arial MT"/>
                <a:cs typeface="Arial MT"/>
              </a:rPr>
              <a:t> </a:t>
            </a:r>
            <a:r>
              <a:rPr dirty="0" sz="2850" spc="-65">
                <a:latin typeface="Arial MT"/>
                <a:cs typeface="Arial MT"/>
              </a:rPr>
              <a:t>references</a:t>
            </a:r>
            <a:r>
              <a:rPr dirty="0" sz="2850" spc="-30">
                <a:latin typeface="Arial MT"/>
                <a:cs typeface="Arial MT"/>
              </a:rPr>
              <a:t> </a:t>
            </a:r>
            <a:r>
              <a:rPr dirty="0" sz="2850">
                <a:latin typeface="Arial MT"/>
                <a:cs typeface="Arial MT"/>
              </a:rPr>
              <a:t>the</a:t>
            </a:r>
            <a:r>
              <a:rPr dirty="0" sz="2850" spc="-195">
                <a:latin typeface="Arial MT"/>
                <a:cs typeface="Arial MT"/>
              </a:rPr>
              <a:t> </a:t>
            </a:r>
            <a:r>
              <a:rPr dirty="0" sz="2850" spc="-45" i="1">
                <a:latin typeface="Arial"/>
                <a:cs typeface="Arial"/>
              </a:rPr>
              <a:t>Alias, </a:t>
            </a:r>
            <a:r>
              <a:rPr dirty="0" sz="2750">
                <a:latin typeface="Arial MT"/>
                <a:cs typeface="Arial MT"/>
              </a:rPr>
              <a:t>not</a:t>
            </a:r>
            <a:r>
              <a:rPr dirty="0" sz="2750" spc="-7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the</a:t>
            </a:r>
            <a:r>
              <a:rPr dirty="0" sz="2750" spc="-190">
                <a:latin typeface="Arial MT"/>
                <a:cs typeface="Arial MT"/>
              </a:rPr>
              <a:t> </a:t>
            </a:r>
            <a:r>
              <a:rPr dirty="0" sz="2750" spc="-20" i="1">
                <a:latin typeface="Arial"/>
                <a:cs typeface="Arial"/>
              </a:rPr>
              <a:t>Version.</a:t>
            </a:r>
            <a:r>
              <a:rPr dirty="0" sz="2750" i="1">
                <a:latin typeface="Arial"/>
                <a:cs typeface="Arial"/>
              </a:rPr>
              <a:t> </a:t>
            </a:r>
            <a:r>
              <a:rPr dirty="0" sz="2750" spc="-10">
                <a:latin typeface="Arial MT"/>
                <a:cs typeface="Arial MT"/>
              </a:rPr>
              <a:t>This</a:t>
            </a:r>
            <a:r>
              <a:rPr dirty="0" sz="2750" spc="-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allows</a:t>
            </a:r>
            <a:r>
              <a:rPr dirty="0" sz="2750" spc="6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backend </a:t>
            </a:r>
            <a:r>
              <a:rPr dirty="0" sz="2750">
                <a:latin typeface="Arial MT"/>
                <a:cs typeface="Arial MT"/>
              </a:rPr>
              <a:t>model</a:t>
            </a:r>
            <a:r>
              <a:rPr dirty="0" sz="2750" spc="6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swaps</a:t>
            </a:r>
            <a:r>
              <a:rPr dirty="0" sz="2750" spc="8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without</a:t>
            </a:r>
            <a:r>
              <a:rPr dirty="0" sz="2750" spc="10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frontend</a:t>
            </a:r>
            <a:r>
              <a:rPr dirty="0" sz="2750" spc="5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code </a:t>
            </a:r>
            <a:r>
              <a:rPr dirty="0" sz="2600" spc="-10">
                <a:latin typeface="Arial MT"/>
                <a:cs typeface="Arial MT"/>
              </a:rPr>
              <a:t>changes.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5900" y="6654800"/>
            <a:ext cx="1219200" cy="4699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9700" y="2730500"/>
            <a:ext cx="723900" cy="63500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962400" y="2730500"/>
            <a:ext cx="7188200" cy="5283200"/>
            <a:chOff x="3962400" y="2730500"/>
            <a:chExt cx="7188200" cy="528320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2400" y="2730500"/>
              <a:ext cx="6362700" cy="6477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50500" y="2755900"/>
              <a:ext cx="800100" cy="5257800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382182" y="2722032"/>
            <a:ext cx="0" cy="4851400"/>
          </a:xfrm>
          <a:custGeom>
            <a:avLst/>
            <a:gdLst/>
            <a:ahLst/>
            <a:cxnLst/>
            <a:rect l="l" t="t" r="r" b="b"/>
            <a:pathLst>
              <a:path w="0" h="4851400">
                <a:moveTo>
                  <a:pt x="0" y="4851400"/>
                </a:moveTo>
                <a:lnTo>
                  <a:pt x="0" y="0"/>
                </a:lnTo>
              </a:path>
            </a:pathLst>
          </a:custGeom>
          <a:ln w="12700">
            <a:solidFill>
              <a:srgbClr val="44484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375832" y="2722032"/>
            <a:ext cx="8957945" cy="4851400"/>
            <a:chOff x="1375832" y="2722032"/>
            <a:chExt cx="8957945" cy="4851400"/>
          </a:xfrm>
        </p:grpSpPr>
        <p:sp>
          <p:nvSpPr>
            <p:cNvPr id="9" name="object 9" descr=""/>
            <p:cNvSpPr/>
            <p:nvPr/>
          </p:nvSpPr>
          <p:spPr>
            <a:xfrm>
              <a:off x="10327216" y="2722032"/>
              <a:ext cx="0" cy="4851400"/>
            </a:xfrm>
            <a:custGeom>
              <a:avLst/>
              <a:gdLst/>
              <a:ahLst/>
              <a:cxnLst/>
              <a:rect l="l" t="t" r="r" b="b"/>
              <a:pathLst>
                <a:path w="0" h="4851400">
                  <a:moveTo>
                    <a:pt x="0" y="48514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75832" y="2728382"/>
              <a:ext cx="8957945" cy="0"/>
            </a:xfrm>
            <a:custGeom>
              <a:avLst/>
              <a:gdLst/>
              <a:ahLst/>
              <a:cxnLst/>
              <a:rect l="l" t="t" r="r" b="b"/>
              <a:pathLst>
                <a:path w="8957945" h="0">
                  <a:moveTo>
                    <a:pt x="0" y="0"/>
                  </a:moveTo>
                  <a:lnTo>
                    <a:pt x="8957733" y="0"/>
                  </a:lnTo>
                </a:path>
              </a:pathLst>
            </a:custGeom>
            <a:ln w="12700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75832" y="7567082"/>
              <a:ext cx="8957945" cy="0"/>
            </a:xfrm>
            <a:custGeom>
              <a:avLst/>
              <a:gdLst/>
              <a:ahLst/>
              <a:cxnLst/>
              <a:rect l="l" t="t" r="r" b="b"/>
              <a:pathLst>
                <a:path w="8957945" h="0">
                  <a:moveTo>
                    <a:pt x="0" y="0"/>
                  </a:moveTo>
                  <a:lnTo>
                    <a:pt x="8957733" y="0"/>
                  </a:lnTo>
                </a:path>
              </a:pathLst>
            </a:custGeom>
            <a:ln w="12700">
              <a:solidFill>
                <a:srgbClr val="44484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5461000" y="1238250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 h="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4500" y="6934200"/>
            <a:ext cx="76200" cy="26670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617" rIns="0" bIns="0" rtlCol="0" vert="horz">
            <a:spAutoFit/>
          </a:bodyPr>
          <a:lstStyle/>
          <a:p>
            <a:pPr marL="789305">
              <a:lnSpc>
                <a:spcPct val="100000"/>
              </a:lnSpc>
              <a:spcBef>
                <a:spcPts val="135"/>
              </a:spcBef>
            </a:pPr>
            <a:r>
              <a:rPr dirty="0" spc="150"/>
              <a:t>Implementation:</a:t>
            </a:r>
            <a:r>
              <a:rPr dirty="0" spc="-745"/>
              <a:t> </a:t>
            </a:r>
            <a:r>
              <a:rPr dirty="0"/>
              <a:t>Registration</a:t>
            </a:r>
            <a:r>
              <a:rPr dirty="0" spc="290"/>
              <a:t> </a:t>
            </a:r>
            <a:r>
              <a:rPr dirty="0" spc="260"/>
              <a:t>with</a:t>
            </a:r>
            <a:r>
              <a:rPr dirty="0" spc="-20"/>
              <a:t> </a:t>
            </a:r>
            <a:r>
              <a:rPr dirty="0" spc="-10">
                <a:solidFill>
                  <a:srgbClr val="2D2D2D"/>
                </a:solidFill>
              </a:rPr>
              <a:t>Aliases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322962" y="2786591"/>
            <a:ext cx="106235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700" spc="-20">
                <a:latin typeface="Arial MT"/>
                <a:cs typeface="Arial MT"/>
              </a:rPr>
              <a:t>Python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68467" y="3587750"/>
            <a:ext cx="5485130" cy="1219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500" spc="-305">
                <a:solidFill>
                  <a:srgbClr val="4F4F4F"/>
                </a:solidFill>
                <a:latin typeface="Courier New"/>
                <a:cs typeface="Courier New"/>
              </a:rPr>
              <a:t>from</a:t>
            </a:r>
            <a:r>
              <a:rPr dirty="0" sz="2500" spc="5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dirty="0" sz="2500" spc="-305">
                <a:latin typeface="Courier New"/>
                <a:cs typeface="Courier New"/>
              </a:rPr>
              <a:t>googIe.cloud</a:t>
            </a:r>
            <a:r>
              <a:rPr dirty="0" sz="2500" spc="229">
                <a:latin typeface="Courier New"/>
                <a:cs typeface="Courier New"/>
              </a:rPr>
              <a:t> </a:t>
            </a:r>
            <a:r>
              <a:rPr dirty="0" sz="2500" spc="-290">
                <a:solidFill>
                  <a:srgbClr val="4B4B4B"/>
                </a:solidFill>
                <a:latin typeface="Courier New"/>
                <a:cs typeface="Courier New"/>
              </a:rPr>
              <a:t>import</a:t>
            </a:r>
            <a:r>
              <a:rPr dirty="0" sz="2500" spc="-135">
                <a:solidFill>
                  <a:srgbClr val="4B4B4B"/>
                </a:solidFill>
                <a:latin typeface="Courier New"/>
                <a:cs typeface="Courier New"/>
              </a:rPr>
              <a:t> </a:t>
            </a:r>
            <a:r>
              <a:rPr dirty="0" sz="2500" spc="-315">
                <a:latin typeface="Courier New"/>
                <a:cs typeface="Courier New"/>
              </a:rPr>
              <a:t>aiplatfonm</a:t>
            </a:r>
            <a:endParaRPr sz="2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2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tabLst>
                <a:tab pos="1278890" algn="l"/>
              </a:tabLst>
            </a:pPr>
            <a:r>
              <a:rPr dirty="0" sz="2500" spc="-10">
                <a:latin typeface="Arial MT"/>
                <a:cs typeface="Arial MT"/>
              </a:rPr>
              <a:t>riodet</a:t>
            </a:r>
            <a:r>
              <a:rPr dirty="0" sz="2500">
                <a:latin typeface="Arial MT"/>
                <a:cs typeface="Arial MT"/>
              </a:rPr>
              <a:t>	</a:t>
            </a:r>
            <a:r>
              <a:rPr dirty="0" sz="2500" spc="95">
                <a:latin typeface="Arial MT"/>
                <a:cs typeface="Arial MT"/>
              </a:rPr>
              <a:t>a1ptatforri.</a:t>
            </a:r>
            <a:r>
              <a:rPr dirty="0" sz="2500" spc="-405">
                <a:latin typeface="Arial MT"/>
                <a:cs typeface="Arial MT"/>
              </a:rPr>
              <a:t> </a:t>
            </a:r>
            <a:r>
              <a:rPr dirty="0" sz="2500" spc="-50">
                <a:latin typeface="Arial MT"/>
                <a:cs typeface="Arial MT"/>
              </a:rPr>
              <a:t>Model.</a:t>
            </a:r>
            <a:r>
              <a:rPr dirty="0" sz="2500" spc="-41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upload(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301775" y="4795533"/>
            <a:ext cx="7916545" cy="123063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290"/>
              </a:spcBef>
            </a:pPr>
            <a:r>
              <a:rPr dirty="0" sz="2400" spc="-75">
                <a:latin typeface="Consolas"/>
                <a:cs typeface="Consolas"/>
              </a:rPr>
              <a:t>display</a:t>
            </a:r>
            <a:r>
              <a:rPr dirty="0" sz="2400" spc="-260">
                <a:latin typeface="Consolas"/>
                <a:cs typeface="Consolas"/>
              </a:rPr>
              <a:t> </a:t>
            </a:r>
            <a:r>
              <a:rPr dirty="0" sz="2400" spc="-60">
                <a:latin typeface="Consolas"/>
                <a:cs typeface="Consolas"/>
              </a:rPr>
              <a:t>name=”my</a:t>
            </a:r>
            <a:r>
              <a:rPr dirty="0" sz="2400" spc="-229">
                <a:latin typeface="Consolas"/>
                <a:cs typeface="Consolas"/>
              </a:rPr>
              <a:t> </a:t>
            </a:r>
            <a:r>
              <a:rPr dirty="0" sz="2400" spc="-30">
                <a:latin typeface="Consolas"/>
                <a:cs typeface="Consolas"/>
              </a:rPr>
              <a:t>ouszom_mode{”,</a:t>
            </a:r>
            <a:endParaRPr sz="2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r>
              <a:rPr dirty="0" sz="2500" spc="-290">
                <a:latin typeface="Courier New"/>
                <a:cs typeface="Courier New"/>
              </a:rPr>
              <a:t>artifact</a:t>
            </a:r>
            <a:r>
              <a:rPr dirty="0" sz="2500" spc="40">
                <a:latin typeface="Courier New"/>
                <a:cs typeface="Courier New"/>
              </a:rPr>
              <a:t> </a:t>
            </a:r>
            <a:r>
              <a:rPr dirty="0" sz="2500" spc="-275">
                <a:latin typeface="Courier New"/>
                <a:cs typeface="Courier New"/>
              </a:rPr>
              <a:t>uri-”gs://my-bucket/saved</a:t>
            </a:r>
            <a:r>
              <a:rPr dirty="0" sz="2500" spc="145">
                <a:latin typeface="Courier New"/>
                <a:cs typeface="Courier New"/>
              </a:rPr>
              <a:t> </a:t>
            </a:r>
            <a:r>
              <a:rPr dirty="0" sz="2500" spc="-315">
                <a:latin typeface="Courier New"/>
                <a:cs typeface="Courier New"/>
              </a:rPr>
              <a:t>model”,</a:t>
            </a:r>
            <a:endParaRPr sz="2500">
              <a:latin typeface="Courier New"/>
              <a:cs typeface="Courier New"/>
            </a:endParaRPr>
          </a:p>
          <a:p>
            <a:pPr marL="2540">
              <a:lnSpc>
                <a:spcPct val="100000"/>
              </a:lnSpc>
              <a:spcBef>
                <a:spcPts val="250"/>
              </a:spcBef>
            </a:pPr>
            <a:r>
              <a:rPr dirty="0" sz="2500" spc="-305">
                <a:latin typeface="Courier New"/>
                <a:cs typeface="Courier New"/>
              </a:rPr>
              <a:t>serving</a:t>
            </a:r>
            <a:r>
              <a:rPr dirty="0" sz="2500" spc="35">
                <a:latin typeface="Courier New"/>
                <a:cs typeface="Courier New"/>
              </a:rPr>
              <a:t> </a:t>
            </a:r>
            <a:r>
              <a:rPr dirty="0" sz="2500" spc="-290">
                <a:latin typeface="Courier New"/>
                <a:cs typeface="Courier New"/>
              </a:rPr>
              <a:t>container</a:t>
            </a:r>
            <a:r>
              <a:rPr dirty="0" sz="2500" spc="-55">
                <a:latin typeface="Courier New"/>
                <a:cs typeface="Courier New"/>
              </a:rPr>
              <a:t> </a:t>
            </a:r>
            <a:r>
              <a:rPr dirty="0" sz="2500" spc="-290">
                <a:latin typeface="Courier New"/>
                <a:cs typeface="Courier New"/>
              </a:rPr>
              <a:t>image</a:t>
            </a:r>
            <a:r>
              <a:rPr dirty="0" sz="2500" spc="-55">
                <a:latin typeface="Courier New"/>
                <a:cs typeface="Courier New"/>
              </a:rPr>
              <a:t> </a:t>
            </a:r>
            <a:r>
              <a:rPr dirty="0" sz="2500" spc="-260">
                <a:latin typeface="Courier New"/>
                <a:cs typeface="Courier New"/>
              </a:rPr>
              <a:t>uri-”gcr.io/prj/my-</a:t>
            </a:r>
            <a:r>
              <a:rPr dirty="0" sz="2500" spc="-270">
                <a:latin typeface="Courier New"/>
                <a:cs typeface="Courier New"/>
              </a:rPr>
              <a:t>image”,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320898" y="2858205"/>
            <a:ext cx="4371975" cy="2057400"/>
          </a:xfrm>
          <a:prstGeom prst="rect">
            <a:avLst/>
          </a:prstGeom>
        </p:spPr>
        <p:txBody>
          <a:bodyPr wrap="square" lIns="0" tIns="215265" rIns="0" bIns="0" rtlCol="0" vert="horz">
            <a:spAutoFit/>
          </a:bodyPr>
          <a:lstStyle/>
          <a:p>
            <a:pPr marL="19685" indent="14604">
              <a:lnSpc>
                <a:spcPct val="100000"/>
              </a:lnSpc>
              <a:spcBef>
                <a:spcPts val="1695"/>
              </a:spcBef>
            </a:pPr>
            <a:r>
              <a:rPr dirty="0" sz="2750" spc="50">
                <a:latin typeface="Arial MT"/>
                <a:cs typeface="Arial MT"/>
              </a:rPr>
              <a:t>*’Auto-</a:t>
            </a:r>
            <a:r>
              <a:rPr dirty="0" sz="2750" spc="60">
                <a:latin typeface="Arial MT"/>
                <a:cs typeface="Arial MT"/>
              </a:rPr>
              <a:t>Versioning</a:t>
            </a:r>
            <a:r>
              <a:rPr dirty="0" sz="2750" spc="-229">
                <a:latin typeface="Arial MT"/>
                <a:cs typeface="Arial MT"/>
              </a:rPr>
              <a:t> </a:t>
            </a:r>
            <a:r>
              <a:rPr dirty="0" sz="2750" spc="75">
                <a:latin typeface="Arial MT"/>
                <a:cs typeface="Arial MT"/>
              </a:rPr>
              <a:t>Trigger*’</a:t>
            </a:r>
            <a:endParaRPr sz="2750">
              <a:latin typeface="Arial MT"/>
              <a:cs typeface="Arial MT"/>
            </a:endParaRPr>
          </a:p>
          <a:p>
            <a:pPr marL="12700" marR="177165" indent="6985">
              <a:lnSpc>
                <a:spcPts val="3100"/>
              </a:lnSpc>
              <a:spcBef>
                <a:spcPts val="1870"/>
              </a:spcBef>
            </a:pPr>
            <a:r>
              <a:rPr dirty="0" sz="2750" spc="-30">
                <a:latin typeface="Arial MT"/>
                <a:cs typeface="Arial MT"/>
              </a:rPr>
              <a:t>Linking</a:t>
            </a:r>
            <a:r>
              <a:rPr dirty="0" sz="2750" spc="-100">
                <a:latin typeface="Arial MT"/>
                <a:cs typeface="Arial MT"/>
              </a:rPr>
              <a:t> </a:t>
            </a:r>
            <a:r>
              <a:rPr dirty="0" sz="2750" spc="50">
                <a:latin typeface="Arial MT"/>
                <a:cs typeface="Arial MT"/>
              </a:rPr>
              <a:t>to</a:t>
            </a:r>
            <a:r>
              <a:rPr dirty="0" sz="2750" spc="-190">
                <a:latin typeface="Arial MT"/>
                <a:cs typeface="Arial MT"/>
              </a:rPr>
              <a:t> </a:t>
            </a:r>
            <a:r>
              <a:rPr dirty="0" sz="2750" spc="-50">
                <a:latin typeface="Arial MT"/>
                <a:cs typeface="Arial MT"/>
              </a:rPr>
              <a:t>an</a:t>
            </a:r>
            <a:r>
              <a:rPr dirty="0" sz="2750" spc="-14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existing</a:t>
            </a:r>
            <a:r>
              <a:rPr dirty="0" sz="2750" spc="-100">
                <a:latin typeface="Arial MT"/>
                <a:cs typeface="Arial MT"/>
              </a:rPr>
              <a:t> </a:t>
            </a:r>
            <a:r>
              <a:rPr dirty="0" sz="2750" spc="-50">
                <a:latin typeface="Arial MT"/>
                <a:cs typeface="Arial MT"/>
              </a:rPr>
              <a:t>model </a:t>
            </a:r>
            <a:r>
              <a:rPr dirty="0" sz="2750" spc="-110">
                <a:latin typeface="Arial MT"/>
                <a:cs typeface="Arial MT"/>
              </a:rPr>
              <a:t>ID</a:t>
            </a:r>
            <a:r>
              <a:rPr dirty="0" sz="2750" spc="-85">
                <a:latin typeface="Arial MT"/>
                <a:cs typeface="Arial MT"/>
              </a:rPr>
              <a:t> </a:t>
            </a:r>
            <a:r>
              <a:rPr dirty="0" sz="2750" spc="-45">
                <a:latin typeface="Arial MT"/>
                <a:cs typeface="Arial MT"/>
              </a:rPr>
              <a:t>causes</a:t>
            </a:r>
            <a:r>
              <a:rPr dirty="0" sz="2750" spc="-13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this</a:t>
            </a:r>
            <a:r>
              <a:rPr dirty="0" sz="2750" spc="-160">
                <a:latin typeface="Arial MT"/>
                <a:cs typeface="Arial MT"/>
              </a:rPr>
              <a:t> </a:t>
            </a:r>
            <a:r>
              <a:rPr dirty="0" sz="2750" spc="-30">
                <a:latin typeface="Arial MT"/>
                <a:cs typeface="Arial MT"/>
              </a:rPr>
              <a:t>upload</a:t>
            </a:r>
            <a:r>
              <a:rPr dirty="0" sz="2750" spc="-60">
                <a:latin typeface="Arial MT"/>
                <a:cs typeface="Arial MT"/>
              </a:rPr>
              <a:t> </a:t>
            </a:r>
            <a:r>
              <a:rPr dirty="0" sz="2750" spc="25">
                <a:latin typeface="Arial MT"/>
                <a:cs typeface="Arial MT"/>
              </a:rPr>
              <a:t>to </a:t>
            </a:r>
            <a:r>
              <a:rPr dirty="0" sz="2750" spc="-20">
                <a:latin typeface="Arial MT"/>
                <a:cs typeface="Arial MT"/>
              </a:rPr>
              <a:t>become</a:t>
            </a:r>
            <a:r>
              <a:rPr dirty="0" sz="2750" spc="-105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v+1.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315288" y="6042730"/>
            <a:ext cx="4373245" cy="788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1091565" algn="l"/>
              </a:tabLst>
            </a:pPr>
            <a:r>
              <a:rPr dirty="0" sz="2550" spc="-10">
                <a:latin typeface="Arial MT"/>
                <a:cs typeface="Arial MT"/>
              </a:rPr>
              <a:t>parent</a:t>
            </a:r>
            <a:r>
              <a:rPr dirty="0" sz="2550">
                <a:latin typeface="Arial MT"/>
                <a:cs typeface="Arial MT"/>
              </a:rPr>
              <a:t>	</a:t>
            </a:r>
            <a:r>
              <a:rPr dirty="0" sz="2550" spc="-20">
                <a:latin typeface="Arial MT"/>
                <a:cs typeface="Arial MT"/>
              </a:rPr>
              <a:t>nodes=</a:t>
            </a:r>
            <a:r>
              <a:rPr dirty="0" sz="2550" spc="-20">
                <a:solidFill>
                  <a:srgbClr val="9A6650"/>
                </a:solidFill>
                <a:latin typeface="Arial MT"/>
                <a:cs typeface="Arial MT"/>
              </a:rPr>
              <a:t>"</a:t>
            </a:r>
            <a:r>
              <a:rPr dirty="0" sz="2550" spc="-20">
                <a:solidFill>
                  <a:srgbClr val="BC6746"/>
                </a:solidFill>
                <a:latin typeface="Arial MT"/>
                <a:cs typeface="Arial MT"/>
              </a:rPr>
              <a:t>projects/123/...</a:t>
            </a:r>
            <a:endParaRPr sz="2550">
              <a:latin typeface="Arial MT"/>
              <a:cs typeface="Arial MT"/>
            </a:endParaRPr>
          </a:p>
          <a:p>
            <a:pPr marL="4445">
              <a:lnSpc>
                <a:spcPct val="100000"/>
              </a:lnSpc>
              <a:spcBef>
                <a:spcPts val="40"/>
              </a:spcBef>
              <a:tabLst>
                <a:tab pos="1254760" algn="l"/>
                <a:tab pos="2856230" algn="l"/>
              </a:tabLst>
            </a:pPr>
            <a:r>
              <a:rPr dirty="0" sz="2400" spc="85">
                <a:latin typeface="Arial MT"/>
                <a:cs typeface="Arial MT"/>
              </a:rPr>
              <a:t>version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25">
                <a:latin typeface="Arial MT"/>
                <a:cs typeface="Arial MT"/>
              </a:rPr>
              <a:t>aI1ases=</a:t>
            </a:r>
            <a:r>
              <a:rPr dirty="0" sz="2400" spc="-2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I"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70">
                <a:solidFill>
                  <a:srgbClr val="954D36"/>
                </a:solidFill>
                <a:latin typeface="Arial MT"/>
                <a:cs typeface="Arial MT"/>
              </a:rPr>
              <a:t>staging</a:t>
            </a:r>
            <a:r>
              <a:rPr dirty="0" sz="2400" spc="215">
                <a:solidFill>
                  <a:srgbClr val="954D36"/>
                </a:solidFill>
                <a:latin typeface="Arial MT"/>
                <a:cs typeface="Arial MT"/>
              </a:rPr>
              <a:t> </a:t>
            </a:r>
            <a:r>
              <a:rPr dirty="0" sz="2400" spc="190">
                <a:solidFill>
                  <a:srgbClr val="C47B60"/>
                </a:solidFill>
                <a:latin typeface="Arial MT"/>
                <a:cs typeface="Arial MT"/>
              </a:rPr>
              <a:t>'</a:t>
            </a:r>
            <a:r>
              <a:rPr dirty="0" sz="2400" spc="19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754929" y="5963607"/>
            <a:ext cx="3171825" cy="86741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53670">
              <a:lnSpc>
                <a:spcPct val="100000"/>
              </a:lnSpc>
              <a:spcBef>
                <a:spcPts val="440"/>
              </a:spcBef>
            </a:pPr>
            <a:r>
              <a:rPr dirty="0" sz="2550" spc="-85">
                <a:solidFill>
                  <a:srgbClr val="B87056"/>
                </a:solidFill>
                <a:latin typeface="Arial MT"/>
                <a:cs typeface="Arial MT"/>
              </a:rPr>
              <a:t>/modeIs/my-model-</a:t>
            </a:r>
            <a:r>
              <a:rPr dirty="0" sz="2550" spc="-315">
                <a:solidFill>
                  <a:srgbClr val="B87056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CF795D"/>
                </a:solidFill>
                <a:latin typeface="Arial MT"/>
                <a:cs typeface="Arial MT"/>
              </a:rPr>
              <a:t>id"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dirty="0" sz="2400">
                <a:solidFill>
                  <a:srgbClr val="AA8577"/>
                </a:solidFill>
                <a:latin typeface="Arial MT"/>
                <a:cs typeface="Arial MT"/>
              </a:rPr>
              <a:t>"</a:t>
            </a:r>
            <a:r>
              <a:rPr dirty="0" sz="2400">
                <a:solidFill>
                  <a:srgbClr val="90482F"/>
                </a:solidFill>
                <a:latin typeface="Arial MT"/>
                <a:cs typeface="Arial MT"/>
              </a:rPr>
              <a:t>exper'iment_a</a:t>
            </a:r>
            <a:r>
              <a:rPr dirty="0" sz="2400">
                <a:solidFill>
                  <a:srgbClr val="C3755E"/>
                </a:solidFill>
                <a:latin typeface="Arial MT"/>
                <a:cs typeface="Arial MT"/>
              </a:rPr>
              <a:t>"</a:t>
            </a:r>
            <a:r>
              <a:rPr dirty="0" sz="2400" spc="-85">
                <a:solidFill>
                  <a:srgbClr val="C3755E"/>
                </a:solidFill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]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329381" y="5917291"/>
            <a:ext cx="4209415" cy="2018664"/>
          </a:xfrm>
          <a:prstGeom prst="rect">
            <a:avLst/>
          </a:prstGeom>
        </p:spPr>
        <p:txBody>
          <a:bodyPr wrap="square" lIns="0" tIns="203835" rIns="0" bIns="0" rtlCol="0" vert="horz">
            <a:spAutoFit/>
          </a:bodyPr>
          <a:lstStyle/>
          <a:p>
            <a:pPr algn="just" marL="26670">
              <a:lnSpc>
                <a:spcPct val="100000"/>
              </a:lnSpc>
              <a:spcBef>
                <a:spcPts val="1605"/>
              </a:spcBef>
            </a:pPr>
            <a:r>
              <a:rPr dirty="0" sz="2550" spc="155">
                <a:latin typeface="Arial MT"/>
                <a:cs typeface="Arial MT"/>
              </a:rPr>
              <a:t>**Immediate</a:t>
            </a:r>
            <a:r>
              <a:rPr dirty="0" sz="2550" spc="185">
                <a:latin typeface="Arial MT"/>
                <a:cs typeface="Arial MT"/>
              </a:rPr>
              <a:t> </a:t>
            </a:r>
            <a:r>
              <a:rPr dirty="0" sz="2550" spc="210">
                <a:latin typeface="Arial MT"/>
                <a:cs typeface="Arial MT"/>
              </a:rPr>
              <a:t>Tagging*’:</a:t>
            </a:r>
            <a:endParaRPr sz="2550">
              <a:latin typeface="Arial MT"/>
              <a:cs typeface="Arial MT"/>
            </a:endParaRPr>
          </a:p>
          <a:p>
            <a:pPr algn="just" marL="12700" marR="5080" indent="12065">
              <a:lnSpc>
                <a:spcPct val="88700"/>
              </a:lnSpc>
              <a:spcBef>
                <a:spcPts val="2014"/>
              </a:spcBef>
            </a:pPr>
            <a:r>
              <a:rPr dirty="0" sz="2750" spc="-85">
                <a:latin typeface="Arial MT"/>
                <a:cs typeface="Arial MT"/>
              </a:rPr>
              <a:t>Assigns</a:t>
            </a:r>
            <a:r>
              <a:rPr dirty="0" sz="2750" spc="-11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mutable</a:t>
            </a:r>
            <a:r>
              <a:rPr dirty="0" sz="2750" spc="-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tags</a:t>
            </a:r>
            <a:r>
              <a:rPr dirty="0" sz="2750" spc="-1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at</a:t>
            </a:r>
            <a:r>
              <a:rPr dirty="0" sz="2750" spc="-140">
                <a:latin typeface="Arial MT"/>
                <a:cs typeface="Arial MT"/>
              </a:rPr>
              <a:t> </a:t>
            </a:r>
            <a:r>
              <a:rPr dirty="0" sz="2750" spc="-25">
                <a:latin typeface="Arial MT"/>
                <a:cs typeface="Arial MT"/>
              </a:rPr>
              <a:t>the </a:t>
            </a:r>
            <a:r>
              <a:rPr dirty="0" sz="2900" spc="-135">
                <a:latin typeface="Arial MT"/>
                <a:cs typeface="Arial MT"/>
              </a:rPr>
              <a:t>moment</a:t>
            </a:r>
            <a:r>
              <a:rPr dirty="0" sz="2900" spc="-45">
                <a:latin typeface="Arial MT"/>
                <a:cs typeface="Arial MT"/>
              </a:rPr>
              <a:t> </a:t>
            </a:r>
            <a:r>
              <a:rPr dirty="0" sz="2900" spc="-60">
                <a:latin typeface="Arial MT"/>
                <a:cs typeface="Arial MT"/>
              </a:rPr>
              <a:t>of</a:t>
            </a:r>
            <a:r>
              <a:rPr dirty="0" sz="2900" spc="-140">
                <a:latin typeface="Arial MT"/>
                <a:cs typeface="Arial MT"/>
              </a:rPr>
              <a:t> </a:t>
            </a:r>
            <a:r>
              <a:rPr dirty="0" sz="2900" spc="-95">
                <a:latin typeface="Arial MT"/>
                <a:cs typeface="Arial MT"/>
              </a:rPr>
              <a:t>creation,</a:t>
            </a:r>
            <a:r>
              <a:rPr dirty="0" sz="2900" spc="-3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saving </a:t>
            </a:r>
            <a:r>
              <a:rPr dirty="0" sz="2900" spc="-180">
                <a:latin typeface="Arial MT"/>
                <a:cs typeface="Arial MT"/>
              </a:rPr>
              <a:t>manual</a:t>
            </a:r>
            <a:r>
              <a:rPr dirty="0" sz="2900" spc="-20">
                <a:latin typeface="Arial MT"/>
                <a:cs typeface="Arial MT"/>
              </a:rPr>
              <a:t> </a:t>
            </a:r>
            <a:r>
              <a:rPr dirty="0" sz="2900" spc="-254">
                <a:latin typeface="Arial MT"/>
                <a:cs typeface="Arial MT"/>
              </a:rPr>
              <a:t>API</a:t>
            </a:r>
            <a:r>
              <a:rPr dirty="0" sz="2900" spc="-160">
                <a:latin typeface="Arial MT"/>
                <a:cs typeface="Arial MT"/>
              </a:rPr>
              <a:t> </a:t>
            </a:r>
            <a:r>
              <a:rPr dirty="0" sz="2900" spc="-10">
                <a:latin typeface="Arial MT"/>
                <a:cs typeface="Arial MT"/>
              </a:rPr>
              <a:t>calls.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2273300"/>
            <a:ext cx="14706600" cy="6654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67872" y="301184"/>
            <a:ext cx="13223875" cy="1611630"/>
          </a:xfrm>
          <a:prstGeom prst="rect"/>
        </p:spPr>
        <p:txBody>
          <a:bodyPr wrap="square" lIns="0" tIns="206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dirty="0" sz="5350" spc="-60">
                <a:solidFill>
                  <a:srgbClr val="2D2D2D"/>
                </a:solidFill>
              </a:rPr>
              <a:t>Consumption</a:t>
            </a:r>
            <a:r>
              <a:rPr dirty="0" sz="5350" spc="-290">
                <a:solidFill>
                  <a:srgbClr val="2D2D2D"/>
                </a:solidFill>
              </a:rPr>
              <a:t> </a:t>
            </a:r>
            <a:r>
              <a:rPr dirty="0" sz="5350">
                <a:solidFill>
                  <a:srgbClr val="313131"/>
                </a:solidFill>
              </a:rPr>
              <a:t>Strategy</a:t>
            </a:r>
            <a:r>
              <a:rPr dirty="0" sz="5350" spc="-35">
                <a:solidFill>
                  <a:srgbClr val="313131"/>
                </a:solidFill>
              </a:rPr>
              <a:t> </a:t>
            </a:r>
            <a:r>
              <a:rPr dirty="0" sz="5350" spc="-60">
                <a:solidFill>
                  <a:srgbClr val="333333"/>
                </a:solidFill>
              </a:rPr>
              <a:t>A:</a:t>
            </a:r>
            <a:r>
              <a:rPr dirty="0" sz="5350" spc="-635">
                <a:solidFill>
                  <a:srgbClr val="333333"/>
                </a:solidFill>
              </a:rPr>
              <a:t> </a:t>
            </a:r>
            <a:r>
              <a:rPr dirty="0" sz="5350" spc="-110"/>
              <a:t>Loading</a:t>
            </a:r>
            <a:r>
              <a:rPr dirty="0" sz="5350" spc="-260"/>
              <a:t> </a:t>
            </a:r>
            <a:r>
              <a:rPr dirty="0" sz="5350">
                <a:solidFill>
                  <a:srgbClr val="313131"/>
                </a:solidFill>
              </a:rPr>
              <a:t>by</a:t>
            </a:r>
            <a:r>
              <a:rPr dirty="0" sz="5350" spc="-315">
                <a:solidFill>
                  <a:srgbClr val="313131"/>
                </a:solidFill>
              </a:rPr>
              <a:t> </a:t>
            </a:r>
            <a:r>
              <a:rPr dirty="0" sz="5350" spc="-10">
                <a:solidFill>
                  <a:srgbClr val="313131"/>
                </a:solidFill>
              </a:rPr>
              <a:t>Version</a:t>
            </a:r>
            <a:endParaRPr sz="5350"/>
          </a:p>
          <a:p>
            <a:pPr marL="15875">
              <a:lnSpc>
                <a:spcPct val="100000"/>
              </a:lnSpc>
              <a:spcBef>
                <a:spcPts val="880"/>
              </a:spcBef>
            </a:pPr>
            <a:r>
              <a:rPr dirty="0" sz="3050">
                <a:solidFill>
                  <a:srgbClr val="595959"/>
                </a:solidFill>
              </a:rPr>
              <a:t>Use</a:t>
            </a:r>
            <a:r>
              <a:rPr dirty="0" sz="3050" spc="-60">
                <a:solidFill>
                  <a:srgbClr val="595959"/>
                </a:solidFill>
              </a:rPr>
              <a:t> Case:</a:t>
            </a:r>
            <a:r>
              <a:rPr dirty="0" sz="3050" spc="-120">
                <a:solidFill>
                  <a:srgbClr val="595959"/>
                </a:solidFill>
              </a:rPr>
              <a:t> </a:t>
            </a:r>
            <a:r>
              <a:rPr dirty="0" sz="3050">
                <a:solidFill>
                  <a:srgbClr val="525252"/>
                </a:solidFill>
              </a:rPr>
              <a:t>Debugging,</a:t>
            </a:r>
            <a:r>
              <a:rPr dirty="0" sz="3050" spc="15">
                <a:solidFill>
                  <a:srgbClr val="525252"/>
                </a:solidFill>
              </a:rPr>
              <a:t> </a:t>
            </a:r>
            <a:r>
              <a:rPr dirty="0" sz="3050">
                <a:solidFill>
                  <a:srgbClr val="4D4D4D"/>
                </a:solidFill>
              </a:rPr>
              <a:t>Auditing,</a:t>
            </a:r>
            <a:r>
              <a:rPr dirty="0" sz="3050" spc="5">
                <a:solidFill>
                  <a:srgbClr val="4D4D4D"/>
                </a:solidFill>
              </a:rPr>
              <a:t> </a:t>
            </a:r>
            <a:r>
              <a:rPr dirty="0" sz="3050">
                <a:solidFill>
                  <a:srgbClr val="575757"/>
                </a:solidFill>
              </a:rPr>
              <a:t>Scientific</a:t>
            </a:r>
            <a:r>
              <a:rPr dirty="0" sz="3050" spc="80">
                <a:solidFill>
                  <a:srgbClr val="575757"/>
                </a:solidFill>
              </a:rPr>
              <a:t> </a:t>
            </a:r>
            <a:r>
              <a:rPr dirty="0" sz="3050" spc="-10">
                <a:solidFill>
                  <a:srgbClr val="4D4D4D"/>
                </a:solidFill>
              </a:rPr>
              <a:t>Reproducibility</a:t>
            </a:r>
            <a:endParaRPr sz="3050"/>
          </a:p>
        </p:txBody>
      </p:sp>
      <p:sp>
        <p:nvSpPr>
          <p:cNvPr id="4" name="object 4" descr=""/>
          <p:cNvSpPr txBox="1"/>
          <p:nvPr/>
        </p:nvSpPr>
        <p:spPr>
          <a:xfrm>
            <a:off x="1158309" y="3792008"/>
            <a:ext cx="7993380" cy="19259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68300">
              <a:lnSpc>
                <a:spcPct val="100000"/>
              </a:lnSpc>
              <a:spcBef>
                <a:spcPts val="90"/>
              </a:spcBef>
            </a:pPr>
            <a:r>
              <a:rPr dirty="0" sz="2300" spc="-10">
                <a:solidFill>
                  <a:srgbClr val="070707"/>
                </a:solidFill>
                <a:latin typeface="Arial MT"/>
                <a:cs typeface="Arial MT"/>
              </a:rPr>
              <a:t>Python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2300">
              <a:latin typeface="Arial MT"/>
              <a:cs typeface="Arial MT"/>
            </a:endParaRPr>
          </a:p>
          <a:p>
            <a:pPr marL="2278380">
              <a:lnSpc>
                <a:spcPct val="100000"/>
              </a:lnSpc>
            </a:pPr>
            <a:r>
              <a:rPr dirty="0" sz="2350" spc="-260">
                <a:solidFill>
                  <a:srgbClr val="525252"/>
                </a:solidFill>
                <a:latin typeface="Courier New"/>
                <a:cs typeface="Courier New"/>
              </a:rPr>
              <a:t>specific</a:t>
            </a:r>
            <a:r>
              <a:rPr dirty="0" sz="2350" spc="25">
                <a:solidFill>
                  <a:srgbClr val="525252"/>
                </a:solidFill>
                <a:latin typeface="Courier New"/>
                <a:cs typeface="Courier New"/>
              </a:rPr>
              <a:t> </a:t>
            </a:r>
            <a:r>
              <a:rPr dirty="0" sz="2350" spc="-260">
                <a:solidFill>
                  <a:srgbClr val="4B4B4B"/>
                </a:solidFill>
                <a:latin typeface="Courier New"/>
                <a:cs typeface="Courier New"/>
              </a:rPr>
              <a:t>immutable</a:t>
            </a:r>
            <a:r>
              <a:rPr dirty="0" sz="2350" spc="65">
                <a:solidFill>
                  <a:srgbClr val="4B4B4B"/>
                </a:solidFill>
                <a:latin typeface="Courier New"/>
                <a:cs typeface="Courier New"/>
              </a:rPr>
              <a:t> </a:t>
            </a:r>
            <a:r>
              <a:rPr dirty="0" sz="2350" spc="-260">
                <a:solidFill>
                  <a:srgbClr val="4D4D4D"/>
                </a:solidFill>
                <a:latin typeface="Courier New"/>
                <a:cs typeface="Courier New"/>
              </a:rPr>
              <a:t>historical</a:t>
            </a:r>
            <a:r>
              <a:rPr dirty="0" sz="2350" spc="10">
                <a:solidFill>
                  <a:srgbClr val="4D4D4D"/>
                </a:solidFill>
                <a:latin typeface="Courier New"/>
                <a:cs typeface="Courier New"/>
              </a:rPr>
              <a:t> </a:t>
            </a:r>
            <a:r>
              <a:rPr dirty="0" sz="2350" spc="-285">
                <a:solidFill>
                  <a:srgbClr val="565656"/>
                </a:solidFill>
                <a:latin typeface="Courier New"/>
                <a:cs typeface="Courier New"/>
              </a:rPr>
              <a:t>version</a:t>
            </a:r>
            <a:endParaRPr sz="2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  <a:tabLst>
                <a:tab pos="478155" algn="l"/>
              </a:tabLst>
            </a:pPr>
            <a:r>
              <a:rPr dirty="0" sz="2500" spc="-50">
                <a:solidFill>
                  <a:srgbClr val="5D5D5D"/>
                </a:solidFill>
                <a:latin typeface="Consolas"/>
                <a:cs typeface="Consolas"/>
              </a:rPr>
              <a:t>2</a:t>
            </a:r>
            <a:r>
              <a:rPr dirty="0" sz="2500">
                <a:solidFill>
                  <a:srgbClr val="5D5D5D"/>
                </a:solidFill>
                <a:latin typeface="Consolas"/>
                <a:cs typeface="Consolas"/>
              </a:rPr>
              <a:t>	</a:t>
            </a:r>
            <a:r>
              <a:rPr dirty="0" sz="2500" spc="-220">
                <a:latin typeface="Consolas"/>
                <a:cs typeface="Consolas"/>
              </a:rPr>
              <a:t>model</a:t>
            </a:r>
            <a:r>
              <a:rPr dirty="0" sz="2500" spc="-110">
                <a:latin typeface="Consolas"/>
                <a:cs typeface="Consolas"/>
              </a:rPr>
              <a:t> </a:t>
            </a:r>
            <a:r>
              <a:rPr dirty="0" sz="2500" spc="-110">
                <a:solidFill>
                  <a:srgbClr val="0F0F0F"/>
                </a:solidFill>
                <a:latin typeface="Consolas"/>
                <a:cs typeface="Consolas"/>
              </a:rPr>
              <a:t>=</a:t>
            </a:r>
            <a:r>
              <a:rPr dirty="0" sz="2500" spc="-335">
                <a:solidFill>
                  <a:srgbClr val="0F0F0F"/>
                </a:solidFill>
                <a:latin typeface="Consolas"/>
                <a:cs typeface="Consolas"/>
              </a:rPr>
              <a:t> </a:t>
            </a:r>
            <a:r>
              <a:rPr dirty="0" sz="2500" spc="-130">
                <a:latin typeface="Consolas"/>
                <a:cs typeface="Consolas"/>
              </a:rPr>
              <a:t>aiplatfonm.Nodel(</a:t>
            </a:r>
            <a:endParaRPr sz="2500">
              <a:latin typeface="Consolas"/>
              <a:cs typeface="Consolas"/>
            </a:endParaRPr>
          </a:p>
          <a:p>
            <a:pPr marL="1089025">
              <a:lnSpc>
                <a:spcPct val="100000"/>
              </a:lnSpc>
              <a:spcBef>
                <a:spcPts val="200"/>
              </a:spcBef>
            </a:pPr>
            <a:r>
              <a:rPr dirty="0" sz="2350" spc="-130">
                <a:latin typeface="Consolas"/>
                <a:cs typeface="Consolas"/>
              </a:rPr>
              <a:t>model_name=”pnojectS/.../mode{s/my-model-</a:t>
            </a:r>
            <a:r>
              <a:rPr dirty="0" sz="2350" spc="-10">
                <a:latin typeface="Consolas"/>
                <a:cs typeface="Consolas"/>
              </a:rPr>
              <a:t>id@2”</a:t>
            </a:r>
            <a:endParaRPr sz="23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070100"/>
            <a:ext cx="14287500" cy="5321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9800" y="1028700"/>
            <a:ext cx="685800" cy="6223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29700" y="8128000"/>
            <a:ext cx="1447800" cy="342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01551" y="776463"/>
            <a:ext cx="8553450" cy="197358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22225">
              <a:lnSpc>
                <a:spcPts val="7470"/>
              </a:lnSpc>
              <a:spcBef>
                <a:spcPts val="135"/>
              </a:spcBef>
            </a:pPr>
            <a:r>
              <a:rPr dirty="0" sz="6700">
                <a:solidFill>
                  <a:srgbClr val="313131"/>
                </a:solidFill>
              </a:rPr>
              <a:t>Consumption</a:t>
            </a:r>
            <a:r>
              <a:rPr dirty="0" sz="6700" spc="130">
                <a:solidFill>
                  <a:srgbClr val="313131"/>
                </a:solidFill>
              </a:rPr>
              <a:t> </a:t>
            </a:r>
            <a:r>
              <a:rPr dirty="0" sz="6700" spc="-10">
                <a:solidFill>
                  <a:srgbClr val="333333"/>
                </a:solidFill>
              </a:rPr>
              <a:t>Strategy</a:t>
            </a:r>
            <a:endParaRPr sz="6700"/>
          </a:p>
          <a:p>
            <a:pPr marL="12700">
              <a:lnSpc>
                <a:spcPts val="7830"/>
              </a:lnSpc>
            </a:pPr>
            <a:r>
              <a:rPr dirty="0" sz="7000" spc="-150"/>
              <a:t>Loading</a:t>
            </a:r>
            <a:r>
              <a:rPr dirty="0" sz="7000" spc="-350"/>
              <a:t> </a:t>
            </a:r>
            <a:r>
              <a:rPr dirty="0" sz="7000">
                <a:solidFill>
                  <a:srgbClr val="343434"/>
                </a:solidFill>
              </a:rPr>
              <a:t>by</a:t>
            </a:r>
            <a:r>
              <a:rPr dirty="0" sz="7000" spc="-270">
                <a:solidFill>
                  <a:srgbClr val="343434"/>
                </a:solidFill>
              </a:rPr>
              <a:t> </a:t>
            </a:r>
            <a:r>
              <a:rPr dirty="0" sz="7000" spc="-20">
                <a:solidFill>
                  <a:srgbClr val="343434"/>
                </a:solidFill>
              </a:rPr>
              <a:t>Alias</a:t>
            </a:r>
            <a:endParaRPr sz="7000"/>
          </a:p>
        </p:txBody>
      </p:sp>
      <p:sp>
        <p:nvSpPr>
          <p:cNvPr id="6" name="object 6" descr=""/>
          <p:cNvSpPr txBox="1"/>
          <p:nvPr/>
        </p:nvSpPr>
        <p:spPr>
          <a:xfrm>
            <a:off x="1023595" y="2971094"/>
            <a:ext cx="7910195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50" spc="-50">
                <a:solidFill>
                  <a:srgbClr val="4F4F4F"/>
                </a:solidFill>
                <a:latin typeface="Arial MT"/>
                <a:cs typeface="Arial MT"/>
              </a:rPr>
              <a:t>Use</a:t>
            </a:r>
            <a:r>
              <a:rPr dirty="0" sz="3050" spc="-16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050" spc="-60">
                <a:solidFill>
                  <a:srgbClr val="4D4D4D"/>
                </a:solidFill>
                <a:latin typeface="Arial MT"/>
                <a:cs typeface="Arial MT"/>
              </a:rPr>
              <a:t>Case:</a:t>
            </a:r>
            <a:r>
              <a:rPr dirty="0" sz="3050" spc="-15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3050">
                <a:solidFill>
                  <a:srgbClr val="4D4D4D"/>
                </a:solidFill>
                <a:latin typeface="Arial MT"/>
                <a:cs typeface="Arial MT"/>
              </a:rPr>
              <a:t>Production</a:t>
            </a:r>
            <a:r>
              <a:rPr dirty="0" sz="3050" spc="-10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3050" spc="-20">
                <a:solidFill>
                  <a:srgbClr val="484848"/>
                </a:solidFill>
                <a:latin typeface="Arial MT"/>
                <a:cs typeface="Arial MT"/>
              </a:rPr>
              <a:t>Serving,</a:t>
            </a:r>
            <a:r>
              <a:rPr dirty="0" sz="3050" spc="-13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3050" spc="-70">
                <a:solidFill>
                  <a:srgbClr val="4F4F4F"/>
                </a:solidFill>
                <a:latin typeface="Arial MT"/>
                <a:cs typeface="Arial MT"/>
              </a:rPr>
              <a:t>CI/CD</a:t>
            </a:r>
            <a:r>
              <a:rPr dirty="0" sz="3050" spc="-8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050" spc="-55">
                <a:solidFill>
                  <a:srgbClr val="494949"/>
                </a:solidFill>
                <a:latin typeface="Arial MT"/>
                <a:cs typeface="Arial MT"/>
              </a:rPr>
              <a:t>Pipelines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64088" y="5081763"/>
            <a:ext cx="69151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-10">
                <a:solidFill>
                  <a:srgbClr val="262626"/>
                </a:solidFill>
                <a:latin typeface="Arial MT"/>
                <a:cs typeface="Arial MT"/>
              </a:rPr>
              <a:t>Python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33995" y="6344631"/>
            <a:ext cx="13501369" cy="236537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340"/>
              </a:spcBef>
              <a:tabLst>
                <a:tab pos="315595" algn="l"/>
                <a:tab pos="1461135" algn="l"/>
                <a:tab pos="2028189" algn="l"/>
                <a:tab pos="3162300" algn="l"/>
                <a:tab pos="4308475" algn="l"/>
                <a:tab pos="4876800" algn="l"/>
              </a:tabLst>
            </a:pPr>
            <a:r>
              <a:rPr dirty="0" sz="2150" spc="-50">
                <a:solidFill>
                  <a:srgbClr val="696969"/>
                </a:solidFill>
                <a:latin typeface="Arial MT"/>
                <a:cs typeface="Arial MT"/>
              </a:rPr>
              <a:t>#</a:t>
            </a:r>
            <a:r>
              <a:rPr dirty="0" sz="2150">
                <a:solidFill>
                  <a:srgbClr val="696969"/>
                </a:solidFill>
                <a:latin typeface="Arial MT"/>
                <a:cs typeface="Arial MT"/>
              </a:rPr>
              <a:t>	</a:t>
            </a:r>
            <a:r>
              <a:rPr dirty="0" sz="2150" spc="-10">
                <a:solidFill>
                  <a:srgbClr val="4B4B4B"/>
                </a:solidFill>
                <a:latin typeface="Arial MT"/>
                <a:cs typeface="Arial MT"/>
              </a:rPr>
              <a:t>Loading</a:t>
            </a:r>
            <a:r>
              <a:rPr dirty="0" sz="21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150" spc="60">
                <a:solidFill>
                  <a:srgbClr val="464646"/>
                </a:solidFill>
                <a:latin typeface="Arial MT"/>
                <a:cs typeface="Arial MT"/>
              </a:rPr>
              <a:t>the</a:t>
            </a:r>
            <a:r>
              <a:rPr dirty="0" sz="215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150" spc="-10">
                <a:solidFill>
                  <a:srgbClr val="4B4B4B"/>
                </a:solidFill>
                <a:latin typeface="Arial MT"/>
                <a:cs typeface="Arial MT"/>
              </a:rPr>
              <a:t>dynamic</a:t>
            </a:r>
            <a:r>
              <a:rPr dirty="0" sz="21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150" spc="130">
                <a:solidFill>
                  <a:srgbClr val="4B4B4B"/>
                </a:solidFill>
                <a:latin typeface="Arial MT"/>
                <a:cs typeface="Arial MT"/>
              </a:rPr>
              <a:t>pointer</a:t>
            </a:r>
            <a:r>
              <a:rPr dirty="0" sz="21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150" spc="10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215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2150" spc="75">
                <a:solidFill>
                  <a:srgbClr val="4D4D4D"/>
                </a:solidFill>
                <a:latin typeface="Arial MT"/>
                <a:cs typeface="Arial MT"/>
              </a:rPr>
              <a:t>production</a:t>
            </a: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878840" algn="l"/>
                <a:tab pos="1163955" algn="l"/>
              </a:tabLst>
            </a:pPr>
            <a:r>
              <a:rPr dirty="0" sz="2200" spc="-10">
                <a:latin typeface="Arial MT"/>
                <a:cs typeface="Arial MT"/>
              </a:rPr>
              <a:t>model</a:t>
            </a:r>
            <a:r>
              <a:rPr dirty="0" sz="2200">
                <a:latin typeface="Arial MT"/>
                <a:cs typeface="Arial MT"/>
              </a:rPr>
              <a:t>	</a:t>
            </a:r>
            <a:r>
              <a:rPr dirty="0" sz="2200" spc="-50">
                <a:latin typeface="Arial MT"/>
                <a:cs typeface="Arial MT"/>
              </a:rPr>
              <a:t>=</a:t>
            </a:r>
            <a:r>
              <a:rPr dirty="0" sz="2200">
                <a:latin typeface="Arial MT"/>
                <a:cs typeface="Arial MT"/>
              </a:rPr>
              <a:t>	</a:t>
            </a:r>
            <a:r>
              <a:rPr dirty="0" sz="2200" spc="-10">
                <a:latin typeface="Arial MT"/>
                <a:cs typeface="Arial MT"/>
              </a:rPr>
              <a:t>aipTatforrt.I1ode1I</a:t>
            </a:r>
            <a:endParaRPr sz="2200">
              <a:latin typeface="Arial MT"/>
              <a:cs typeface="Arial MT"/>
            </a:endParaRPr>
          </a:p>
          <a:p>
            <a:pPr marL="597535">
              <a:lnSpc>
                <a:spcPct val="100000"/>
              </a:lnSpc>
              <a:spcBef>
                <a:spcPts val="310"/>
              </a:spcBef>
              <a:tabLst>
                <a:tab pos="4044315" algn="l"/>
              </a:tabLst>
            </a:pPr>
            <a:r>
              <a:rPr dirty="0" sz="2150" spc="30">
                <a:latin typeface="Arial MT"/>
                <a:cs typeface="Arial MT"/>
              </a:rPr>
              <a:t>r›odeT_nar›e="projects/</a:t>
            </a:r>
            <a:r>
              <a:rPr dirty="0" sz="2150" spc="-240">
                <a:latin typeface="Arial MT"/>
                <a:cs typeface="Arial MT"/>
              </a:rPr>
              <a:t> </a:t>
            </a:r>
            <a:r>
              <a:rPr dirty="0" sz="2150" spc="-25">
                <a:latin typeface="Arial MT"/>
                <a:cs typeface="Arial MT"/>
              </a:rPr>
              <a:t>...</a:t>
            </a:r>
            <a:r>
              <a:rPr dirty="0" sz="2150">
                <a:latin typeface="Arial MT"/>
                <a:cs typeface="Arial MT"/>
              </a:rPr>
              <a:t>	/nodeTs/riy-riodet-</a:t>
            </a:r>
            <a:r>
              <a:rPr dirty="0" sz="2150" spc="-10">
                <a:latin typeface="Arial MT"/>
                <a:cs typeface="Arial MT"/>
              </a:rPr>
              <a:t>1dgproduct1on"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2150">
              <a:latin typeface="Arial MT"/>
              <a:cs typeface="Arial MT"/>
            </a:endParaRPr>
          </a:p>
          <a:p>
            <a:pPr marL="10295890" marR="5080" indent="-422909">
              <a:lnSpc>
                <a:spcPts val="2300"/>
              </a:lnSpc>
            </a:pPr>
            <a:r>
              <a:rPr dirty="0" sz="2150">
                <a:solidFill>
                  <a:srgbClr val="181818"/>
                </a:solidFill>
                <a:latin typeface="Arial MT"/>
                <a:cs typeface="Arial MT"/>
              </a:rPr>
              <a:t>If</a:t>
            </a:r>
            <a:r>
              <a:rPr dirty="0" sz="2150" spc="-15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2150" spc="-60">
                <a:solidFill>
                  <a:srgbClr val="0F0F0F"/>
                </a:solidFill>
                <a:latin typeface="Arial MT"/>
                <a:cs typeface="Arial MT"/>
              </a:rPr>
              <a:t>the</a:t>
            </a:r>
            <a:r>
              <a:rPr dirty="0" sz="2150" spc="-25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150" spc="-135">
                <a:solidFill>
                  <a:srgbClr val="0A0A0A"/>
                </a:solidFill>
                <a:latin typeface="Arial MT"/>
                <a:cs typeface="Arial MT"/>
              </a:rPr>
              <a:t>alias</a:t>
            </a:r>
            <a:r>
              <a:rPr dirty="0" sz="2150" spc="-2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150" spc="-150">
                <a:latin typeface="Arial MT"/>
                <a:cs typeface="Arial MT"/>
              </a:rPr>
              <a:t>moves</a:t>
            </a:r>
            <a:r>
              <a:rPr dirty="0" sz="2150">
                <a:latin typeface="Arial MT"/>
                <a:cs typeface="Arial MT"/>
              </a:rPr>
              <a:t> </a:t>
            </a:r>
            <a:r>
              <a:rPr dirty="0" sz="2150" spc="-60">
                <a:solidFill>
                  <a:srgbClr val="0E0E0E"/>
                </a:solidFill>
                <a:latin typeface="Arial MT"/>
                <a:cs typeface="Arial MT"/>
              </a:rPr>
              <a:t>to</a:t>
            </a:r>
            <a:r>
              <a:rPr dirty="0" sz="2150" spc="-9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dirty="0" sz="2150" spc="-95">
                <a:latin typeface="Arial MT"/>
                <a:cs typeface="Arial MT"/>
              </a:rPr>
              <a:t>v3,</a:t>
            </a:r>
            <a:r>
              <a:rPr dirty="0" sz="2150" spc="-150">
                <a:latin typeface="Arial MT"/>
                <a:cs typeface="Arial MT"/>
              </a:rPr>
              <a:t> </a:t>
            </a:r>
            <a:r>
              <a:rPr dirty="0" sz="2150" spc="-60">
                <a:solidFill>
                  <a:srgbClr val="131313"/>
                </a:solidFill>
                <a:latin typeface="Arial MT"/>
                <a:cs typeface="Arial MT"/>
              </a:rPr>
              <a:t>the</a:t>
            </a:r>
            <a:r>
              <a:rPr dirty="0" sz="2150" spc="-12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150" spc="-90">
                <a:solidFill>
                  <a:srgbClr val="131313"/>
                </a:solidFill>
                <a:latin typeface="Arial MT"/>
                <a:cs typeface="Arial MT"/>
              </a:rPr>
              <a:t>code </a:t>
            </a:r>
            <a:r>
              <a:rPr dirty="0" sz="2150" spc="-150">
                <a:latin typeface="Arial MT"/>
                <a:cs typeface="Arial MT"/>
              </a:rPr>
              <a:t>does</a:t>
            </a:r>
            <a:r>
              <a:rPr dirty="0" sz="2150" spc="-125">
                <a:latin typeface="Arial MT"/>
                <a:cs typeface="Arial MT"/>
              </a:rPr>
              <a:t> </a:t>
            </a:r>
            <a:r>
              <a:rPr dirty="0" sz="2150" spc="-45">
                <a:solidFill>
                  <a:srgbClr val="111111"/>
                </a:solidFill>
                <a:latin typeface="Arial MT"/>
                <a:cs typeface="Arial MT"/>
              </a:rPr>
              <a:t>not</a:t>
            </a:r>
            <a:r>
              <a:rPr dirty="0" sz="2150" spc="-10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150" spc="-170">
                <a:latin typeface="Arial MT"/>
                <a:cs typeface="Arial MT"/>
              </a:rPr>
              <a:t>need</a:t>
            </a:r>
            <a:r>
              <a:rPr dirty="0" sz="2150" spc="20">
                <a:latin typeface="Arial MT"/>
                <a:cs typeface="Arial MT"/>
              </a:rPr>
              <a:t> </a:t>
            </a:r>
            <a:r>
              <a:rPr dirty="0" sz="2150" spc="-20">
                <a:solidFill>
                  <a:srgbClr val="0A0A0A"/>
                </a:solidFill>
                <a:latin typeface="Arial MT"/>
                <a:cs typeface="Arial MT"/>
              </a:rPr>
              <a:t>to</a:t>
            </a:r>
            <a:r>
              <a:rPr dirty="0" sz="2150" spc="-65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0A0A0A"/>
                </a:solidFill>
                <a:latin typeface="Arial MT"/>
                <a:cs typeface="Arial MT"/>
              </a:rPr>
              <a:t>change.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500" y="1866900"/>
            <a:ext cx="1066800" cy="863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1200" y="2082800"/>
            <a:ext cx="1206500" cy="17145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9600" y="2070100"/>
            <a:ext cx="1460500" cy="17653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76000" y="3810000"/>
            <a:ext cx="977900" cy="279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04800" y="2070100"/>
            <a:ext cx="1714500" cy="1727200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602316" y="7120466"/>
            <a:ext cx="0" cy="868044"/>
          </a:xfrm>
          <a:custGeom>
            <a:avLst/>
            <a:gdLst/>
            <a:ahLst/>
            <a:cxnLst/>
            <a:rect l="l" t="t" r="r" b="b"/>
            <a:pathLst>
              <a:path w="0" h="868045">
                <a:moveTo>
                  <a:pt x="0" y="8678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3263900" y="2726267"/>
            <a:ext cx="17145" cy="715645"/>
            <a:chOff x="3263900" y="2726267"/>
            <a:chExt cx="17145" cy="715645"/>
          </a:xfrm>
        </p:grpSpPr>
        <p:sp>
          <p:nvSpPr>
            <p:cNvPr id="9" name="object 9" descr=""/>
            <p:cNvSpPr/>
            <p:nvPr/>
          </p:nvSpPr>
          <p:spPr>
            <a:xfrm>
              <a:off x="3266016" y="2738967"/>
              <a:ext cx="0" cy="690245"/>
            </a:xfrm>
            <a:custGeom>
              <a:avLst/>
              <a:gdLst/>
              <a:ahLst/>
              <a:cxnLst/>
              <a:rect l="l" t="t" r="r" b="b"/>
              <a:pathLst>
                <a:path w="0" h="690245">
                  <a:moveTo>
                    <a:pt x="0" y="690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278716" y="27262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3835400" y="3069167"/>
            <a:ext cx="67945" cy="728345"/>
            <a:chOff x="3835400" y="3069167"/>
            <a:chExt cx="67945" cy="728345"/>
          </a:xfrm>
        </p:grpSpPr>
        <p:sp>
          <p:nvSpPr>
            <p:cNvPr id="12" name="object 12" descr=""/>
            <p:cNvSpPr/>
            <p:nvPr/>
          </p:nvSpPr>
          <p:spPr>
            <a:xfrm>
              <a:off x="3837516" y="30691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850216" y="30818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88316" y="30945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901016" y="30945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3987800" y="3018367"/>
            <a:ext cx="29845" cy="652145"/>
            <a:chOff x="3987800" y="3018367"/>
            <a:chExt cx="29845" cy="652145"/>
          </a:xfrm>
        </p:grpSpPr>
        <p:sp>
          <p:nvSpPr>
            <p:cNvPr id="17" name="object 17" descr=""/>
            <p:cNvSpPr/>
            <p:nvPr/>
          </p:nvSpPr>
          <p:spPr>
            <a:xfrm>
              <a:off x="3989916" y="3031067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w="0" h="639445">
                  <a:moveTo>
                    <a:pt x="0" y="639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015316" y="3018367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w="0" h="639445">
                  <a:moveTo>
                    <a:pt x="0" y="639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4114800" y="2878667"/>
            <a:ext cx="144145" cy="791845"/>
            <a:chOff x="4114800" y="2878667"/>
            <a:chExt cx="144145" cy="791845"/>
          </a:xfrm>
        </p:grpSpPr>
        <p:sp>
          <p:nvSpPr>
            <p:cNvPr id="20" name="object 20" descr=""/>
            <p:cNvSpPr/>
            <p:nvPr/>
          </p:nvSpPr>
          <p:spPr>
            <a:xfrm>
              <a:off x="4116916" y="29675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129616" y="29548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142316" y="29421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155016" y="29421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167716" y="29294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180416" y="29294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193116" y="29167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218516" y="2954867"/>
              <a:ext cx="0" cy="652145"/>
            </a:xfrm>
            <a:custGeom>
              <a:avLst/>
              <a:gdLst/>
              <a:ahLst/>
              <a:cxnLst/>
              <a:rect l="l" t="t" r="r" b="b"/>
              <a:pathLst>
                <a:path w="0" h="652145">
                  <a:moveTo>
                    <a:pt x="0" y="651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231216" y="2891367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w="0" h="639445">
                  <a:moveTo>
                    <a:pt x="0" y="639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256616" y="28786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4343400" y="2713567"/>
            <a:ext cx="169545" cy="829944"/>
            <a:chOff x="4343400" y="2713567"/>
            <a:chExt cx="169545" cy="829944"/>
          </a:xfrm>
        </p:grpSpPr>
        <p:sp>
          <p:nvSpPr>
            <p:cNvPr id="31" name="object 31" descr=""/>
            <p:cNvSpPr/>
            <p:nvPr/>
          </p:nvSpPr>
          <p:spPr>
            <a:xfrm>
              <a:off x="4345516" y="28278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358216" y="28278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370916" y="28151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383616" y="28024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396316" y="28024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409016" y="27897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421716" y="27897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434416" y="27770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459816" y="2713567"/>
              <a:ext cx="0" cy="766445"/>
            </a:xfrm>
            <a:custGeom>
              <a:avLst/>
              <a:gdLst/>
              <a:ahLst/>
              <a:cxnLst/>
              <a:rect l="l" t="t" r="r" b="b"/>
              <a:pathLst>
                <a:path w="0" h="766445">
                  <a:moveTo>
                    <a:pt x="0" y="766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497916" y="2726267"/>
              <a:ext cx="0" cy="728345"/>
            </a:xfrm>
            <a:custGeom>
              <a:avLst/>
              <a:gdLst/>
              <a:ahLst/>
              <a:cxnLst/>
              <a:rect l="l" t="t" r="r" b="b"/>
              <a:pathLst>
                <a:path w="0" h="728345">
                  <a:moveTo>
                    <a:pt x="0" y="728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510616" y="2751667"/>
              <a:ext cx="0" cy="677545"/>
            </a:xfrm>
            <a:custGeom>
              <a:avLst/>
              <a:gdLst/>
              <a:ahLst/>
              <a:cxnLst/>
              <a:rect l="l" t="t" r="r" b="b"/>
              <a:pathLst>
                <a:path w="0" h="677545">
                  <a:moveTo>
                    <a:pt x="0" y="677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13017500" y="2726267"/>
            <a:ext cx="17145" cy="715645"/>
            <a:chOff x="13017500" y="2726267"/>
            <a:chExt cx="17145" cy="715645"/>
          </a:xfrm>
        </p:grpSpPr>
        <p:sp>
          <p:nvSpPr>
            <p:cNvPr id="43" name="object 43" descr=""/>
            <p:cNvSpPr/>
            <p:nvPr/>
          </p:nvSpPr>
          <p:spPr>
            <a:xfrm>
              <a:off x="13019616" y="2738967"/>
              <a:ext cx="0" cy="690245"/>
            </a:xfrm>
            <a:custGeom>
              <a:avLst/>
              <a:gdLst/>
              <a:ahLst/>
              <a:cxnLst/>
              <a:rect l="l" t="t" r="r" b="b"/>
              <a:pathLst>
                <a:path w="0" h="690245">
                  <a:moveTo>
                    <a:pt x="0" y="690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3032316" y="27262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/>
          <p:nvPr/>
        </p:nvSpPr>
        <p:spPr>
          <a:xfrm>
            <a:off x="13578416" y="3069167"/>
            <a:ext cx="0" cy="702945"/>
          </a:xfrm>
          <a:custGeom>
            <a:avLst/>
            <a:gdLst/>
            <a:ahLst/>
            <a:cxnLst/>
            <a:rect l="l" t="t" r="r" b="b"/>
            <a:pathLst>
              <a:path w="0" h="702945">
                <a:moveTo>
                  <a:pt x="0" y="7027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3603816" y="2078567"/>
            <a:ext cx="0" cy="702945"/>
          </a:xfrm>
          <a:custGeom>
            <a:avLst/>
            <a:gdLst/>
            <a:ahLst/>
            <a:cxnLst/>
            <a:rect l="l" t="t" r="r" b="b"/>
            <a:pathLst>
              <a:path w="0" h="702944">
                <a:moveTo>
                  <a:pt x="0" y="7027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13589000" y="3081867"/>
            <a:ext cx="55244" cy="702945"/>
            <a:chOff x="13589000" y="3081867"/>
            <a:chExt cx="55244" cy="702945"/>
          </a:xfrm>
        </p:grpSpPr>
        <p:sp>
          <p:nvSpPr>
            <p:cNvPr id="48" name="object 48" descr=""/>
            <p:cNvSpPr/>
            <p:nvPr/>
          </p:nvSpPr>
          <p:spPr>
            <a:xfrm>
              <a:off x="13591116" y="3081867"/>
              <a:ext cx="0" cy="690245"/>
            </a:xfrm>
            <a:custGeom>
              <a:avLst/>
              <a:gdLst/>
              <a:ahLst/>
              <a:cxnLst/>
              <a:rect l="l" t="t" r="r" b="b"/>
              <a:pathLst>
                <a:path w="0" h="690245">
                  <a:moveTo>
                    <a:pt x="0" y="690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3616516" y="3094567"/>
              <a:ext cx="0" cy="690245"/>
            </a:xfrm>
            <a:custGeom>
              <a:avLst/>
              <a:gdLst/>
              <a:ahLst/>
              <a:cxnLst/>
              <a:rect l="l" t="t" r="r" b="b"/>
              <a:pathLst>
                <a:path w="0" h="690245">
                  <a:moveTo>
                    <a:pt x="0" y="690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3641916" y="30818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13716000" y="2853267"/>
            <a:ext cx="360045" cy="880744"/>
            <a:chOff x="13716000" y="2853267"/>
            <a:chExt cx="360045" cy="880744"/>
          </a:xfrm>
        </p:grpSpPr>
        <p:sp>
          <p:nvSpPr>
            <p:cNvPr id="52" name="object 52" descr=""/>
            <p:cNvSpPr/>
            <p:nvPr/>
          </p:nvSpPr>
          <p:spPr>
            <a:xfrm>
              <a:off x="13718116" y="30310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3730816" y="30310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3743516" y="30183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3756216" y="30183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3768916" y="30056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3781616" y="30056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3794316" y="29929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3807016" y="29802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3819716" y="29802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3832416" y="29675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3845116" y="29675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3857816" y="29548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3870516" y="2942167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w="0" h="715645">
                  <a:moveTo>
                    <a:pt x="0" y="715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3895916" y="2929467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w="0" h="639445">
                  <a:moveTo>
                    <a:pt x="0" y="639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3934016" y="29167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3959416" y="2891367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w="0" h="639445">
                  <a:moveTo>
                    <a:pt x="0" y="639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3984816" y="2878667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w="0" h="639445">
                  <a:moveTo>
                    <a:pt x="0" y="639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4022916" y="28659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4035616" y="28532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4073716" y="2878667"/>
              <a:ext cx="0" cy="652145"/>
            </a:xfrm>
            <a:custGeom>
              <a:avLst/>
              <a:gdLst/>
              <a:ahLst/>
              <a:cxnLst/>
              <a:rect l="l" t="t" r="r" b="b"/>
              <a:pathLst>
                <a:path w="0" h="652145">
                  <a:moveTo>
                    <a:pt x="0" y="651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/>
          <p:nvPr/>
        </p:nvSpPr>
        <p:spPr>
          <a:xfrm>
            <a:off x="15889816" y="7107766"/>
            <a:ext cx="0" cy="995044"/>
          </a:xfrm>
          <a:custGeom>
            <a:avLst/>
            <a:gdLst/>
            <a:ahLst/>
            <a:cxnLst/>
            <a:rect l="l" t="t" r="r" b="b"/>
            <a:pathLst>
              <a:path w="0" h="995045">
                <a:moveTo>
                  <a:pt x="0" y="994833"/>
                </a:moveTo>
                <a:lnTo>
                  <a:pt x="0" y="0"/>
                </a:lnTo>
              </a:path>
            </a:pathLst>
          </a:custGeom>
          <a:ln w="4233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3" name="object 73" descr=""/>
          <p:cNvGraphicFramePr>
            <a:graphicFrameLocks noGrp="1"/>
          </p:cNvGraphicFramePr>
          <p:nvPr/>
        </p:nvGraphicFramePr>
        <p:xfrm>
          <a:off x="1460500" y="1875367"/>
          <a:ext cx="14622144" cy="6678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0600"/>
                <a:gridCol w="254000"/>
                <a:gridCol w="4660900"/>
                <a:gridCol w="4826000"/>
              </a:tblGrid>
              <a:tr h="85280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</a:tr>
              <a:tr h="13944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120840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2750" spc="5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Training</a:t>
                      </a:r>
                      <a:r>
                        <a:rPr dirty="0" sz="2750" spc="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Phase</a:t>
                      </a:r>
                      <a:endParaRPr sz="2750">
                        <a:latin typeface="Arial MT"/>
                        <a:cs typeface="Arial MT"/>
                      </a:endParaRPr>
                    </a:p>
                  </a:txBody>
                  <a:tcPr marL="0" marR="0" marB="0" marT="147955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  <a:solidFill>
                      <a:srgbClr val="2A2A2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dirty="0" sz="3200" spc="-13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Registration</a:t>
                      </a:r>
                      <a:r>
                        <a:rPr dirty="0" sz="3200" spc="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200" spc="-2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Phase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B="0" marT="90805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  <a:solidFill>
                      <a:srgbClr val="67676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dirty="0" sz="295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Prediction</a:t>
                      </a:r>
                      <a:r>
                        <a:rPr dirty="0" sz="2950" spc="9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5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Phase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B="0" marT="122555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  <a:solidFill>
                      <a:srgbClr val="727272"/>
                    </a:solidFill>
                  </a:tcPr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</a:tr>
              <a:tr h="3568065">
                <a:tc>
                  <a:txBody>
                    <a:bodyPr/>
                    <a:lstStyle/>
                    <a:p>
                      <a:pPr marL="271780" marR="1275715" indent="17780">
                        <a:lnSpc>
                          <a:spcPts val="3200"/>
                        </a:lnSpc>
                        <a:spcBef>
                          <a:spcPts val="1405"/>
                        </a:spcBef>
                      </a:pPr>
                      <a:r>
                        <a:rPr dirty="0" sz="2750" spc="9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Action:</a:t>
                      </a:r>
                      <a:r>
                        <a:rPr dirty="0" sz="2750" spc="-40">
                          <a:solidFill>
                            <a:srgbClr val="282828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Use</a:t>
                      </a:r>
                      <a:r>
                        <a:rPr dirty="0" sz="2750" spc="-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 spc="80">
                          <a:latin typeface="Arial MT"/>
                          <a:cs typeface="Arial MT"/>
                        </a:rPr>
                        <a:t>Custom </a:t>
                      </a:r>
                      <a:r>
                        <a:rPr dirty="0" sz="2750" spc="45">
                          <a:latin typeface="Arial MT"/>
                          <a:cs typeface="Arial MT"/>
                        </a:rPr>
                        <a:t>Containers.</a:t>
                      </a:r>
                      <a:endParaRPr sz="27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286385" marR="594360" indent="-1270">
                        <a:lnSpc>
                          <a:spcPts val="3200"/>
                        </a:lnSpc>
                        <a:spcBef>
                          <a:spcPts val="5"/>
                        </a:spcBef>
                      </a:pPr>
                      <a:r>
                        <a:rPr dirty="0" sz="290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Why:</a:t>
                      </a:r>
                      <a:r>
                        <a:rPr dirty="0" sz="2900" spc="-195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95">
                          <a:latin typeface="Arial MT"/>
                          <a:cs typeface="Arial MT"/>
                        </a:rPr>
                        <a:t>Maximum</a:t>
                      </a:r>
                      <a:r>
                        <a:rPr dirty="0" sz="29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10">
                          <a:latin typeface="Arial MT"/>
                          <a:cs typeface="Arial MT"/>
                        </a:rPr>
                        <a:t>flexibility </a:t>
                      </a:r>
                      <a:r>
                        <a:rPr dirty="0" sz="285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285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50" spc="-35">
                          <a:latin typeface="Arial MT"/>
                          <a:cs typeface="Arial MT"/>
                        </a:rPr>
                        <a:t>dependencies</a:t>
                      </a:r>
                      <a:r>
                        <a:rPr dirty="0" sz="285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850" spc="-2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2950" spc="-80">
                          <a:latin typeface="Arial MT"/>
                          <a:cs typeface="Arial MT"/>
                        </a:rPr>
                        <a:t>system</a:t>
                      </a:r>
                      <a:r>
                        <a:rPr dirty="0" sz="295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50" spc="-35">
                          <a:latin typeface="Arial MT"/>
                          <a:cs typeface="Arial MT"/>
                        </a:rPr>
                        <a:t>requirements.</a:t>
                      </a:r>
                      <a:endParaRPr sz="2950">
                        <a:latin typeface="Arial MT"/>
                        <a:cs typeface="Arial MT"/>
                      </a:endParaRPr>
                    </a:p>
                  </a:txBody>
                  <a:tcPr marL="0" marR="0" marB="0" marT="178435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02895">
                        <a:lnSpc>
                          <a:spcPts val="3275"/>
                        </a:lnSpc>
                        <a:spcBef>
                          <a:spcPts val="1215"/>
                        </a:spcBef>
                      </a:pPr>
                      <a:r>
                        <a:rPr dirty="0" sz="2750" spc="90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Action:</a:t>
                      </a:r>
                      <a:r>
                        <a:rPr dirty="0" sz="2750" spc="-45">
                          <a:solidFill>
                            <a:srgbClr val="0F0F0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 spc="-10">
                          <a:latin typeface="Arial MT"/>
                          <a:cs typeface="Arial MT"/>
                        </a:rPr>
                        <a:t>Define</a:t>
                      </a:r>
                      <a:endParaRPr sz="2750">
                        <a:latin typeface="Arial MT"/>
                        <a:cs typeface="Arial MT"/>
                      </a:endParaRPr>
                    </a:p>
                    <a:p>
                      <a:pPr marL="482600">
                        <a:lnSpc>
                          <a:spcPts val="3170"/>
                        </a:lnSpc>
                        <a:tabLst>
                          <a:tab pos="3005455" algn="l"/>
                        </a:tabLst>
                      </a:pPr>
                      <a:r>
                        <a:rPr dirty="0" sz="2700" spc="-160">
                          <a:latin typeface="Arial MT"/>
                          <a:cs typeface="Arial MT"/>
                        </a:rPr>
                        <a:t>pa</a:t>
                      </a:r>
                      <a:r>
                        <a:rPr dirty="0" sz="2700" spc="-4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00" spc="-10">
                          <a:latin typeface="Arial MT"/>
                          <a:cs typeface="Arial MT"/>
                        </a:rPr>
                        <a:t>nent_mode1</a:t>
                      </a:r>
                      <a:r>
                        <a:rPr dirty="0" sz="2700">
                          <a:latin typeface="Arial MT"/>
                          <a:cs typeface="Arial MT"/>
                        </a:rPr>
                        <a:t>	&amp;</a:t>
                      </a:r>
                      <a:r>
                        <a:rPr dirty="0" sz="27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00" spc="-10">
                          <a:latin typeface="Arial MT"/>
                          <a:cs typeface="Arial MT"/>
                        </a:rPr>
                        <a:t>Assign</a:t>
                      </a:r>
                      <a:endParaRPr sz="2700">
                        <a:latin typeface="Arial MT"/>
                        <a:cs typeface="Arial MT"/>
                      </a:endParaRPr>
                    </a:p>
                    <a:p>
                      <a:pPr marL="302895">
                        <a:lnSpc>
                          <a:spcPts val="3254"/>
                        </a:lnSpc>
                      </a:pPr>
                      <a:r>
                        <a:rPr dirty="0" sz="2750" spc="-10">
                          <a:latin typeface="Arial MT"/>
                          <a:cs typeface="Arial MT"/>
                        </a:rPr>
                        <a:t>Aliases.</a:t>
                      </a:r>
                      <a:endParaRPr sz="2750">
                        <a:latin typeface="Arial MT"/>
                        <a:cs typeface="Arial MT"/>
                      </a:endParaRPr>
                    </a:p>
                    <a:p>
                      <a:pPr marL="288925" marR="642620" indent="8890">
                        <a:lnSpc>
                          <a:spcPct val="93400"/>
                        </a:lnSpc>
                        <a:spcBef>
                          <a:spcPts val="1320"/>
                        </a:spcBef>
                        <a:tabLst>
                          <a:tab pos="3473450" algn="l"/>
                        </a:tabLst>
                      </a:pPr>
                      <a:r>
                        <a:rPr dirty="0" sz="2750" spc="70">
                          <a:latin typeface="Arial MT"/>
                          <a:cs typeface="Arial MT"/>
                        </a:rPr>
                        <a:t>Why:</a:t>
                      </a:r>
                      <a:r>
                        <a:rPr dirty="0" sz="2750" spc="-114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Maintains</a:t>
                      </a:r>
                      <a:r>
                        <a:rPr dirty="0" sz="2750" spc="1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 spc="-10">
                          <a:latin typeface="Arial MT"/>
                          <a:cs typeface="Arial MT"/>
                        </a:rPr>
                        <a:t>clean 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history</a:t>
                      </a:r>
                      <a:r>
                        <a:rPr dirty="0" sz="2750" spc="5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 spc="-10">
                          <a:latin typeface="Arial MT"/>
                          <a:cs typeface="Arial MT"/>
                        </a:rPr>
                        <a:t>(Versioning)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2750" spc="-20">
                          <a:latin typeface="Arial MT"/>
                          <a:cs typeface="Arial MT"/>
                        </a:rPr>
                        <a:t>while </a:t>
                      </a:r>
                      <a:r>
                        <a:rPr dirty="0" sz="2900" spc="-50">
                          <a:latin typeface="Arial MT"/>
                          <a:cs typeface="Arial MT"/>
                        </a:rPr>
                        <a:t>establishing </a:t>
                      </a:r>
                      <a:r>
                        <a:rPr dirty="0" sz="2900" spc="-10">
                          <a:latin typeface="Arial MT"/>
                          <a:cs typeface="Arial MT"/>
                        </a:rPr>
                        <a:t>intent (Aliasing).</a:t>
                      </a:r>
                      <a:endParaRPr sz="2900">
                        <a:latin typeface="Arial MT"/>
                        <a:cs typeface="Arial MT"/>
                      </a:endParaRPr>
                    </a:p>
                  </a:txBody>
                  <a:tcPr marL="0" marR="0" marB="0" marT="154305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19405" marR="300990" indent="-3810">
                        <a:lnSpc>
                          <a:spcPts val="3200"/>
                        </a:lnSpc>
                        <a:spcBef>
                          <a:spcPts val="1405"/>
                        </a:spcBef>
                        <a:tabLst>
                          <a:tab pos="1550670" algn="l"/>
                        </a:tabLst>
                      </a:pPr>
                      <a:r>
                        <a:rPr dirty="0" sz="2750" spc="9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Action:</a:t>
                      </a:r>
                      <a:r>
                        <a:rPr dirty="0" sz="2750" spc="-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Load</a:t>
                      </a:r>
                      <a:r>
                        <a:rPr dirty="0" sz="275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2750" spc="1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 spc="-10">
                          <a:latin typeface="Arial MT"/>
                          <a:cs typeface="Arial MT"/>
                        </a:rPr>
                        <a:t>Alias (§prod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	)</a:t>
                      </a:r>
                      <a:r>
                        <a:rPr dirty="0" sz="2750" spc="1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275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Apps;</a:t>
                      </a:r>
                      <a:r>
                        <a:rPr dirty="0" sz="275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 spc="-10">
                          <a:latin typeface="Arial MT"/>
                          <a:cs typeface="Arial MT"/>
                        </a:rPr>
                        <a:t>Version </a:t>
                      </a:r>
                      <a:r>
                        <a:rPr dirty="0" sz="2750" spc="90">
                          <a:latin typeface="Arial MT"/>
                          <a:cs typeface="Arial MT"/>
                        </a:rPr>
                        <a:t>(p1</a:t>
                      </a:r>
                      <a:r>
                        <a:rPr dirty="0" sz="2750" spc="2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sz="2750" spc="1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27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750" spc="-10">
                          <a:latin typeface="Arial MT"/>
                          <a:cs typeface="Arial MT"/>
                        </a:rPr>
                        <a:t>Debugging.</a:t>
                      </a:r>
                      <a:endParaRPr sz="27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315595" marR="551180" indent="-5715">
                        <a:lnSpc>
                          <a:spcPct val="87100"/>
                        </a:lnSpc>
                      </a:pPr>
                      <a:r>
                        <a:rPr dirty="0" sz="290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Why:</a:t>
                      </a:r>
                      <a:r>
                        <a:rPr dirty="0" sz="2900" spc="-200">
                          <a:solidFill>
                            <a:srgbClr val="1C1C1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114">
                          <a:latin typeface="Arial MT"/>
                          <a:cs typeface="Arial MT"/>
                        </a:rPr>
                        <a:t>Ensures</a:t>
                      </a:r>
                      <a:r>
                        <a:rPr dirty="0" sz="29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2900" spc="-30">
                          <a:latin typeface="Arial MT"/>
                          <a:cs typeface="Arial MT"/>
                        </a:rPr>
                        <a:t>production </a:t>
                      </a:r>
                      <a:r>
                        <a:rPr dirty="0" sz="3050" spc="-55">
                          <a:latin typeface="Arial MT"/>
                          <a:cs typeface="Arial MT"/>
                        </a:rPr>
                        <a:t>stability</a:t>
                      </a:r>
                      <a:r>
                        <a:rPr dirty="0" sz="305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30">
                          <a:latin typeface="Arial MT"/>
                          <a:cs typeface="Arial MT"/>
                        </a:rPr>
                        <a:t>while</a:t>
                      </a:r>
                      <a:r>
                        <a:rPr dirty="0" sz="305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10">
                          <a:latin typeface="Arial MT"/>
                          <a:cs typeface="Arial MT"/>
                        </a:rPr>
                        <a:t>retaining </a:t>
                      </a:r>
                      <a:r>
                        <a:rPr dirty="0" sz="3050" spc="-60">
                          <a:latin typeface="Arial MT"/>
                          <a:cs typeface="Arial MT"/>
                        </a:rPr>
                        <a:t>scientific</a:t>
                      </a:r>
                      <a:r>
                        <a:rPr dirty="0" sz="305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3050" spc="-35">
                          <a:latin typeface="Arial MT"/>
                          <a:cs typeface="Arial MT"/>
                        </a:rPr>
                        <a:t>reproducibility.</a:t>
                      </a:r>
                      <a:endParaRPr sz="3050">
                        <a:latin typeface="Arial MT"/>
                        <a:cs typeface="Arial MT"/>
                      </a:endParaRPr>
                    </a:p>
                    <a:p>
                      <a:pPr marL="2357120">
                        <a:lnSpc>
                          <a:spcPts val="3075"/>
                        </a:lnSpc>
                        <a:tabLst>
                          <a:tab pos="4580890" algn="l"/>
                        </a:tabLst>
                      </a:pPr>
                      <a:r>
                        <a:rPr dirty="0" sz="3050" spc="-415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›</a:t>
                      </a:r>
                      <a:r>
                        <a:rPr dirty="0" sz="3050">
                          <a:solidFill>
                            <a:srgbClr val="3F3F3F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dirty="0" sz="3050" spc="-50">
                          <a:solidFill>
                            <a:srgbClr val="262626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3050">
                        <a:latin typeface="Arial MT"/>
                        <a:cs typeface="Arial MT"/>
                      </a:endParaRPr>
                    </a:p>
                  </a:txBody>
                  <a:tcPr marL="0" marR="0" marB="0" marT="178435">
                    <a:lnL w="6350">
                      <a:solidFill>
                        <a:srgbClr val="2F2F2F"/>
                      </a:solidFill>
                      <a:prstDash val="solid"/>
                    </a:lnL>
                    <a:lnR w="6350">
                      <a:solidFill>
                        <a:srgbClr val="2F2F2F"/>
                      </a:solidFill>
                      <a:prstDash val="solid"/>
                    </a:lnR>
                    <a:lnT w="6350">
                      <a:solidFill>
                        <a:srgbClr val="2F2F2F"/>
                      </a:solidFill>
                      <a:prstDash val="solid"/>
                    </a:lnT>
                    <a:lnB w="6350">
                      <a:solidFill>
                        <a:srgbClr val="2F2F2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4" name="object 74"/>
          <p:cNvSpPr txBox="1">
            <a:spLocks noGrp="1"/>
          </p:cNvSpPr>
          <p:nvPr>
            <p:ph type="title"/>
          </p:nvPr>
        </p:nvSpPr>
        <p:spPr>
          <a:xfrm>
            <a:off x="746967" y="531988"/>
            <a:ext cx="12536170" cy="7664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850" spc="105">
                <a:solidFill>
                  <a:srgbClr val="2D2D2D"/>
                </a:solidFill>
              </a:rPr>
              <a:t>Summary:</a:t>
            </a:r>
            <a:r>
              <a:rPr dirty="0" sz="4850" spc="-35">
                <a:solidFill>
                  <a:srgbClr val="2D2D2D"/>
                </a:solidFill>
              </a:rPr>
              <a:t> </a:t>
            </a:r>
            <a:r>
              <a:rPr dirty="0" sz="4850" spc="50">
                <a:solidFill>
                  <a:srgbClr val="2D2D2D"/>
                </a:solidFill>
              </a:rPr>
              <a:t>The</a:t>
            </a:r>
            <a:r>
              <a:rPr dirty="0" sz="4850" spc="-125">
                <a:solidFill>
                  <a:srgbClr val="2D2D2D"/>
                </a:solidFill>
              </a:rPr>
              <a:t> </a:t>
            </a:r>
            <a:r>
              <a:rPr dirty="0" sz="4850" spc="80">
                <a:solidFill>
                  <a:srgbClr val="2D2D2D"/>
                </a:solidFill>
              </a:rPr>
              <a:t>Managed</a:t>
            </a:r>
            <a:r>
              <a:rPr dirty="0" sz="4850" spc="-5">
                <a:solidFill>
                  <a:srgbClr val="2D2D2D"/>
                </a:solidFill>
              </a:rPr>
              <a:t> </a:t>
            </a:r>
            <a:r>
              <a:rPr dirty="0" sz="4850" spc="160">
                <a:solidFill>
                  <a:srgbClr val="2A2A2A"/>
                </a:solidFill>
              </a:rPr>
              <a:t>Lifecycle</a:t>
            </a:r>
            <a:r>
              <a:rPr dirty="0" sz="4850" spc="-215">
                <a:solidFill>
                  <a:srgbClr val="2A2A2A"/>
                </a:solidFill>
              </a:rPr>
              <a:t> </a:t>
            </a:r>
            <a:r>
              <a:rPr dirty="0" sz="4850" spc="105">
                <a:solidFill>
                  <a:srgbClr val="2B2B2B"/>
                </a:solidFill>
              </a:rPr>
              <a:t>Standard</a:t>
            </a:r>
            <a:endParaRPr sz="4850"/>
          </a:p>
        </p:txBody>
      </p:sp>
      <p:sp>
        <p:nvSpPr>
          <p:cNvPr id="75" name="object 75" descr="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 MT"/>
                <a:cs typeface="Arial MT"/>
              </a:rPr>
              <a:t>G</a:t>
            </a:r>
            <a:r>
              <a:rPr dirty="0" sz="1300" spc="49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2026-02-21T23:02:59Z</dcterms:created>
  <dcterms:modified xsi:type="dcterms:W3CDTF">2026-02-21T23:02:59Z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2026-02-21T00:00:00Z</vt:filetime>
  </property>
  <property fmtid="{D5CDD505-2E9C-101B-9397-08002B2CF9AE}" pid="3" name="LastSaved">
    <vt:filetime>2026-02-21T00:00:00Z</vt:filetime>
  </property>
</Properties>
</file>