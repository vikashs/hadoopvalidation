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1" i="0">
                <a:solidFill>
                  <a:srgbClr val="1526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rgbClr val="1526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rgbClr val="1526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1" i="0">
                <a:solidFill>
                  <a:srgbClr val="1526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0694" y="645020"/>
            <a:ext cx="1565381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1" i="0">
                <a:solidFill>
                  <a:srgbClr val="15262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Relationship Id="rId10" Type="http://schemas.openxmlformats.org/officeDocument/2006/relationships/image" Target="../media/image45.jpg"/><Relationship Id="rId11" Type="http://schemas.openxmlformats.org/officeDocument/2006/relationships/image" Target="../media/image46.jpg"/><Relationship Id="rId12" Type="http://schemas.openxmlformats.org/officeDocument/2006/relationships/image" Target="../media/image47.jpg"/><Relationship Id="rId13" Type="http://schemas.openxmlformats.org/officeDocument/2006/relationships/image" Target="../media/image48.jpg"/><Relationship Id="rId14" Type="http://schemas.openxmlformats.org/officeDocument/2006/relationships/image" Target="../media/image49.jpg"/><Relationship Id="rId15" Type="http://schemas.openxmlformats.org/officeDocument/2006/relationships/image" Target="../media/image50.jpg"/><Relationship Id="rId16" Type="http://schemas.openxmlformats.org/officeDocument/2006/relationships/image" Target="../media/image5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Relationship Id="rId6" Type="http://schemas.openxmlformats.org/officeDocument/2006/relationships/image" Target="../media/image56.jp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6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0915" y="766232"/>
            <a:ext cx="789688" cy="84256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86125" y="2579025"/>
            <a:ext cx="11005185" cy="6102985"/>
            <a:chOff x="3286125" y="2579025"/>
            <a:chExt cx="11005185" cy="61029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6125" y="5362045"/>
              <a:ext cx="433055" cy="4340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1598" y="2579025"/>
              <a:ext cx="10979223" cy="60000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00757" y="3855639"/>
              <a:ext cx="306070" cy="3778885"/>
            </a:xfrm>
            <a:custGeom>
              <a:avLst/>
              <a:gdLst/>
              <a:ahLst/>
              <a:cxnLst/>
              <a:rect l="l" t="t" r="r" b="b"/>
              <a:pathLst>
                <a:path w="306070" h="3778884">
                  <a:moveTo>
                    <a:pt x="0" y="1506404"/>
                  </a:moveTo>
                  <a:lnTo>
                    <a:pt x="0" y="0"/>
                  </a:lnTo>
                </a:path>
                <a:path w="306070" h="3778884">
                  <a:moveTo>
                    <a:pt x="152843" y="1506404"/>
                  </a:moveTo>
                  <a:lnTo>
                    <a:pt x="152843" y="0"/>
                  </a:lnTo>
                </a:path>
                <a:path w="306070" h="3778884">
                  <a:moveTo>
                    <a:pt x="305686" y="3778777"/>
                  </a:moveTo>
                  <a:lnTo>
                    <a:pt x="305686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075814" y="3855639"/>
              <a:ext cx="0" cy="4800600"/>
            </a:xfrm>
            <a:custGeom>
              <a:avLst/>
              <a:gdLst/>
              <a:ahLst/>
              <a:cxnLst/>
              <a:rect l="l" t="t" r="r" b="b"/>
              <a:pathLst>
                <a:path w="0" h="4800600">
                  <a:moveTo>
                    <a:pt x="0" y="4800069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668232" y="7289731"/>
              <a:ext cx="636905" cy="0"/>
            </a:xfrm>
            <a:custGeom>
              <a:avLst/>
              <a:gdLst/>
              <a:ahLst/>
              <a:cxnLst/>
              <a:rect l="l" t="t" r="r" b="b"/>
              <a:pathLst>
                <a:path w="636904" h="0">
                  <a:moveTo>
                    <a:pt x="0" y="0"/>
                  </a:moveTo>
                  <a:lnTo>
                    <a:pt x="636845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37072" y="7583353"/>
              <a:ext cx="968375" cy="472440"/>
            </a:xfrm>
            <a:custGeom>
              <a:avLst/>
              <a:gdLst/>
              <a:ahLst/>
              <a:cxnLst/>
              <a:rect l="l" t="t" r="r" b="b"/>
              <a:pathLst>
                <a:path w="968375" h="472440">
                  <a:moveTo>
                    <a:pt x="280212" y="0"/>
                  </a:moveTo>
                  <a:lnTo>
                    <a:pt x="840636" y="0"/>
                  </a:lnTo>
                </a:path>
                <a:path w="968375" h="472440">
                  <a:moveTo>
                    <a:pt x="152843" y="344685"/>
                  </a:moveTo>
                  <a:lnTo>
                    <a:pt x="968005" y="344685"/>
                  </a:lnTo>
                </a:path>
                <a:path w="968375" h="472440">
                  <a:moveTo>
                    <a:pt x="0" y="472347"/>
                  </a:moveTo>
                  <a:lnTo>
                    <a:pt x="968005" y="472347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48444" y="8413152"/>
              <a:ext cx="3974465" cy="153670"/>
            </a:xfrm>
            <a:custGeom>
              <a:avLst/>
              <a:gdLst/>
              <a:ahLst/>
              <a:cxnLst/>
              <a:rect l="l" t="t" r="r" b="b"/>
              <a:pathLst>
                <a:path w="3974465" h="153670">
                  <a:moveTo>
                    <a:pt x="1604851" y="0"/>
                  </a:moveTo>
                  <a:lnTo>
                    <a:pt x="3209703" y="0"/>
                  </a:lnTo>
                </a:path>
                <a:path w="3974465" h="153670">
                  <a:moveTo>
                    <a:pt x="0" y="153193"/>
                  </a:moveTo>
                  <a:lnTo>
                    <a:pt x="3973918" y="153193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124217" y="155536"/>
            <a:ext cx="13265785" cy="2029460"/>
          </a:xfrm>
          <a:prstGeom prst="rect"/>
        </p:spPr>
        <p:txBody>
          <a:bodyPr wrap="square" lIns="0" tIns="321945" rIns="0" bIns="0" rtlCol="0" vert="horz">
            <a:spAutoFit/>
          </a:bodyPr>
          <a:lstStyle/>
          <a:p>
            <a:pPr marL="1383665">
              <a:lnSpc>
                <a:spcPct val="100000"/>
              </a:lnSpc>
              <a:spcBef>
                <a:spcPts val="2535"/>
              </a:spcBef>
            </a:pPr>
            <a:r>
              <a:rPr dirty="0" sz="7200" spc="-95">
                <a:solidFill>
                  <a:srgbClr val="0C232F"/>
                </a:solidFill>
                <a:latin typeface="Arial"/>
                <a:cs typeface="Arial"/>
              </a:rPr>
              <a:t>The</a:t>
            </a:r>
            <a:r>
              <a:rPr dirty="0" sz="7200" spc="-965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sz="7200" spc="-200">
                <a:solidFill>
                  <a:srgbClr val="0C232F"/>
                </a:solidFill>
                <a:latin typeface="Arial"/>
                <a:cs typeface="Arial"/>
              </a:rPr>
              <a:t>Evolution</a:t>
            </a:r>
            <a:r>
              <a:rPr dirty="0" sz="7200" spc="-300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sz="7200">
                <a:solidFill>
                  <a:srgbClr val="0C232F"/>
                </a:solidFill>
                <a:latin typeface="Arial"/>
                <a:cs typeface="Arial"/>
              </a:rPr>
              <a:t>of</a:t>
            </a:r>
            <a:r>
              <a:rPr dirty="0" sz="7200" spc="-1019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sz="7200" spc="-10">
                <a:solidFill>
                  <a:srgbClr val="0C232F"/>
                </a:solidFill>
                <a:latin typeface="Arial"/>
                <a:cs typeface="Arial"/>
              </a:rPr>
              <a:t>Integri</a:t>
            </a:r>
            <a:endParaRPr sz="7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3050" spc="-100">
                <a:solidFill>
                  <a:srgbClr val="0C232F"/>
                </a:solidFill>
                <a:latin typeface="Arial"/>
                <a:cs typeface="Arial"/>
              </a:rPr>
              <a:t>Navigating</a:t>
            </a:r>
            <a:r>
              <a:rPr dirty="0" sz="3050" spc="-125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u="heavy" sz="3050" spc="-100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AML/CFT</a:t>
            </a:r>
            <a:r>
              <a:rPr dirty="0" u="heavy" sz="3050" spc="-25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050" spc="-125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Compliance,</a:t>
            </a:r>
            <a:r>
              <a:rPr dirty="0" u="heavy" sz="3050" spc="45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050" spc="-145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De-</a:t>
            </a:r>
            <a:r>
              <a:rPr dirty="0" u="heavy" sz="3050" spc="-110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Risking,</a:t>
            </a:r>
            <a:r>
              <a:rPr dirty="0" u="none" sz="3050" spc="-10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u="none" sz="3050" spc="-85">
                <a:solidFill>
                  <a:srgbClr val="0C232F"/>
                </a:solidFill>
                <a:latin typeface="Arial"/>
                <a:cs typeface="Arial"/>
              </a:rPr>
              <a:t>and</a:t>
            </a:r>
            <a:r>
              <a:rPr dirty="0" u="none" sz="3050" spc="-185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u="none" sz="3050">
                <a:solidFill>
                  <a:srgbClr val="0C232F"/>
                </a:solidFill>
                <a:latin typeface="Arial"/>
                <a:cs typeface="Arial"/>
              </a:rPr>
              <a:t>the</a:t>
            </a:r>
            <a:r>
              <a:rPr dirty="0" u="none" sz="3050" spc="-215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u="none" sz="3050" spc="-120">
                <a:solidFill>
                  <a:srgbClr val="0C232F"/>
                </a:solidFill>
                <a:latin typeface="Arial"/>
                <a:cs typeface="Arial"/>
              </a:rPr>
              <a:t>Sh</a:t>
            </a:r>
            <a:r>
              <a:rPr dirty="0" u="none" sz="3050" spc="-120">
                <a:solidFill>
                  <a:srgbClr val="2D383F"/>
                </a:solidFill>
                <a:latin typeface="Arial"/>
                <a:cs typeface="Arial"/>
              </a:rPr>
              <a:t>i</a:t>
            </a:r>
            <a:r>
              <a:rPr dirty="0" u="none" sz="3050" spc="-120">
                <a:solidFill>
                  <a:srgbClr val="0C232F"/>
                </a:solidFill>
                <a:latin typeface="Arial"/>
                <a:cs typeface="Arial"/>
              </a:rPr>
              <a:t>ft</a:t>
            </a:r>
            <a:r>
              <a:rPr dirty="0" u="none" sz="3050" spc="-90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u="none" sz="3050">
                <a:solidFill>
                  <a:srgbClr val="0C232F"/>
                </a:solidFill>
                <a:latin typeface="Arial"/>
                <a:cs typeface="Arial"/>
              </a:rPr>
              <a:t>to</a:t>
            </a:r>
            <a:r>
              <a:rPr dirty="0" u="none" sz="3050" spc="-330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u="heavy" sz="3050" spc="-105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Perpetual</a:t>
            </a:r>
            <a:r>
              <a:rPr dirty="0" u="heavy" sz="3050" spc="-20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050" spc="-50">
                <a:solidFill>
                  <a:srgbClr val="0C232F"/>
                </a:solidFill>
                <a:uFill>
                  <a:solidFill>
                    <a:srgbClr val="0C232F"/>
                  </a:solidFill>
                </a:uFill>
                <a:latin typeface="Arial"/>
                <a:cs typeface="Arial"/>
              </a:rPr>
              <a:t>KYC</a:t>
            </a:r>
            <a:endParaRPr sz="3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17753" y="2687603"/>
            <a:ext cx="1719580" cy="694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solidFill>
                  <a:srgbClr val="2D383F"/>
                </a:solidFill>
                <a:latin typeface="Arial"/>
                <a:cs typeface="Arial"/>
              </a:rPr>
              <a:t>A</a:t>
            </a:r>
            <a:r>
              <a:rPr dirty="0" sz="1450" spc="-10">
                <a:solidFill>
                  <a:srgbClr val="0C232F"/>
                </a:solidFill>
                <a:latin typeface="Arial"/>
                <a:cs typeface="Arial"/>
              </a:rPr>
              <a:t>M</a:t>
            </a:r>
            <a:r>
              <a:rPr dirty="0" sz="1450" spc="-10">
                <a:solidFill>
                  <a:srgbClr val="2D383F"/>
                </a:solidFill>
                <a:latin typeface="Arial"/>
                <a:cs typeface="Arial"/>
              </a:rPr>
              <a:t>L/CFT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50">
              <a:latin typeface="Arial"/>
              <a:cs typeface="Arial"/>
            </a:endParaRPr>
          </a:p>
          <a:p>
            <a:pPr marL="944244">
              <a:lnSpc>
                <a:spcPct val="100000"/>
              </a:lnSpc>
            </a:pPr>
            <a:r>
              <a:rPr dirty="0" sz="1450" spc="400">
                <a:solidFill>
                  <a:srgbClr val="384B59"/>
                </a:solidFill>
                <a:latin typeface="Arial"/>
                <a:cs typeface="Arial"/>
              </a:rPr>
              <a:t>�KYC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3277" y="4423799"/>
            <a:ext cx="14541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45">
                <a:solidFill>
                  <a:srgbClr val="2D383F"/>
                </a:solidFill>
                <a:latin typeface="Arial"/>
                <a:cs typeface="Arial"/>
              </a:rPr>
              <a:t>0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7033" y="7200437"/>
            <a:ext cx="14986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10">
                <a:solidFill>
                  <a:srgbClr val="A3AAAE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61111" y="4002517"/>
            <a:ext cx="40259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20">
                <a:solidFill>
                  <a:srgbClr val="2D383F"/>
                </a:solidFill>
                <a:latin typeface="Arial"/>
                <a:cs typeface="Arial"/>
              </a:rPr>
              <a:t>Risk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27143" y="8476982"/>
            <a:ext cx="127635" cy="0"/>
          </a:xfrm>
          <a:custGeom>
            <a:avLst/>
            <a:gdLst/>
            <a:ahLst/>
            <a:cxnLst/>
            <a:rect l="l" t="t" r="r" b="b"/>
            <a:pathLst>
              <a:path w="127635" h="0">
                <a:moveTo>
                  <a:pt x="0" y="0"/>
                </a:moveTo>
                <a:lnTo>
                  <a:pt x="127369" y="0"/>
                </a:lnTo>
              </a:path>
            </a:pathLst>
          </a:custGeom>
          <a:ln w="12766">
            <a:solidFill>
              <a:srgbClr val="A3AAA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114444" y="8113217"/>
            <a:ext cx="20383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480">
                <a:solidFill>
                  <a:srgbClr val="A3AAAE"/>
                </a:solidFill>
                <a:latin typeface="Arial"/>
                <a:cs typeface="Arial"/>
              </a:rPr>
              <a:t>1.</a:t>
            </a:r>
            <a:endParaRPr sz="2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63757" y="7902575"/>
            <a:ext cx="67754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9047" sz="5250" spc="-592">
                <a:solidFill>
                  <a:srgbClr val="A3AAAE"/>
                </a:solidFill>
                <a:latin typeface="Times New Roman"/>
                <a:cs typeface="Times New Roman"/>
              </a:rPr>
              <a:t>....</a:t>
            </a:r>
            <a:r>
              <a:rPr dirty="0" baseline="-19047" sz="5250" spc="-165">
                <a:solidFill>
                  <a:srgbClr val="A3AAAE"/>
                </a:solidFill>
                <a:latin typeface="Times New Roman"/>
                <a:cs typeface="Times New Roman"/>
              </a:rPr>
              <a:t> </a:t>
            </a:r>
            <a:r>
              <a:rPr dirty="0" sz="3700" spc="-440">
                <a:solidFill>
                  <a:srgbClr val="A3AAAE"/>
                </a:solidFill>
                <a:latin typeface="Times New Roman"/>
                <a:cs typeface="Times New Roman"/>
              </a:rPr>
              <a:t>....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36610" y="8343007"/>
            <a:ext cx="43497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20">
                <a:solidFill>
                  <a:srgbClr val="2D383F"/>
                </a:solidFill>
                <a:latin typeface="Arial"/>
                <a:cs typeface="Arial"/>
              </a:rPr>
              <a:t>Data</a:t>
            </a:r>
            <a:endParaRPr sz="14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36661" y="9013229"/>
            <a:ext cx="6470015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5">
                <a:solidFill>
                  <a:srgbClr val="2D383F"/>
                </a:solidFill>
                <a:latin typeface="Arial"/>
                <a:cs typeface="Arial"/>
              </a:rPr>
              <a:t>PREPAR</a:t>
            </a:r>
            <a:r>
              <a:rPr dirty="0" sz="1700" spc="-105">
                <a:solidFill>
                  <a:srgbClr val="0C232F"/>
                </a:solidFill>
                <a:latin typeface="Arial"/>
                <a:cs typeface="Arial"/>
              </a:rPr>
              <a:t>E</a:t>
            </a:r>
            <a:r>
              <a:rPr dirty="0" sz="1700" spc="-105">
                <a:solidFill>
                  <a:srgbClr val="2D383F"/>
                </a:solidFill>
                <a:latin typeface="Arial"/>
                <a:cs typeface="Arial"/>
              </a:rPr>
              <a:t>D</a:t>
            </a:r>
            <a:r>
              <a:rPr dirty="0" sz="1700" spc="-50">
                <a:solidFill>
                  <a:srgbClr val="2D383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2D383F"/>
                </a:solidFill>
                <a:latin typeface="Arial"/>
                <a:cs typeface="Arial"/>
              </a:rPr>
              <a:t>FO</a:t>
            </a:r>
            <a:r>
              <a:rPr dirty="0" sz="1700">
                <a:solidFill>
                  <a:srgbClr val="0C232F"/>
                </a:solidFill>
                <a:latin typeface="Arial"/>
                <a:cs typeface="Arial"/>
              </a:rPr>
              <a:t>R</a:t>
            </a:r>
            <a:r>
              <a:rPr dirty="0" sz="1700">
                <a:solidFill>
                  <a:srgbClr val="2D383F"/>
                </a:solidFill>
                <a:latin typeface="Arial"/>
                <a:cs typeface="Arial"/>
              </a:rPr>
              <a:t>FINANCIA</a:t>
            </a:r>
            <a:r>
              <a:rPr dirty="0" sz="1700">
                <a:solidFill>
                  <a:srgbClr val="0C232F"/>
                </a:solidFill>
                <a:latin typeface="Arial"/>
                <a:cs typeface="Arial"/>
              </a:rPr>
              <a:t>L</a:t>
            </a:r>
            <a:r>
              <a:rPr dirty="0" sz="1700" spc="-15">
                <a:solidFill>
                  <a:srgbClr val="0C232F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2D383F"/>
                </a:solidFill>
                <a:latin typeface="Arial"/>
                <a:cs typeface="Arial"/>
              </a:rPr>
              <a:t>COMPL</a:t>
            </a:r>
            <a:r>
              <a:rPr dirty="0" sz="1700" spc="-20">
                <a:solidFill>
                  <a:srgbClr val="0C232F"/>
                </a:solidFill>
                <a:latin typeface="Arial"/>
                <a:cs typeface="Arial"/>
              </a:rPr>
              <a:t>I</a:t>
            </a:r>
            <a:r>
              <a:rPr dirty="0" sz="1700" spc="-20">
                <a:solidFill>
                  <a:srgbClr val="2D383F"/>
                </a:solidFill>
                <a:latin typeface="Arial"/>
                <a:cs typeface="Arial"/>
              </a:rPr>
              <a:t>A</a:t>
            </a:r>
            <a:r>
              <a:rPr dirty="0" sz="1700" spc="-20">
                <a:solidFill>
                  <a:srgbClr val="0C232F"/>
                </a:solidFill>
                <a:latin typeface="Arial"/>
                <a:cs typeface="Arial"/>
              </a:rPr>
              <a:t>N</a:t>
            </a:r>
            <a:r>
              <a:rPr dirty="0" sz="1700" spc="-20">
                <a:solidFill>
                  <a:srgbClr val="2D383F"/>
                </a:solidFill>
                <a:latin typeface="Arial"/>
                <a:cs typeface="Arial"/>
              </a:rPr>
              <a:t>CE</a:t>
            </a:r>
            <a:r>
              <a:rPr dirty="0" sz="1700" spc="-100">
                <a:solidFill>
                  <a:srgbClr val="2D383F"/>
                </a:solidFill>
                <a:latin typeface="Arial"/>
                <a:cs typeface="Arial"/>
              </a:rPr>
              <a:t> </a:t>
            </a:r>
            <a:r>
              <a:rPr dirty="0" sz="1700" spc="-85">
                <a:solidFill>
                  <a:srgbClr val="2D383F"/>
                </a:solidFill>
                <a:latin typeface="Arial"/>
                <a:cs typeface="Arial"/>
              </a:rPr>
              <a:t>STRA</a:t>
            </a:r>
            <a:r>
              <a:rPr dirty="0" sz="1700" spc="-85">
                <a:solidFill>
                  <a:srgbClr val="0C232F"/>
                </a:solidFill>
                <a:latin typeface="Arial"/>
                <a:cs typeface="Arial"/>
              </a:rPr>
              <a:t>T</a:t>
            </a:r>
            <a:r>
              <a:rPr dirty="0" sz="1700" spc="-85">
                <a:solidFill>
                  <a:srgbClr val="2D383F"/>
                </a:solidFill>
                <a:latin typeface="Arial"/>
                <a:cs typeface="Arial"/>
              </a:rPr>
              <a:t>EGY</a:t>
            </a:r>
            <a:r>
              <a:rPr dirty="0" sz="1700" spc="85">
                <a:solidFill>
                  <a:srgbClr val="2D383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2D383F"/>
                </a:solidFill>
                <a:latin typeface="Arial"/>
                <a:cs typeface="Arial"/>
              </a:rPr>
              <a:t>L</a:t>
            </a:r>
            <a:r>
              <a:rPr dirty="0" sz="1700" spc="-10">
                <a:solidFill>
                  <a:srgbClr val="0C232F"/>
                </a:solidFill>
                <a:latin typeface="Arial"/>
                <a:cs typeface="Arial"/>
              </a:rPr>
              <a:t>E</a:t>
            </a:r>
            <a:r>
              <a:rPr dirty="0" sz="1700" spc="-10">
                <a:solidFill>
                  <a:srgbClr val="2D383F"/>
                </a:solidFill>
                <a:latin typeface="Arial"/>
                <a:cs typeface="Arial"/>
              </a:rPr>
              <a:t>ADERS</a:t>
            </a:r>
            <a:r>
              <a:rPr dirty="0" sz="1700" spc="-10">
                <a:solidFill>
                  <a:srgbClr val="5B5E62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2D383F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2D383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D383F"/>
                </a:solidFill>
                <a:latin typeface="Arial"/>
                <a:cs typeface="Arial"/>
              </a:rPr>
              <a:t>oteboo</a:t>
            </a:r>
            <a:r>
              <a:rPr dirty="0" sz="1350" spc="-10">
                <a:solidFill>
                  <a:srgbClr val="0C232F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2D383F"/>
                </a:solidFill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1839" y="51329"/>
            <a:ext cx="687793" cy="3574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535" y="3855639"/>
            <a:ext cx="3566337" cy="25021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410" y="3447124"/>
            <a:ext cx="3693706" cy="2425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27442" y="3472656"/>
            <a:ext cx="3999392" cy="29362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45792" y="7379094"/>
            <a:ext cx="0" cy="2323465"/>
          </a:xfrm>
          <a:custGeom>
            <a:avLst/>
            <a:gdLst/>
            <a:ahLst/>
            <a:cxnLst/>
            <a:rect l="l" t="t" r="r" b="b"/>
            <a:pathLst>
              <a:path w="0" h="2323465">
                <a:moveTo>
                  <a:pt x="0" y="2323437"/>
                </a:moveTo>
                <a:lnTo>
                  <a:pt x="0" y="1889388"/>
                </a:lnTo>
              </a:path>
              <a:path w="0" h="2323465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73615" y="2527960"/>
            <a:ext cx="0" cy="6256020"/>
          </a:xfrm>
          <a:custGeom>
            <a:avLst/>
            <a:gdLst/>
            <a:ahLst/>
            <a:cxnLst/>
            <a:rect l="l" t="t" r="r" b="b"/>
            <a:pathLst>
              <a:path w="0" h="6256020">
                <a:moveTo>
                  <a:pt x="0" y="625540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526911" y="2527960"/>
            <a:ext cx="0" cy="6256020"/>
          </a:xfrm>
          <a:custGeom>
            <a:avLst/>
            <a:gdLst/>
            <a:ahLst/>
            <a:cxnLst/>
            <a:rect l="l" t="t" r="r" b="b"/>
            <a:pathLst>
              <a:path w="0" h="6256020">
                <a:moveTo>
                  <a:pt x="0" y="625540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5276" y="3676913"/>
            <a:ext cx="1426845" cy="0"/>
          </a:xfrm>
          <a:custGeom>
            <a:avLst/>
            <a:gdLst/>
            <a:ahLst/>
            <a:cxnLst/>
            <a:rect l="l" t="t" r="r" b="b"/>
            <a:pathLst>
              <a:path w="1426845" h="0">
                <a:moveTo>
                  <a:pt x="0" y="0"/>
                </a:moveTo>
                <a:lnTo>
                  <a:pt x="142653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75587" y="3855639"/>
            <a:ext cx="1401445" cy="0"/>
          </a:xfrm>
          <a:custGeom>
            <a:avLst/>
            <a:gdLst/>
            <a:ahLst/>
            <a:cxnLst/>
            <a:rect l="l" t="t" r="r" b="b"/>
            <a:pathLst>
              <a:path w="1401445" h="0">
                <a:moveTo>
                  <a:pt x="0" y="0"/>
                </a:moveTo>
                <a:lnTo>
                  <a:pt x="140106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40915" y="440763"/>
            <a:ext cx="7370445" cy="245999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 marR="682625" indent="8890">
              <a:lnSpc>
                <a:spcPct val="78400"/>
              </a:lnSpc>
              <a:spcBef>
                <a:spcPts val="1540"/>
              </a:spcBef>
            </a:pPr>
            <a:r>
              <a:rPr dirty="0" sz="5450" spc="-330" b="1">
                <a:solidFill>
                  <a:srgbClr val="082A36"/>
                </a:solidFill>
                <a:latin typeface="Times New Roman"/>
                <a:cs typeface="Times New Roman"/>
              </a:rPr>
              <a:t>From</a:t>
            </a:r>
            <a:r>
              <a:rPr dirty="0" sz="5450" spc="-405" b="1">
                <a:solidFill>
                  <a:srgbClr val="082A36"/>
                </a:solidFill>
                <a:latin typeface="Times New Roman"/>
                <a:cs typeface="Times New Roman"/>
              </a:rPr>
              <a:t> </a:t>
            </a:r>
            <a:r>
              <a:rPr dirty="0" sz="5450" spc="-100" b="1">
                <a:solidFill>
                  <a:srgbClr val="082A36"/>
                </a:solidFill>
                <a:latin typeface="Times New Roman"/>
                <a:cs typeface="Times New Roman"/>
              </a:rPr>
              <a:t>Static</a:t>
            </a:r>
            <a:r>
              <a:rPr dirty="0" sz="5450" spc="-325" b="1">
                <a:solidFill>
                  <a:srgbClr val="082A36"/>
                </a:solidFill>
                <a:latin typeface="Times New Roman"/>
                <a:cs typeface="Times New Roman"/>
              </a:rPr>
              <a:t> </a:t>
            </a:r>
            <a:r>
              <a:rPr dirty="0" sz="5450" spc="-195" b="1">
                <a:solidFill>
                  <a:srgbClr val="082A36"/>
                </a:solidFill>
                <a:latin typeface="Times New Roman"/>
                <a:cs typeface="Times New Roman"/>
              </a:rPr>
              <a:t>Compliance </a:t>
            </a:r>
            <a:r>
              <a:rPr dirty="0" sz="5450" spc="135" b="1">
                <a:solidFill>
                  <a:srgbClr val="082A36"/>
                </a:solidFill>
                <a:latin typeface="Times New Roman"/>
                <a:cs typeface="Times New Roman"/>
              </a:rPr>
              <a:t>to</a:t>
            </a:r>
            <a:r>
              <a:rPr dirty="0" sz="5450" spc="-445" b="1">
                <a:solidFill>
                  <a:srgbClr val="082A36"/>
                </a:solidFill>
                <a:latin typeface="Times New Roman"/>
                <a:cs typeface="Times New Roman"/>
              </a:rPr>
              <a:t> </a:t>
            </a:r>
            <a:r>
              <a:rPr dirty="0" sz="5450" spc="-180" b="1">
                <a:solidFill>
                  <a:srgbClr val="082A36"/>
                </a:solidFill>
                <a:latin typeface="Times New Roman"/>
                <a:cs typeface="Times New Roman"/>
              </a:rPr>
              <a:t>Dynamic</a:t>
            </a:r>
            <a:r>
              <a:rPr dirty="0" sz="5450" spc="-135" b="1">
                <a:solidFill>
                  <a:srgbClr val="082A36"/>
                </a:solidFill>
                <a:latin typeface="Times New Roman"/>
                <a:cs typeface="Times New Roman"/>
              </a:rPr>
              <a:t> </a:t>
            </a:r>
            <a:r>
              <a:rPr dirty="0" sz="5450" spc="-50" b="1">
                <a:solidFill>
                  <a:srgbClr val="082A36"/>
                </a:solidFill>
                <a:latin typeface="Times New Roman"/>
                <a:cs typeface="Times New Roman"/>
              </a:rPr>
              <a:t>Integrity</a:t>
            </a:r>
            <a:endParaRPr sz="54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4350"/>
              </a:spcBef>
              <a:tabLst>
                <a:tab pos="5583555" algn="l"/>
              </a:tabLst>
            </a:pPr>
            <a:r>
              <a:rPr dirty="0" sz="2600" b="1">
                <a:solidFill>
                  <a:srgbClr val="2B2F33"/>
                </a:solidFill>
                <a:latin typeface="Arial"/>
                <a:cs typeface="Arial"/>
              </a:rPr>
              <a:t>The</a:t>
            </a:r>
            <a:r>
              <a:rPr dirty="0" sz="2600" spc="-185" b="1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082A36"/>
                </a:solidFill>
                <a:latin typeface="Arial"/>
                <a:cs typeface="Arial"/>
              </a:rPr>
              <a:t>M</a:t>
            </a:r>
            <a:r>
              <a:rPr dirty="0" sz="2600" spc="-10" b="1">
                <a:solidFill>
                  <a:srgbClr val="2B2F33"/>
                </a:solidFill>
                <a:latin typeface="Arial"/>
                <a:cs typeface="Arial"/>
              </a:rPr>
              <a:t>andate</a:t>
            </a:r>
            <a:r>
              <a:rPr dirty="0" sz="2600" b="1">
                <a:solidFill>
                  <a:srgbClr val="2B2F33"/>
                </a:solidFill>
                <a:latin typeface="Arial"/>
                <a:cs typeface="Arial"/>
              </a:rPr>
              <a:t>	</a:t>
            </a:r>
            <a:r>
              <a:rPr dirty="0" sz="2600" spc="-10" b="1">
                <a:solidFill>
                  <a:srgbClr val="151A1F"/>
                </a:solidFill>
                <a:latin typeface="Arial"/>
                <a:cs typeface="Arial"/>
              </a:rPr>
              <a:t>The</a:t>
            </a:r>
            <a:r>
              <a:rPr dirty="0" sz="2600" spc="-160" b="1">
                <a:solidFill>
                  <a:srgbClr val="151A1F"/>
                </a:solidFill>
                <a:latin typeface="Arial"/>
                <a:cs typeface="Arial"/>
              </a:rPr>
              <a:t> </a:t>
            </a:r>
            <a:r>
              <a:rPr dirty="0" sz="2600" spc="-95" b="1">
                <a:solidFill>
                  <a:srgbClr val="151A1F"/>
                </a:solidFill>
                <a:latin typeface="Arial"/>
                <a:cs typeface="Arial"/>
              </a:rPr>
              <a:t>Friction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664" y="4379119"/>
            <a:ext cx="56451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150">
                <a:solidFill>
                  <a:srgbClr val="C6CACD"/>
                </a:solidFill>
                <a:latin typeface="Arial"/>
                <a:cs typeface="Arial"/>
              </a:rPr>
              <a:t>+</a:t>
            </a:r>
            <a:endParaRPr sz="6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4233" y="7123840"/>
            <a:ext cx="4427220" cy="12382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875" marR="5080" indent="-3810">
              <a:lnSpc>
                <a:spcPct val="99100"/>
              </a:lnSpc>
              <a:spcBef>
                <a:spcPts val="130"/>
              </a:spcBef>
            </a:pPr>
            <a:r>
              <a:rPr dirty="0" sz="2000" spc="-90">
                <a:solidFill>
                  <a:srgbClr val="2B2F33"/>
                </a:solidFill>
                <a:latin typeface="Arial"/>
                <a:cs typeface="Arial"/>
              </a:rPr>
              <a:t>European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2B2F33"/>
                </a:solidFill>
                <a:latin typeface="Arial"/>
                <a:cs typeface="Arial"/>
              </a:rPr>
              <a:t>regulators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5">
                <a:solidFill>
                  <a:srgbClr val="2B2F33"/>
                </a:solidFill>
                <a:latin typeface="Arial"/>
                <a:cs typeface="Arial"/>
              </a:rPr>
              <a:t>(NBB,</a:t>
            </a:r>
            <a:r>
              <a:rPr dirty="0" sz="2000" spc="-14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65">
                <a:solidFill>
                  <a:srgbClr val="2B2F33"/>
                </a:solidFill>
                <a:latin typeface="Arial"/>
                <a:cs typeface="Arial"/>
              </a:rPr>
              <a:t>DNB)</a:t>
            </a:r>
            <a:r>
              <a:rPr dirty="0" sz="2000" spc="3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2B2F33"/>
                </a:solidFill>
                <a:latin typeface="Arial"/>
                <a:cs typeface="Arial"/>
              </a:rPr>
              <a:t>demand </a:t>
            </a:r>
            <a:r>
              <a:rPr dirty="0" sz="2000" spc="-30">
                <a:solidFill>
                  <a:srgbClr val="151A1F"/>
                </a:solidFill>
                <a:latin typeface="Arial"/>
                <a:cs typeface="Arial"/>
              </a:rPr>
              <a:t>robust,</a:t>
            </a:r>
            <a:r>
              <a:rPr dirty="0" sz="2000" spc="-140">
                <a:solidFill>
                  <a:srgbClr val="151A1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2B2F33"/>
                </a:solidFill>
                <a:latin typeface="Arial"/>
                <a:cs typeface="Arial"/>
              </a:rPr>
              <a:t>risk-</a:t>
            </a:r>
            <a:r>
              <a:rPr dirty="0" sz="2000" spc="-20">
                <a:solidFill>
                  <a:srgbClr val="2B2F33"/>
                </a:solidFill>
                <a:latin typeface="Arial"/>
                <a:cs typeface="Arial"/>
              </a:rPr>
              <a:t>based</a:t>
            </a:r>
            <a:r>
              <a:rPr dirty="0" sz="2000" spc="3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10">
                <a:solidFill>
                  <a:srgbClr val="2B2F33"/>
                </a:solidFill>
                <a:latin typeface="Arial"/>
                <a:cs typeface="Arial"/>
              </a:rPr>
              <a:t>AML/CFT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151A1F"/>
                </a:solidFill>
                <a:latin typeface="Arial"/>
                <a:cs typeface="Arial"/>
              </a:rPr>
              <a:t>frameworks 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that</a:t>
            </a:r>
            <a:r>
              <a:rPr dirty="0" sz="2000" spc="-9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151A1F"/>
                </a:solidFill>
                <a:latin typeface="Arial"/>
                <a:cs typeface="Arial"/>
              </a:rPr>
              <a:t>do</a:t>
            </a:r>
            <a:r>
              <a:rPr dirty="0" sz="2000" spc="-235">
                <a:solidFill>
                  <a:srgbClr val="151A1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not</a:t>
            </a:r>
            <a:r>
              <a:rPr dirty="0" sz="2000" spc="-11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55">
                <a:solidFill>
                  <a:srgbClr val="2B2F33"/>
                </a:solidFill>
                <a:latin typeface="Arial"/>
                <a:cs typeface="Arial"/>
              </a:rPr>
              <a:t>compromise</a:t>
            </a:r>
            <a:r>
              <a:rPr dirty="0" sz="2000" spc="7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financial </a:t>
            </a:r>
            <a:r>
              <a:rPr dirty="0" sz="2000" spc="-10">
                <a:solidFill>
                  <a:srgbClr val="151A1F"/>
                </a:solidFill>
                <a:latin typeface="Arial"/>
                <a:cs typeface="Arial"/>
              </a:rPr>
              <a:t>inclusion.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46497" y="5923822"/>
            <a:ext cx="3011805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88645" algn="l"/>
              </a:tabLst>
            </a:pPr>
            <a:r>
              <a:rPr dirty="0" sz="2000" spc="-50">
                <a:solidFill>
                  <a:srgbClr val="97A7AE"/>
                </a:solidFill>
                <a:latin typeface="Arial"/>
                <a:cs typeface="Arial"/>
              </a:rPr>
              <a:t>-</a:t>
            </a:r>
            <a:r>
              <a:rPr dirty="0" sz="2000">
                <a:solidFill>
                  <a:srgbClr val="97A7AE"/>
                </a:solidFill>
                <a:latin typeface="Arial"/>
                <a:cs typeface="Arial"/>
              </a:rPr>
              <a:t>	</a:t>
            </a:r>
            <a:r>
              <a:rPr dirty="0" u="heavy" sz="2000" spc="-185">
                <a:solidFill>
                  <a:srgbClr val="B3BCBD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[</a:t>
            </a:r>
            <a:r>
              <a:rPr dirty="0" u="heavy" sz="2000" spc="-210">
                <a:solidFill>
                  <a:srgbClr val="97A7AE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c,.</a:t>
            </a:r>
            <a:r>
              <a:rPr dirty="0" u="heavy" sz="2000" spc="-165">
                <a:solidFill>
                  <a:srgbClr val="97A7AE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.</a:t>
            </a:r>
            <a:r>
              <a:rPr dirty="0" u="heavy" sz="2000" spc="310">
                <a:solidFill>
                  <a:srgbClr val="97A7AE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,</a:t>
            </a:r>
            <a:r>
              <a:rPr dirty="0" u="heavy" sz="2000" spc="-190">
                <a:solidFill>
                  <a:srgbClr val="B3BCBD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2000" spc="1500">
                <a:solidFill>
                  <a:srgbClr val="B3BCBD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-----</a:t>
            </a:r>
            <a:r>
              <a:rPr dirty="0" u="heavy" sz="2000" spc="1500">
                <a:solidFill>
                  <a:srgbClr val="97A7AE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2000" spc="1530">
                <a:solidFill>
                  <a:srgbClr val="808A8E"/>
                </a:solidFill>
                <a:uFill>
                  <a:solidFill>
                    <a:srgbClr val="808A8E"/>
                  </a:solidFill>
                </a:u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0717" y="7123840"/>
            <a:ext cx="4485005" cy="26720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5080">
              <a:lnSpc>
                <a:spcPct val="98400"/>
              </a:lnSpc>
              <a:spcBef>
                <a:spcPts val="145"/>
              </a:spcBef>
            </a:pPr>
            <a:r>
              <a:rPr dirty="0" sz="2000" spc="-50">
                <a:solidFill>
                  <a:srgbClr val="2B2F33"/>
                </a:solidFill>
                <a:latin typeface="Arial"/>
                <a:cs typeface="Arial"/>
              </a:rPr>
              <a:t>Traditional</a:t>
            </a:r>
            <a:r>
              <a:rPr dirty="0" sz="2000" spc="-3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'tick-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box'</a:t>
            </a:r>
            <a:r>
              <a:rPr dirty="0" sz="2000" spc="-13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2B2F33"/>
                </a:solidFill>
                <a:latin typeface="Arial"/>
                <a:cs typeface="Arial"/>
              </a:rPr>
              <a:t>compliance</a:t>
            </a:r>
            <a:r>
              <a:rPr dirty="0" sz="2000" spc="-6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is</a:t>
            </a:r>
            <a:r>
              <a:rPr dirty="0" sz="2000" spc="-5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failing. </a:t>
            </a:r>
            <a:r>
              <a:rPr dirty="0" sz="2000">
                <a:solidFill>
                  <a:srgbClr val="151A1F"/>
                </a:solidFill>
                <a:latin typeface="Arial"/>
                <a:cs typeface="Arial"/>
              </a:rPr>
              <a:t>It</a:t>
            </a:r>
            <a:r>
              <a:rPr dirty="0" sz="2000" spc="45">
                <a:solidFill>
                  <a:srgbClr val="151A1F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2B2F33"/>
                </a:solidFill>
                <a:latin typeface="Arial"/>
                <a:cs typeface="Arial"/>
              </a:rPr>
              <a:t>creates</a:t>
            </a:r>
            <a:r>
              <a:rPr dirty="0" sz="2000" spc="-9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2B2F33"/>
                </a:solidFill>
                <a:latin typeface="Arial"/>
                <a:cs typeface="Arial"/>
              </a:rPr>
              <a:t>operational</a:t>
            </a:r>
            <a:r>
              <a:rPr dirty="0" sz="2000" spc="-12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151A1F"/>
                </a:solidFill>
                <a:latin typeface="Arial"/>
                <a:cs typeface="Arial"/>
              </a:rPr>
              <a:t>bottlenecks,</a:t>
            </a:r>
            <a:r>
              <a:rPr dirty="0" sz="2000" spc="-15">
                <a:solidFill>
                  <a:srgbClr val="151A1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talent </a:t>
            </a:r>
            <a:r>
              <a:rPr dirty="0" sz="2000" spc="-35">
                <a:solidFill>
                  <a:srgbClr val="2B2F33"/>
                </a:solidFill>
                <a:latin typeface="Arial"/>
                <a:cs typeface="Arial"/>
              </a:rPr>
              <a:t>shortages,</a:t>
            </a:r>
            <a:r>
              <a:rPr dirty="0" sz="2000" spc="-2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2B2F33"/>
                </a:solidFill>
                <a:latin typeface="Arial"/>
                <a:cs typeface="Arial"/>
              </a:rPr>
              <a:t>and</a:t>
            </a:r>
            <a:r>
              <a:rPr dirty="0" sz="2000" spc="-15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2B2F33"/>
                </a:solidFill>
                <a:latin typeface="Arial"/>
                <a:cs typeface="Arial"/>
              </a:rPr>
              <a:t>leads</a:t>
            </a:r>
            <a:r>
              <a:rPr dirty="0" sz="2000" spc="-15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2B2F33"/>
                </a:solidFill>
                <a:latin typeface="Arial"/>
                <a:cs typeface="Arial"/>
              </a:rPr>
              <a:t>to</a:t>
            </a:r>
            <a:r>
              <a:rPr dirty="0" sz="2000" spc="-19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categorical</a:t>
            </a:r>
            <a:endParaRPr sz="2000">
              <a:latin typeface="Arial"/>
              <a:cs typeface="Arial"/>
            </a:endParaRPr>
          </a:p>
          <a:p>
            <a:pPr marL="19685" marR="1083310" indent="-7620">
              <a:lnSpc>
                <a:spcPts val="2310"/>
              </a:lnSpc>
              <a:spcBef>
                <a:spcPts val="165"/>
              </a:spcBef>
            </a:pPr>
            <a:r>
              <a:rPr dirty="0" sz="2000" spc="-20">
                <a:solidFill>
                  <a:srgbClr val="2B2F33"/>
                </a:solidFill>
                <a:latin typeface="Arial"/>
                <a:cs typeface="Arial"/>
              </a:rPr>
              <a:t>'de-risking'</a:t>
            </a:r>
            <a:r>
              <a:rPr dirty="0" sz="2000" spc="-9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rather</a:t>
            </a:r>
            <a:r>
              <a:rPr dirty="0" sz="2000" spc="-5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than</a:t>
            </a:r>
            <a:r>
              <a:rPr dirty="0" sz="2000" spc="-12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true</a:t>
            </a:r>
            <a:r>
              <a:rPr dirty="0" sz="2000" spc="-18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B2F33"/>
                </a:solidFill>
                <a:latin typeface="Arial"/>
                <a:cs typeface="Arial"/>
              </a:rPr>
              <a:t>risk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management.</a:t>
            </a:r>
            <a:endParaRPr sz="2000">
              <a:latin typeface="Arial"/>
              <a:cs typeface="Arial"/>
            </a:endParaRPr>
          </a:p>
          <a:p>
            <a:pPr algn="ctr" marR="55244">
              <a:lnSpc>
                <a:spcPct val="100000"/>
              </a:lnSpc>
              <a:spcBef>
                <a:spcPts val="334"/>
              </a:spcBef>
            </a:pPr>
            <a:r>
              <a:rPr dirty="0" sz="7150" spc="-50">
                <a:solidFill>
                  <a:srgbClr val="C6CACD"/>
                </a:solidFill>
                <a:latin typeface="Arial"/>
                <a:cs typeface="Arial"/>
              </a:rPr>
              <a:t>+</a:t>
            </a:r>
            <a:endParaRPr sz="7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65454" y="2476963"/>
            <a:ext cx="189992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10" b="1">
                <a:solidFill>
                  <a:srgbClr val="151A1F"/>
                </a:solidFill>
                <a:latin typeface="Arial"/>
                <a:cs typeface="Arial"/>
              </a:rPr>
              <a:t>The</a:t>
            </a:r>
            <a:r>
              <a:rPr dirty="0" sz="2600" spc="-160" b="1">
                <a:solidFill>
                  <a:srgbClr val="151A1F"/>
                </a:solidFill>
                <a:latin typeface="Arial"/>
                <a:cs typeface="Arial"/>
              </a:rPr>
              <a:t> </a:t>
            </a:r>
            <a:r>
              <a:rPr dirty="0" sz="2600" spc="-100" b="1">
                <a:solidFill>
                  <a:srgbClr val="2B2F33"/>
                </a:solidFill>
                <a:latin typeface="Arial"/>
                <a:cs typeface="Arial"/>
              </a:rPr>
              <a:t>Solution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64147" y="3689746"/>
            <a:ext cx="8128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45" b="1">
                <a:solidFill>
                  <a:srgbClr val="5B879C"/>
                </a:solidFill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40004" y="3562595"/>
            <a:ext cx="202565" cy="28702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00"/>
              </a:spcBef>
            </a:pPr>
            <a:r>
              <a:rPr dirty="0" sz="800" spc="90" b="1">
                <a:solidFill>
                  <a:srgbClr val="5B879C"/>
                </a:solidFill>
                <a:latin typeface="Arial"/>
                <a:cs typeface="Arial"/>
              </a:rPr>
              <a:t>o</a:t>
            </a:r>
            <a:r>
              <a:rPr dirty="0" sz="800" spc="90" b="1">
                <a:solidFill>
                  <a:srgbClr val="97A7AE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750" spc="-45" b="1">
                <a:solidFill>
                  <a:srgbClr val="7299AC"/>
                </a:solidFill>
                <a:latin typeface="Arial"/>
                <a:cs typeface="Arial"/>
              </a:rPr>
              <a:t>0</a:t>
            </a:r>
            <a:r>
              <a:rPr dirty="0" baseline="27777" sz="900" spc="-67">
                <a:solidFill>
                  <a:srgbClr val="97A7AE"/>
                </a:solidFill>
                <a:latin typeface="Arial"/>
                <a:cs typeface="Arial"/>
              </a:rPr>
              <a:t>-</a:t>
            </a:r>
            <a:r>
              <a:rPr dirty="0" sz="750" spc="25" b="1">
                <a:solidFill>
                  <a:srgbClr val="7299AC"/>
                </a:solidFill>
                <a:latin typeface="Arial"/>
                <a:cs typeface="Arial"/>
              </a:rPr>
              <a:t>-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08799" y="5674882"/>
            <a:ext cx="514984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250" spc="-960">
                <a:solidFill>
                  <a:srgbClr val="5B879C"/>
                </a:solidFill>
                <a:latin typeface="Arial"/>
                <a:cs typeface="Arial"/>
              </a:rPr>
              <a:t>·</a:t>
            </a:r>
            <a:r>
              <a:rPr dirty="0" baseline="-6289" sz="3975" spc="-885">
                <a:solidFill>
                  <a:srgbClr val="5B879C"/>
                </a:solidFill>
                <a:latin typeface="Arial"/>
                <a:cs typeface="Arial"/>
              </a:rPr>
              <a:t>·</a:t>
            </a:r>
            <a:r>
              <a:rPr dirty="0" baseline="-19157" sz="2175" spc="-150">
                <a:solidFill>
                  <a:srgbClr val="5B879C"/>
                </a:solidFill>
                <a:latin typeface="Arial"/>
                <a:cs typeface="Arial"/>
              </a:rPr>
              <a:t>•</a:t>
            </a:r>
            <a:r>
              <a:rPr dirty="0" baseline="-6289" sz="3975" spc="-944">
                <a:solidFill>
                  <a:srgbClr val="496E82"/>
                </a:solidFill>
                <a:latin typeface="Arial"/>
                <a:cs typeface="Arial"/>
              </a:rPr>
              <a:t>-</a:t>
            </a:r>
            <a:r>
              <a:rPr dirty="0" sz="3250" spc="-969">
                <a:solidFill>
                  <a:srgbClr val="5B879C"/>
                </a:solidFill>
                <a:latin typeface="Arial"/>
                <a:cs typeface="Arial"/>
              </a:rPr>
              <a:t>-</a:t>
            </a:r>
            <a:r>
              <a:rPr dirty="0" baseline="-19157" sz="2175" spc="660">
                <a:solidFill>
                  <a:srgbClr val="496E82"/>
                </a:solidFill>
                <a:latin typeface="Arial"/>
                <a:cs typeface="Arial"/>
              </a:rPr>
              <a:t>-</a:t>
            </a:r>
            <a:r>
              <a:rPr dirty="0" baseline="-19157" sz="2175" spc="-37">
                <a:solidFill>
                  <a:srgbClr val="5B879C"/>
                </a:solidFill>
                <a:latin typeface="Arial"/>
                <a:cs typeface="Arial"/>
              </a:rPr>
              <a:t>·</a:t>
            </a:r>
            <a:r>
              <a:rPr dirty="0" sz="3250" spc="-25">
                <a:solidFill>
                  <a:srgbClr val="5B879C"/>
                </a:solidFill>
                <a:latin typeface="Arial"/>
                <a:cs typeface="Arial"/>
              </a:rPr>
              <a:t>·</a:t>
            </a:r>
            <a:endParaRPr sz="3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927395" y="3293996"/>
            <a:ext cx="32829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1080" b="1">
                <a:solidFill>
                  <a:srgbClr val="5B879C"/>
                </a:solidFill>
                <a:latin typeface="Arial"/>
                <a:cs typeface="Arial"/>
              </a:rPr>
              <a:t>-</a:t>
            </a:r>
            <a:endParaRPr sz="3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24517" y="3281230"/>
            <a:ext cx="21717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-1501" sz="5550" spc="-1410" b="1">
                <a:solidFill>
                  <a:srgbClr val="5B879C"/>
                </a:solidFill>
                <a:latin typeface="Arial"/>
                <a:cs typeface="Arial"/>
              </a:rPr>
              <a:t>·</a:t>
            </a:r>
            <a:r>
              <a:rPr dirty="0" sz="1450" spc="120">
                <a:solidFill>
                  <a:srgbClr val="5B879C"/>
                </a:solidFill>
                <a:latin typeface="Arial"/>
                <a:cs typeface="Arial"/>
              </a:rPr>
              <a:t>•</a:t>
            </a:r>
            <a:r>
              <a:rPr dirty="0" sz="1450" spc="120">
                <a:solidFill>
                  <a:srgbClr val="496E82"/>
                </a:solidFill>
                <a:latin typeface="Arial"/>
                <a:cs typeface="Arial"/>
              </a:rPr>
              <a:t>-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65448" y="4366353"/>
            <a:ext cx="56451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150">
                <a:solidFill>
                  <a:srgbClr val="C6CACD"/>
                </a:solidFill>
                <a:latin typeface="Arial"/>
                <a:cs typeface="Arial"/>
              </a:rPr>
              <a:t>+</a:t>
            </a:r>
            <a:endParaRPr sz="6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499257" y="5706798"/>
            <a:ext cx="31686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700" spc="-890">
                <a:solidFill>
                  <a:srgbClr val="5B879C"/>
                </a:solidFill>
                <a:latin typeface="Arial"/>
                <a:cs typeface="Arial"/>
              </a:rPr>
              <a:t>·</a:t>
            </a:r>
            <a:r>
              <a:rPr dirty="0" baseline="-10482" sz="3975" spc="15">
                <a:solidFill>
                  <a:srgbClr val="5B879C"/>
                </a:solidFill>
                <a:latin typeface="Arial"/>
                <a:cs typeface="Arial"/>
              </a:rPr>
              <a:t>·</a:t>
            </a:r>
            <a:r>
              <a:rPr dirty="0" baseline="-10482" sz="3975" spc="-1312">
                <a:solidFill>
                  <a:srgbClr val="5B879C"/>
                </a:solidFill>
                <a:latin typeface="Arial"/>
                <a:cs typeface="Arial"/>
              </a:rPr>
              <a:t>-</a:t>
            </a:r>
            <a:r>
              <a:rPr dirty="0" sz="2700" spc="-50">
                <a:solidFill>
                  <a:srgbClr val="5B879C"/>
                </a:solidFill>
                <a:latin typeface="Arial"/>
                <a:cs typeface="Arial"/>
              </a:rPr>
              <a:t>-</a:t>
            </a:r>
            <a:endParaRPr sz="2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017320" y="7123840"/>
            <a:ext cx="4448810" cy="12382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-635">
              <a:lnSpc>
                <a:spcPct val="99100"/>
              </a:lnSpc>
              <a:spcBef>
                <a:spcPts val="130"/>
              </a:spcBef>
            </a:pPr>
            <a:r>
              <a:rPr dirty="0" sz="2000" spc="-35">
                <a:solidFill>
                  <a:srgbClr val="2B2F33"/>
                </a:solidFill>
                <a:latin typeface="Arial"/>
                <a:cs typeface="Arial"/>
              </a:rPr>
              <a:t>Moving</a:t>
            </a:r>
            <a:r>
              <a:rPr dirty="0" sz="2000" spc="-10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from</a:t>
            </a:r>
            <a:r>
              <a:rPr dirty="0" sz="2000" spc="-13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B2F33"/>
                </a:solidFill>
                <a:latin typeface="Arial"/>
                <a:cs typeface="Arial"/>
              </a:rPr>
              <a:t>periodic</a:t>
            </a:r>
            <a:r>
              <a:rPr dirty="0" sz="2000" spc="-6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2B2F33"/>
                </a:solidFill>
                <a:latin typeface="Arial"/>
                <a:cs typeface="Arial"/>
              </a:rPr>
              <a:t>review</a:t>
            </a:r>
            <a:r>
              <a:rPr dirty="0" sz="2000" spc="-10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to</a:t>
            </a:r>
            <a:r>
              <a:rPr dirty="0" sz="2000" spc="-1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2B2F33"/>
                </a:solidFill>
                <a:latin typeface="Arial"/>
                <a:cs typeface="Arial"/>
              </a:rPr>
              <a:t>Perpetual </a:t>
            </a:r>
            <a:r>
              <a:rPr dirty="0" sz="2000" spc="-150">
                <a:solidFill>
                  <a:srgbClr val="2B2F33"/>
                </a:solidFill>
                <a:latin typeface="Arial"/>
                <a:cs typeface="Arial"/>
              </a:rPr>
              <a:t>KYC</a:t>
            </a:r>
            <a:r>
              <a:rPr dirty="0" sz="2000" spc="-15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B2F33"/>
                </a:solidFill>
                <a:latin typeface="Arial"/>
                <a:cs typeface="Arial"/>
              </a:rPr>
              <a:t>(pKYC)-leveraging</a:t>
            </a:r>
            <a:r>
              <a:rPr dirty="0" sz="2000" spc="-19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B2F33"/>
                </a:solidFill>
                <a:latin typeface="Arial"/>
                <a:cs typeface="Arial"/>
              </a:rPr>
              <a:t>data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B2F33"/>
                </a:solidFill>
                <a:latin typeface="Arial"/>
                <a:cs typeface="Arial"/>
              </a:rPr>
              <a:t>and technology</a:t>
            </a:r>
            <a:r>
              <a:rPr dirty="0" sz="2000" spc="-5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2B2F33"/>
                </a:solidFill>
                <a:latin typeface="Arial"/>
                <a:cs typeface="Arial"/>
              </a:rPr>
              <a:t>to</a:t>
            </a:r>
            <a:r>
              <a:rPr dirty="0" sz="2000" spc="-18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70">
                <a:solidFill>
                  <a:srgbClr val="2B2F33"/>
                </a:solidFill>
                <a:latin typeface="Arial"/>
                <a:cs typeface="Arial"/>
              </a:rPr>
              <a:t>ensure</a:t>
            </a:r>
            <a:r>
              <a:rPr dirty="0" sz="2000" spc="-11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continuous </a:t>
            </a:r>
            <a:r>
              <a:rPr dirty="0" sz="2000" spc="-55">
                <a:solidFill>
                  <a:srgbClr val="2B2F33"/>
                </a:solidFill>
                <a:latin typeface="Arial"/>
                <a:cs typeface="Arial"/>
              </a:rPr>
              <a:t>compliance</a:t>
            </a:r>
            <a:r>
              <a:rPr dirty="0" sz="2000" spc="-20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2B2F33"/>
                </a:solidFill>
                <a:latin typeface="Arial"/>
                <a:cs typeface="Arial"/>
              </a:rPr>
              <a:t>and</a:t>
            </a:r>
            <a:r>
              <a:rPr dirty="0" sz="2000" spc="-10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2B2F33"/>
                </a:solidFill>
                <a:latin typeface="Arial"/>
                <a:cs typeface="Arial"/>
              </a:rPr>
              <a:t>operational</a:t>
            </a:r>
            <a:r>
              <a:rPr dirty="0" sz="2000" spc="-8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B2F33"/>
                </a:solidFill>
                <a:latin typeface="Arial"/>
                <a:cs typeface="Arial"/>
              </a:rPr>
              <a:t>efficiency.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47783" y="9402597"/>
            <a:ext cx="125984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70">
                <a:solidFill>
                  <a:srgbClr val="2B2F33"/>
                </a:solidFill>
                <a:latin typeface="Arial"/>
                <a:cs typeface="Arial"/>
              </a:rPr>
              <a:t>I'S\</a:t>
            </a:r>
            <a:r>
              <a:rPr dirty="0" sz="1300" spc="-1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151A1F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1924" y="1889654"/>
            <a:ext cx="8253522" cy="58213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950" y="8323791"/>
            <a:ext cx="840636" cy="8425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0212" y="153458"/>
            <a:ext cx="0" cy="9345295"/>
          </a:xfrm>
          <a:custGeom>
            <a:avLst/>
            <a:gdLst/>
            <a:ahLst/>
            <a:cxnLst/>
            <a:rect l="l" t="t" r="r" b="b"/>
            <a:pathLst>
              <a:path w="0" h="9345295">
                <a:moveTo>
                  <a:pt x="0" y="934481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5056" y="2783283"/>
            <a:ext cx="0" cy="2987675"/>
          </a:xfrm>
          <a:custGeom>
            <a:avLst/>
            <a:gdLst/>
            <a:ahLst/>
            <a:cxnLst/>
            <a:rect l="l" t="t" r="r" b="b"/>
            <a:pathLst>
              <a:path w="0" h="2987675">
                <a:moveTo>
                  <a:pt x="0" y="29872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366942" y="8349321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634417" y="4264155"/>
            <a:ext cx="0" cy="2962275"/>
          </a:xfrm>
          <a:custGeom>
            <a:avLst/>
            <a:gdLst/>
            <a:ahLst/>
            <a:cxnLst/>
            <a:rect l="l" t="t" r="r" b="b"/>
            <a:pathLst>
              <a:path w="0" h="2962275">
                <a:moveTo>
                  <a:pt x="0" y="296174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901892" y="8349321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254738" y="153458"/>
            <a:ext cx="16991330" cy="9217660"/>
            <a:chOff x="254738" y="153458"/>
            <a:chExt cx="16991330" cy="9217660"/>
          </a:xfrm>
        </p:grpSpPr>
        <p:sp>
          <p:nvSpPr>
            <p:cNvPr id="10" name="object 10"/>
            <p:cNvSpPr/>
            <p:nvPr/>
          </p:nvSpPr>
          <p:spPr>
            <a:xfrm>
              <a:off x="254738" y="153458"/>
              <a:ext cx="16991330" cy="9217660"/>
            </a:xfrm>
            <a:custGeom>
              <a:avLst/>
              <a:gdLst/>
              <a:ahLst/>
              <a:cxnLst/>
              <a:rect l="l" t="t" r="r" b="b"/>
              <a:pathLst>
                <a:path w="16991330" h="9217660">
                  <a:moveTo>
                    <a:pt x="16965576" y="9217154"/>
                  </a:moveTo>
                  <a:lnTo>
                    <a:pt x="16965576" y="0"/>
                  </a:lnTo>
                </a:path>
                <a:path w="16991330" h="9217660">
                  <a:moveTo>
                    <a:pt x="0" y="12766"/>
                  </a:moveTo>
                  <a:lnTo>
                    <a:pt x="16991050" y="12766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62319" y="2808815"/>
              <a:ext cx="3719195" cy="0"/>
            </a:xfrm>
            <a:custGeom>
              <a:avLst/>
              <a:gdLst/>
              <a:ahLst/>
              <a:cxnLst/>
              <a:rect l="l" t="t" r="r" b="b"/>
              <a:pathLst>
                <a:path w="3719195" h="0">
                  <a:moveTo>
                    <a:pt x="0" y="0"/>
                  </a:moveTo>
                  <a:lnTo>
                    <a:pt x="371918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62317" y="4117352"/>
              <a:ext cx="15998190" cy="1762125"/>
            </a:xfrm>
            <a:custGeom>
              <a:avLst/>
              <a:gdLst/>
              <a:ahLst/>
              <a:cxnLst/>
              <a:rect l="l" t="t" r="r" b="b"/>
              <a:pathLst>
                <a:path w="15998190" h="1762125">
                  <a:moveTo>
                    <a:pt x="3719182" y="1646834"/>
                  </a:moveTo>
                  <a:lnTo>
                    <a:pt x="0" y="1646834"/>
                  </a:lnTo>
                  <a:lnTo>
                    <a:pt x="0" y="1761731"/>
                  </a:lnTo>
                  <a:lnTo>
                    <a:pt x="3719182" y="1761731"/>
                  </a:lnTo>
                  <a:lnTo>
                    <a:pt x="3719182" y="1646834"/>
                  </a:lnTo>
                  <a:close/>
                </a:path>
                <a:path w="15998190" h="1762125">
                  <a:moveTo>
                    <a:pt x="15997568" y="0"/>
                  </a:moveTo>
                  <a:lnTo>
                    <a:pt x="12762383" y="0"/>
                  </a:lnTo>
                  <a:lnTo>
                    <a:pt x="12762383" y="114896"/>
                  </a:lnTo>
                  <a:lnTo>
                    <a:pt x="15997568" y="114896"/>
                  </a:lnTo>
                  <a:lnTo>
                    <a:pt x="15997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75587" y="7187602"/>
              <a:ext cx="15590519" cy="1174750"/>
            </a:xfrm>
            <a:custGeom>
              <a:avLst/>
              <a:gdLst/>
              <a:ahLst/>
              <a:cxnLst/>
              <a:rect l="l" t="t" r="r" b="b"/>
              <a:pathLst>
                <a:path w="15590519" h="1174750">
                  <a:moveTo>
                    <a:pt x="12049125" y="0"/>
                  </a:moveTo>
                  <a:lnTo>
                    <a:pt x="15284303" y="0"/>
                  </a:lnTo>
                </a:path>
                <a:path w="15590519" h="1174750">
                  <a:moveTo>
                    <a:pt x="0" y="1174485"/>
                  </a:moveTo>
                  <a:lnTo>
                    <a:pt x="15589989" y="1174485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75587" y="9102523"/>
              <a:ext cx="15590519" cy="0"/>
            </a:xfrm>
            <a:custGeom>
              <a:avLst/>
              <a:gdLst/>
              <a:ahLst/>
              <a:cxnLst/>
              <a:rect l="l" t="t" r="r" b="b"/>
              <a:pathLst>
                <a:path w="15590519" h="0">
                  <a:moveTo>
                    <a:pt x="0" y="0"/>
                  </a:moveTo>
                  <a:lnTo>
                    <a:pt x="1558998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254738" y="9459976"/>
            <a:ext cx="15819755" cy="0"/>
          </a:xfrm>
          <a:custGeom>
            <a:avLst/>
            <a:gdLst/>
            <a:ahLst/>
            <a:cxnLst/>
            <a:rect l="l" t="t" r="r" b="b"/>
            <a:pathLst>
              <a:path w="15819755" h="0">
                <a:moveTo>
                  <a:pt x="0" y="0"/>
                </a:moveTo>
                <a:lnTo>
                  <a:pt x="1581925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48040" y="306718"/>
            <a:ext cx="8189595" cy="169545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20955" marR="5080" indent="-8890">
              <a:lnSpc>
                <a:spcPts val="6030"/>
              </a:lnSpc>
              <a:spcBef>
                <a:spcPts val="1205"/>
              </a:spcBef>
            </a:pPr>
            <a:r>
              <a:rPr dirty="0" sz="5900" spc="-210" b="1">
                <a:solidFill>
                  <a:srgbClr val="18385B"/>
                </a:solidFill>
                <a:latin typeface="Times New Roman"/>
                <a:cs typeface="Times New Roman"/>
              </a:rPr>
              <a:t>The</a:t>
            </a:r>
            <a:r>
              <a:rPr dirty="0" sz="5900" spc="-375" b="1">
                <a:solidFill>
                  <a:srgbClr val="18385B"/>
                </a:solidFill>
                <a:latin typeface="Times New Roman"/>
                <a:cs typeface="Times New Roman"/>
              </a:rPr>
              <a:t> </a:t>
            </a:r>
            <a:r>
              <a:rPr dirty="0" sz="5900" spc="-350" b="1">
                <a:solidFill>
                  <a:srgbClr val="18385B"/>
                </a:solidFill>
                <a:latin typeface="Times New Roman"/>
                <a:cs typeface="Times New Roman"/>
              </a:rPr>
              <a:t>'De-</a:t>
            </a:r>
            <a:r>
              <a:rPr dirty="0" sz="5900" spc="-335" b="1">
                <a:solidFill>
                  <a:srgbClr val="18385B"/>
                </a:solidFill>
                <a:latin typeface="Times New Roman"/>
                <a:cs typeface="Times New Roman"/>
              </a:rPr>
              <a:t>Risl&lt;ing'</a:t>
            </a:r>
            <a:r>
              <a:rPr dirty="0" sz="5900" spc="375" b="1">
                <a:solidFill>
                  <a:srgbClr val="18385B"/>
                </a:solidFill>
                <a:latin typeface="Times New Roman"/>
                <a:cs typeface="Times New Roman"/>
              </a:rPr>
              <a:t> </a:t>
            </a:r>
            <a:r>
              <a:rPr dirty="0" sz="5900" spc="-204" b="1">
                <a:solidFill>
                  <a:srgbClr val="18385B"/>
                </a:solidFill>
                <a:latin typeface="Times New Roman"/>
                <a:cs typeface="Times New Roman"/>
              </a:rPr>
              <a:t>Dilemma: </a:t>
            </a:r>
            <a:r>
              <a:rPr dirty="0" sz="5900" spc="-430" b="1">
                <a:solidFill>
                  <a:srgbClr val="18385B"/>
                </a:solidFill>
                <a:latin typeface="Times New Roman"/>
                <a:cs typeface="Times New Roman"/>
              </a:rPr>
              <a:t>A</a:t>
            </a:r>
            <a:r>
              <a:rPr dirty="0" sz="5900" spc="-400" b="1">
                <a:solidFill>
                  <a:srgbClr val="18385B"/>
                </a:solidFill>
                <a:latin typeface="Times New Roman"/>
                <a:cs typeface="Times New Roman"/>
              </a:rPr>
              <a:t> </a:t>
            </a:r>
            <a:r>
              <a:rPr dirty="0" sz="5900" spc="-295" b="1">
                <a:solidFill>
                  <a:srgbClr val="18385B"/>
                </a:solidFill>
                <a:latin typeface="Times New Roman"/>
                <a:cs typeface="Times New Roman"/>
              </a:rPr>
              <a:t>Failure</a:t>
            </a:r>
            <a:r>
              <a:rPr dirty="0" sz="5900" spc="-160" b="1">
                <a:solidFill>
                  <a:srgbClr val="18385B"/>
                </a:solidFill>
                <a:latin typeface="Times New Roman"/>
                <a:cs typeface="Times New Roman"/>
              </a:rPr>
              <a:t> </a:t>
            </a:r>
            <a:r>
              <a:rPr dirty="0" sz="5900" b="1">
                <a:solidFill>
                  <a:srgbClr val="18385B"/>
                </a:solidFill>
                <a:latin typeface="Times New Roman"/>
                <a:cs typeface="Times New Roman"/>
              </a:rPr>
              <a:t>of</a:t>
            </a:r>
            <a:r>
              <a:rPr dirty="0" sz="5900" spc="-270" b="1">
                <a:solidFill>
                  <a:srgbClr val="18385B"/>
                </a:solidFill>
                <a:latin typeface="Times New Roman"/>
                <a:cs typeface="Times New Roman"/>
              </a:rPr>
              <a:t> </a:t>
            </a:r>
            <a:r>
              <a:rPr dirty="0" sz="5900" spc="-125" b="1">
                <a:solidFill>
                  <a:srgbClr val="18385B"/>
                </a:solidFill>
                <a:latin typeface="Times New Roman"/>
                <a:cs typeface="Times New Roman"/>
              </a:rPr>
              <a:t>Management.</a:t>
            </a:r>
            <a:endParaRPr sz="5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838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eboo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9934" y="2993992"/>
            <a:ext cx="3541395" cy="2529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 sz="2450" spc="-204" b="1">
                <a:solidFill>
                  <a:srgbClr val="050505"/>
                </a:solidFill>
                <a:latin typeface="Arial"/>
                <a:cs typeface="Arial"/>
              </a:rPr>
              <a:t>NBB</a:t>
            </a:r>
            <a:r>
              <a:rPr dirty="0" sz="2450" spc="-17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50505"/>
                </a:solidFill>
                <a:latin typeface="Arial"/>
                <a:cs typeface="Arial"/>
              </a:rPr>
              <a:t>Warning:</a:t>
            </a:r>
            <a:endParaRPr sz="2450">
              <a:latin typeface="Arial"/>
              <a:cs typeface="Arial"/>
            </a:endParaRPr>
          </a:p>
          <a:p>
            <a:pPr marL="13970" marR="148590" indent="1270">
              <a:lnSpc>
                <a:spcPct val="100800"/>
              </a:lnSpc>
              <a:spcBef>
                <a:spcPts val="5"/>
              </a:spcBef>
            </a:pPr>
            <a:r>
              <a:rPr dirty="0" sz="2300" spc="165">
                <a:solidFill>
                  <a:srgbClr val="1A1A1A"/>
                </a:solidFill>
                <a:latin typeface="Arial"/>
                <a:cs typeface="Arial"/>
              </a:rPr>
              <a:t>De-</a:t>
            </a:r>
            <a:r>
              <a:rPr dirty="0" sz="2300" spc="120">
                <a:solidFill>
                  <a:srgbClr val="1A1A1A"/>
                </a:solidFill>
                <a:latin typeface="Arial"/>
                <a:cs typeface="Arial"/>
              </a:rPr>
              <a:t>risking-</a:t>
            </a:r>
            <a:r>
              <a:rPr dirty="0" sz="2300" spc="125">
                <a:solidFill>
                  <a:srgbClr val="1A1A1A"/>
                </a:solidFill>
                <a:latin typeface="Arial"/>
                <a:cs typeface="Arial"/>
              </a:rPr>
              <a:t>refusing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business</a:t>
            </a:r>
            <a:r>
              <a:rPr dirty="0" sz="2300" spc="1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1A1A1A"/>
                </a:solidFill>
                <a:latin typeface="Arial"/>
                <a:cs typeface="Arial"/>
              </a:rPr>
              <a:t>based</a:t>
            </a:r>
            <a:r>
              <a:rPr dirty="0" sz="23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95">
                <a:solidFill>
                  <a:srgbClr val="1A1A1A"/>
                </a:solidFill>
                <a:latin typeface="Arial"/>
                <a:cs typeface="Arial"/>
              </a:rPr>
              <a:t>on </a:t>
            </a:r>
            <a:r>
              <a:rPr dirty="0" sz="2300" spc="75">
                <a:solidFill>
                  <a:srgbClr val="1A1A1A"/>
                </a:solidFill>
                <a:latin typeface="Arial"/>
                <a:cs typeface="Arial"/>
              </a:rPr>
              <a:t>category</a:t>
            </a:r>
            <a:r>
              <a:rPr dirty="0" sz="2300" spc="8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65">
                <a:solidFill>
                  <a:srgbClr val="1A1A1A"/>
                </a:solidFill>
                <a:latin typeface="Arial"/>
                <a:cs typeface="Arial"/>
              </a:rPr>
              <a:t>rather</a:t>
            </a:r>
            <a:r>
              <a:rPr dirty="0" sz="2300" spc="-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1A1A1A"/>
                </a:solidFill>
                <a:latin typeface="Arial"/>
                <a:cs typeface="Arial"/>
              </a:rPr>
              <a:t>than </a:t>
            </a:r>
            <a:r>
              <a:rPr dirty="0" sz="2300" spc="50">
                <a:solidFill>
                  <a:srgbClr val="1A1A1A"/>
                </a:solidFill>
                <a:latin typeface="Arial"/>
                <a:cs typeface="Arial"/>
              </a:rPr>
              <a:t>individual</a:t>
            </a:r>
            <a:r>
              <a:rPr dirty="0" sz="2300" spc="-5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35">
                <a:solidFill>
                  <a:srgbClr val="1A1A1A"/>
                </a:solidFill>
                <a:latin typeface="Arial"/>
                <a:cs typeface="Arial"/>
              </a:rPr>
              <a:t>risk-</a:t>
            </a:r>
            <a:r>
              <a:rPr dirty="0" sz="2300" spc="170">
                <a:solidFill>
                  <a:srgbClr val="1A1A1A"/>
                </a:solidFill>
                <a:latin typeface="Arial"/>
                <a:cs typeface="Arial"/>
              </a:rPr>
              <a:t>suggests</a:t>
            </a:r>
            <a:endParaRPr sz="2300">
              <a:latin typeface="Arial"/>
              <a:cs typeface="Arial"/>
            </a:endParaRPr>
          </a:p>
          <a:p>
            <a:pPr marL="15875" marR="5080" indent="-3810">
              <a:lnSpc>
                <a:spcPct val="102000"/>
              </a:lnSpc>
            </a:pPr>
            <a:r>
              <a:rPr dirty="0" sz="2300" spc="75">
                <a:solidFill>
                  <a:srgbClr val="1A1A1A"/>
                </a:solidFill>
                <a:latin typeface="Arial"/>
                <a:cs typeface="Arial"/>
              </a:rPr>
              <a:t>"</a:t>
            </a:r>
            <a:r>
              <a:rPr dirty="0" sz="2300" spc="75">
                <a:solidFill>
                  <a:srgbClr val="383838"/>
                </a:solidFill>
                <a:latin typeface="Arial"/>
                <a:cs typeface="Arial"/>
              </a:rPr>
              <a:t>i</a:t>
            </a:r>
            <a:r>
              <a:rPr dirty="0" sz="2300" spc="75">
                <a:solidFill>
                  <a:srgbClr val="1A1A1A"/>
                </a:solidFill>
                <a:latin typeface="Arial"/>
                <a:cs typeface="Arial"/>
              </a:rPr>
              <a:t>neffective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40">
                <a:solidFill>
                  <a:srgbClr val="1A1A1A"/>
                </a:solidFill>
                <a:latin typeface="Arial"/>
                <a:cs typeface="Arial"/>
              </a:rPr>
              <a:t>management</a:t>
            </a:r>
            <a:r>
              <a:rPr dirty="0" sz="2300" spc="40">
                <a:solidFill>
                  <a:srgbClr val="383838"/>
                </a:solidFill>
                <a:latin typeface="Arial"/>
                <a:cs typeface="Arial"/>
              </a:rPr>
              <a:t>"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2300" spc="2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ML/FT</a:t>
            </a:r>
            <a:r>
              <a:rPr dirty="0" sz="2300" spc="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Arial"/>
                <a:cs typeface="Arial"/>
              </a:rPr>
              <a:t>risks.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12910489" y="262036"/>
            <a:ext cx="588645" cy="9829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250" spc="-595">
                <a:solidFill>
                  <a:srgbClr val="050505"/>
                </a:solidFill>
                <a:latin typeface="Arial"/>
                <a:cs typeface="Arial"/>
              </a:rPr>
              <a:t>n</a:t>
            </a:r>
            <a:r>
              <a:rPr dirty="0" sz="6250" spc="-595">
                <a:solidFill>
                  <a:srgbClr val="646464"/>
                </a:solidFill>
                <a:latin typeface="Arial"/>
                <a:cs typeface="Arial"/>
              </a:rPr>
              <a:t>,</a:t>
            </a:r>
            <a:endParaRPr sz="6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23683" y="766299"/>
            <a:ext cx="3134995" cy="5016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560"/>
              </a:lnSpc>
              <a:spcBef>
                <a:spcPts val="110"/>
              </a:spcBef>
            </a:pPr>
            <a:r>
              <a:rPr dirty="0" sz="2300" spc="50">
                <a:solidFill>
                  <a:srgbClr val="939595"/>
                </a:solidFill>
                <a:latin typeface="Arial"/>
                <a:cs typeface="Arial"/>
              </a:rPr>
              <a:t>Banque</a:t>
            </a:r>
            <a:r>
              <a:rPr dirty="0" sz="2300" spc="50">
                <a:solidFill>
                  <a:srgbClr val="050505"/>
                </a:solidFill>
                <a:latin typeface="Arial"/>
                <a:cs typeface="Arial"/>
              </a:rPr>
              <a:t>Nationale</a:t>
            </a:r>
            <a:r>
              <a:rPr dirty="0" sz="2300" spc="50">
                <a:solidFill>
                  <a:srgbClr val="939595"/>
                </a:solidFill>
                <a:latin typeface="Arial"/>
                <a:cs typeface="Arial"/>
              </a:rPr>
              <a:t>Bank</a:t>
            </a:r>
            <a:endParaRPr sz="2300">
              <a:latin typeface="Arial"/>
              <a:cs typeface="Arial"/>
            </a:endParaRPr>
          </a:p>
          <a:p>
            <a:pPr marL="1045844">
              <a:lnSpc>
                <a:spcPts val="1180"/>
              </a:lnSpc>
              <a:tabLst>
                <a:tab pos="2414905" algn="l"/>
              </a:tabLst>
            </a:pPr>
            <a:r>
              <a:rPr dirty="0" sz="1150" spc="-10">
                <a:solidFill>
                  <a:srgbClr val="383838"/>
                </a:solidFill>
                <a:latin typeface="Arial"/>
                <a:cs typeface="Arial"/>
              </a:rPr>
              <a:t>OE</a:t>
            </a:r>
            <a:r>
              <a:rPr dirty="0" sz="1150" spc="-10">
                <a:solidFill>
                  <a:srgbClr val="4D4D4D"/>
                </a:solidFill>
                <a:latin typeface="Arial"/>
                <a:cs typeface="Arial"/>
              </a:rPr>
              <a:t>BELGIQ</a:t>
            </a:r>
            <a:r>
              <a:rPr dirty="0" sz="1150" spc="-10">
                <a:solidFill>
                  <a:srgbClr val="1A1A1A"/>
                </a:solidFill>
                <a:latin typeface="Arial"/>
                <a:cs typeface="Arial"/>
              </a:rPr>
              <a:t>U</a:t>
            </a:r>
            <a:r>
              <a:rPr dirty="0" sz="1150" spc="-1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dirty="0" sz="115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dirty="0" sz="1150" spc="-105">
                <a:solidFill>
                  <a:srgbClr val="4D4D4D"/>
                </a:solidFill>
                <a:latin typeface="Arial"/>
                <a:cs typeface="Arial"/>
              </a:rPr>
              <a:t>VA</a:t>
            </a:r>
            <a:r>
              <a:rPr dirty="0" sz="1150" spc="-105">
                <a:solidFill>
                  <a:srgbClr val="1A1A1A"/>
                </a:solidFill>
                <a:latin typeface="Arial"/>
                <a:cs typeface="Arial"/>
              </a:rPr>
              <a:t>N</a:t>
            </a:r>
            <a:r>
              <a:rPr dirty="0" sz="1150" spc="-105">
                <a:solidFill>
                  <a:srgbClr val="383838"/>
                </a:solidFill>
                <a:latin typeface="Arial"/>
                <a:cs typeface="Arial"/>
              </a:rPr>
              <a:t>BELG</a:t>
            </a:r>
            <a:r>
              <a:rPr dirty="0" sz="1150" spc="-105">
                <a:solidFill>
                  <a:srgbClr val="1A1A1A"/>
                </a:solidFill>
                <a:latin typeface="Arial"/>
                <a:cs typeface="Arial"/>
              </a:rPr>
              <a:t>I</a:t>
            </a:r>
            <a:r>
              <a:rPr dirty="0" sz="1150" spc="-105">
                <a:solidFill>
                  <a:srgbClr val="383838"/>
                </a:solidFill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31481" y="1270562"/>
            <a:ext cx="8699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A5A7A5"/>
                </a:solidFill>
                <a:latin typeface="Arial"/>
                <a:cs typeface="Arial"/>
              </a:rPr>
              <a:t>Eurosystem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69510" y="5362111"/>
            <a:ext cx="14541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5">
                <a:solidFill>
                  <a:srgbClr val="939595"/>
                </a:solidFill>
                <a:latin typeface="Arial"/>
                <a:cs typeface="Arial"/>
              </a:rPr>
              <a:t>al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95142" y="5777012"/>
            <a:ext cx="14732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939595"/>
                </a:solidFill>
                <a:latin typeface="Times New Roman"/>
                <a:cs typeface="Times New Roman"/>
              </a:rPr>
              <a:t>.,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448309" y="4423800"/>
            <a:ext cx="2905125" cy="25292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3175">
              <a:lnSpc>
                <a:spcPct val="101200"/>
              </a:lnSpc>
              <a:spcBef>
                <a:spcPts val="75"/>
              </a:spcBef>
            </a:pPr>
            <a:r>
              <a:rPr dirty="0" sz="2450" spc="-70" b="1">
                <a:solidFill>
                  <a:srgbClr val="050505"/>
                </a:solidFill>
                <a:latin typeface="Arial"/>
                <a:cs typeface="Arial"/>
              </a:rPr>
              <a:t>Societal</a:t>
            </a:r>
            <a:r>
              <a:rPr dirty="0" sz="2450" spc="-3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50505"/>
                </a:solidFill>
                <a:latin typeface="Arial"/>
                <a:cs typeface="Arial"/>
              </a:rPr>
              <a:t>Duty:</a:t>
            </a:r>
            <a:r>
              <a:rPr dirty="0" sz="2450" spc="61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Banks</a:t>
            </a:r>
            <a:r>
              <a:rPr dirty="0" sz="2300" spc="-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95">
                <a:solidFill>
                  <a:srgbClr val="1A1A1A"/>
                </a:solidFill>
                <a:latin typeface="Arial"/>
                <a:cs typeface="Arial"/>
              </a:rPr>
              <a:t>must</a:t>
            </a:r>
            <a:r>
              <a:rPr dirty="0" sz="23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Arial"/>
                <a:cs typeface="Arial"/>
              </a:rPr>
              <a:t>balance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AML</a:t>
            </a:r>
            <a:r>
              <a:rPr dirty="0" sz="2300" spc="-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90">
                <a:solidFill>
                  <a:srgbClr val="1A1A1A"/>
                </a:solidFill>
                <a:latin typeface="Arial"/>
                <a:cs typeface="Arial"/>
              </a:rPr>
              <a:t>duties</a:t>
            </a:r>
            <a:r>
              <a:rPr dirty="0" sz="2300" spc="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05">
                <a:solidFill>
                  <a:srgbClr val="1A1A1A"/>
                </a:solidFill>
                <a:latin typeface="Arial"/>
                <a:cs typeface="Arial"/>
              </a:rPr>
              <a:t>with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Financial</a:t>
            </a:r>
            <a:r>
              <a:rPr dirty="0" sz="230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45">
                <a:solidFill>
                  <a:srgbClr val="1A1A1A"/>
                </a:solidFill>
                <a:latin typeface="Arial"/>
                <a:cs typeface="Arial"/>
              </a:rPr>
              <a:t>inclusion</a:t>
            </a:r>
            <a:r>
              <a:rPr dirty="0" sz="2300" spc="45">
                <a:solidFill>
                  <a:srgbClr val="383838"/>
                </a:solidFill>
                <a:latin typeface="Arial"/>
                <a:cs typeface="Arial"/>
              </a:rPr>
              <a:t>, </a:t>
            </a:r>
            <a:r>
              <a:rPr dirty="0" sz="2300">
                <a:solidFill>
                  <a:srgbClr val="1A1A1A"/>
                </a:solidFill>
                <a:latin typeface="Arial"/>
                <a:cs typeface="Arial"/>
              </a:rPr>
              <a:t>Contractual  </a:t>
            </a:r>
            <a:r>
              <a:rPr dirty="0" sz="2300" spc="40">
                <a:solidFill>
                  <a:srgbClr val="050505"/>
                </a:solidFill>
                <a:latin typeface="Arial"/>
                <a:cs typeface="Arial"/>
              </a:rPr>
              <a:t>freedom, </a:t>
            </a:r>
            <a:r>
              <a:rPr dirty="0" sz="2300" spc="85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dirty="0" sz="2300" spc="-1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A1A1A"/>
                </a:solidFill>
                <a:latin typeface="Arial"/>
                <a:cs typeface="Arial"/>
              </a:rPr>
              <a:t>Economic development.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95203" y="8540882"/>
            <a:ext cx="1422336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75">
                <a:solidFill>
                  <a:srgbClr val="1A1A1A"/>
                </a:solidFill>
                <a:latin typeface="Arial"/>
                <a:cs typeface="Arial"/>
              </a:rPr>
              <a:t>"Rejection</a:t>
            </a:r>
            <a:r>
              <a:rPr dirty="0" sz="2300" spc="1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20">
                <a:solidFill>
                  <a:srgbClr val="1A1A1A"/>
                </a:solidFill>
                <a:latin typeface="Arial"/>
                <a:cs typeface="Arial"/>
              </a:rPr>
              <a:t>without</a:t>
            </a:r>
            <a:r>
              <a:rPr dirty="0" sz="23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00">
                <a:solidFill>
                  <a:srgbClr val="1A1A1A"/>
                </a:solidFill>
                <a:latin typeface="Arial"/>
                <a:cs typeface="Arial"/>
              </a:rPr>
              <a:t>individual</a:t>
            </a:r>
            <a:r>
              <a:rPr dirty="0" sz="2300" spc="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1A1A1A"/>
                </a:solidFill>
                <a:latin typeface="Arial"/>
                <a:cs typeface="Arial"/>
              </a:rPr>
              <a:t>assessment</a:t>
            </a:r>
            <a:r>
              <a:rPr dirty="0" sz="2300" spc="9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55">
                <a:solidFill>
                  <a:srgbClr val="1A1A1A"/>
                </a:solidFill>
                <a:latin typeface="Arial"/>
                <a:cs typeface="Arial"/>
              </a:rPr>
              <a:t>is</a:t>
            </a:r>
            <a:r>
              <a:rPr dirty="0" sz="2300" spc="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85">
                <a:solidFill>
                  <a:srgbClr val="1A1A1A"/>
                </a:solidFill>
                <a:latin typeface="Arial"/>
                <a:cs typeface="Arial"/>
              </a:rPr>
              <a:t>a</a:t>
            </a:r>
            <a:r>
              <a:rPr dirty="0" sz="2300" spc="2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10">
                <a:solidFill>
                  <a:srgbClr val="1A1A1A"/>
                </a:solidFill>
                <a:latin typeface="Arial"/>
                <a:cs typeface="Arial"/>
              </a:rPr>
              <a:t>sign</a:t>
            </a:r>
            <a:r>
              <a:rPr dirty="0" sz="2300" spc="-114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00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2300" spc="7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95">
                <a:solidFill>
                  <a:srgbClr val="1A1A1A"/>
                </a:solidFill>
                <a:latin typeface="Arial"/>
                <a:cs typeface="Arial"/>
              </a:rPr>
              <a:t>inadequate</a:t>
            </a:r>
            <a:r>
              <a:rPr dirty="0" sz="2300" spc="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14">
                <a:solidFill>
                  <a:srgbClr val="1A1A1A"/>
                </a:solidFill>
                <a:latin typeface="Arial"/>
                <a:cs typeface="Arial"/>
              </a:rPr>
              <a:t>implementation</a:t>
            </a:r>
            <a:r>
              <a:rPr dirty="0" sz="2300" spc="-6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100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2300" spc="1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90">
                <a:solidFill>
                  <a:srgbClr val="1A1A1A"/>
                </a:solidFill>
                <a:latin typeface="Arial"/>
                <a:cs typeface="Arial"/>
              </a:rPr>
              <a:t>AML</a:t>
            </a:r>
            <a:r>
              <a:rPr dirty="0" sz="2300" spc="-1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2300" spc="70">
                <a:solidFill>
                  <a:srgbClr val="1A1A1A"/>
                </a:solidFill>
                <a:latin typeface="Arial"/>
                <a:cs typeface="Arial"/>
              </a:rPr>
              <a:t>obligations."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9294" y="1685395"/>
            <a:ext cx="7387412" cy="737883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005609" y="4417349"/>
            <a:ext cx="0" cy="1889760"/>
          </a:xfrm>
          <a:custGeom>
            <a:avLst/>
            <a:gdLst/>
            <a:ahLst/>
            <a:cxnLst/>
            <a:rect l="l" t="t" r="r" b="b"/>
            <a:pathLst>
              <a:path w="0" h="1889760">
                <a:moveTo>
                  <a:pt x="0" y="188938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494917" y="4442882"/>
            <a:ext cx="0" cy="1838325"/>
          </a:xfrm>
          <a:custGeom>
            <a:avLst/>
            <a:gdLst/>
            <a:ahLst/>
            <a:cxnLst/>
            <a:rect l="l" t="t" r="r" b="b"/>
            <a:pathLst>
              <a:path w="0"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8573" y="1608798"/>
            <a:ext cx="2089150" cy="0"/>
          </a:xfrm>
          <a:custGeom>
            <a:avLst/>
            <a:gdLst/>
            <a:ahLst/>
            <a:cxnLst/>
            <a:rect l="l" t="t" r="r" b="b"/>
            <a:pathLst>
              <a:path w="2089150" h="0">
                <a:moveTo>
                  <a:pt x="0" y="0"/>
                </a:moveTo>
                <a:lnTo>
                  <a:pt x="208885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69521" y="8859966"/>
            <a:ext cx="1987550" cy="0"/>
          </a:xfrm>
          <a:custGeom>
            <a:avLst/>
            <a:gdLst/>
            <a:ahLst/>
            <a:cxnLst/>
            <a:rect l="l" t="t" r="r" b="b"/>
            <a:pathLst>
              <a:path w="1987550" h="0">
                <a:moveTo>
                  <a:pt x="0" y="0"/>
                </a:moveTo>
                <a:lnTo>
                  <a:pt x="198695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69521" y="9064225"/>
            <a:ext cx="1987550" cy="0"/>
          </a:xfrm>
          <a:custGeom>
            <a:avLst/>
            <a:gdLst/>
            <a:ahLst/>
            <a:cxnLst/>
            <a:rect l="l" t="t" r="r" b="b"/>
            <a:pathLst>
              <a:path w="1987550" h="0">
                <a:moveTo>
                  <a:pt x="0" y="0"/>
                </a:moveTo>
                <a:lnTo>
                  <a:pt x="19869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602978" y="345017"/>
            <a:ext cx="14267180" cy="7918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-260">
                <a:solidFill>
                  <a:srgbClr val="0F2831"/>
                </a:solidFill>
              </a:rPr>
              <a:t>Five</a:t>
            </a:r>
            <a:r>
              <a:rPr dirty="0" sz="5000" spc="-265">
                <a:solidFill>
                  <a:srgbClr val="0F2831"/>
                </a:solidFill>
              </a:rPr>
              <a:t> Operational</a:t>
            </a:r>
            <a:r>
              <a:rPr dirty="0" sz="5000" spc="195">
                <a:solidFill>
                  <a:srgbClr val="0F2831"/>
                </a:solidFill>
              </a:rPr>
              <a:t> </a:t>
            </a:r>
            <a:r>
              <a:rPr dirty="0" sz="5000" spc="-215">
                <a:solidFill>
                  <a:srgbClr val="0F2831"/>
                </a:solidFill>
              </a:rPr>
              <a:t>Challenges</a:t>
            </a:r>
            <a:r>
              <a:rPr dirty="0" sz="5000" spc="-30">
                <a:solidFill>
                  <a:srgbClr val="0F2831"/>
                </a:solidFill>
              </a:rPr>
              <a:t> </a:t>
            </a:r>
            <a:r>
              <a:rPr dirty="0" sz="5000" spc="-210">
                <a:solidFill>
                  <a:srgbClr val="0F2831"/>
                </a:solidFill>
              </a:rPr>
              <a:t>Stifling</a:t>
            </a:r>
            <a:r>
              <a:rPr dirty="0" sz="5000" spc="-40">
                <a:solidFill>
                  <a:srgbClr val="0F2831"/>
                </a:solidFill>
              </a:rPr>
              <a:t> </a:t>
            </a:r>
            <a:r>
              <a:rPr dirty="0" sz="5000" spc="-295">
                <a:solidFill>
                  <a:srgbClr val="0F2831"/>
                </a:solidFill>
              </a:rPr>
              <a:t>Financial</a:t>
            </a:r>
            <a:r>
              <a:rPr dirty="0" sz="5000" spc="200">
                <a:solidFill>
                  <a:srgbClr val="0F2831"/>
                </a:solidFill>
              </a:rPr>
              <a:t> </a:t>
            </a:r>
            <a:r>
              <a:rPr dirty="0" sz="5000" spc="-170">
                <a:solidFill>
                  <a:srgbClr val="0F2831"/>
                </a:solidFill>
              </a:rPr>
              <a:t>Institutions</a:t>
            </a:r>
            <a:endParaRPr sz="5000"/>
          </a:p>
        </p:txBody>
      </p:sp>
      <p:sp>
        <p:nvSpPr>
          <p:cNvPr id="14" name="object 14"/>
          <p:cNvSpPr txBox="1"/>
          <p:nvPr/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838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eboo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4968" y="2134735"/>
            <a:ext cx="3244850" cy="101790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r" marL="12700" marR="5080" indent="489584">
              <a:lnSpc>
                <a:spcPct val="103400"/>
              </a:lnSpc>
              <a:spcBef>
                <a:spcPts val="250"/>
              </a:spcBef>
            </a:pPr>
            <a:r>
              <a:rPr dirty="0" sz="2250" spc="80" b="1">
                <a:solidFill>
                  <a:srgbClr val="0F2831"/>
                </a:solidFill>
                <a:latin typeface="Arial"/>
                <a:cs typeface="Arial"/>
              </a:rPr>
              <a:t>5.</a:t>
            </a:r>
            <a:r>
              <a:rPr dirty="0" sz="2250" spc="-37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90" b="1">
                <a:solidFill>
                  <a:srgbClr val="0F2831"/>
                </a:solidFill>
                <a:latin typeface="Arial"/>
                <a:cs typeface="Arial"/>
              </a:rPr>
              <a:t>Obsolete</a:t>
            </a:r>
            <a:r>
              <a:rPr dirty="0" sz="2250" spc="-25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50" b="1">
                <a:solidFill>
                  <a:srgbClr val="0F2831"/>
                </a:solidFill>
                <a:latin typeface="Arial"/>
                <a:cs typeface="Arial"/>
              </a:rPr>
              <a:t>Methods: </a:t>
            </a:r>
            <a:r>
              <a:rPr dirty="0" sz="1950" spc="-45">
                <a:solidFill>
                  <a:srgbClr val="2D2D2D"/>
                </a:solidFill>
                <a:latin typeface="Arial"/>
                <a:cs typeface="Arial"/>
              </a:rPr>
              <a:t>The</a:t>
            </a:r>
            <a:r>
              <a:rPr dirty="0" sz="1950" spc="-18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2D2D2D"/>
                </a:solidFill>
                <a:latin typeface="Arial"/>
                <a:cs typeface="Arial"/>
              </a:rPr>
              <a:t>urgent</a:t>
            </a:r>
            <a:r>
              <a:rPr dirty="0" sz="1950" spc="-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2D2D2D"/>
                </a:solidFill>
                <a:latin typeface="Arial"/>
                <a:cs typeface="Arial"/>
              </a:rPr>
              <a:t>need</a:t>
            </a:r>
            <a:r>
              <a:rPr dirty="0" sz="1950" spc="-10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75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dirty="0" sz="1950" spc="-229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5">
                <a:solidFill>
                  <a:srgbClr val="2D2D2D"/>
                </a:solidFill>
                <a:latin typeface="Arial"/>
                <a:cs typeface="Arial"/>
              </a:rPr>
              <a:t>move</a:t>
            </a:r>
            <a:r>
              <a:rPr dirty="0" sz="1950" spc="-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2D2D2D"/>
                </a:solidFill>
                <a:latin typeface="Arial"/>
                <a:cs typeface="Arial"/>
              </a:rPr>
              <a:t>from periodic</a:t>
            </a:r>
            <a:r>
              <a:rPr dirty="0" sz="1950" spc="-114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1A1A1A"/>
                </a:solidFill>
                <a:latin typeface="Arial"/>
                <a:cs typeface="Arial"/>
              </a:rPr>
              <a:t>reviews</a:t>
            </a:r>
            <a:r>
              <a:rPr dirty="0" sz="1950" spc="-4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50" spc="75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dirty="0" sz="1950" spc="-229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1A1A1A"/>
                </a:solidFill>
                <a:latin typeface="Arial"/>
                <a:cs typeface="Arial"/>
              </a:rPr>
              <a:t>pKYC</a:t>
            </a:r>
            <a:r>
              <a:rPr dirty="0" sz="1950" spc="-20">
                <a:solidFill>
                  <a:srgbClr val="3A3F42"/>
                </a:solidFill>
                <a:latin typeface="Arial"/>
                <a:cs typeface="Arial"/>
              </a:rPr>
              <a:t>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38865" y="2134735"/>
            <a:ext cx="3655060" cy="129857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 indent="3810">
              <a:lnSpc>
                <a:spcPct val="100400"/>
              </a:lnSpc>
              <a:spcBef>
                <a:spcPts val="330"/>
              </a:spcBef>
            </a:pPr>
            <a:r>
              <a:rPr dirty="0" sz="2250" spc="-55" b="1">
                <a:solidFill>
                  <a:srgbClr val="0F2831"/>
                </a:solidFill>
                <a:latin typeface="Arial"/>
                <a:cs typeface="Arial"/>
              </a:rPr>
              <a:t>1.</a:t>
            </a:r>
            <a:r>
              <a:rPr dirty="0" sz="2250" spc="-37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60" b="1">
                <a:solidFill>
                  <a:srgbClr val="0F2831"/>
                </a:solidFill>
                <a:latin typeface="Arial"/>
                <a:cs typeface="Arial"/>
              </a:rPr>
              <a:t>Negative</a:t>
            </a:r>
            <a:r>
              <a:rPr dirty="0" sz="2250" spc="-175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0F2831"/>
                </a:solidFill>
                <a:latin typeface="Arial"/>
                <a:cs typeface="Arial"/>
              </a:rPr>
              <a:t>Experience</a:t>
            </a:r>
            <a:r>
              <a:rPr dirty="0" sz="2250" spc="-10" b="1">
                <a:solidFill>
                  <a:srgbClr val="3A3F42"/>
                </a:solidFill>
                <a:latin typeface="Arial"/>
                <a:cs typeface="Arial"/>
              </a:rPr>
              <a:t>: </a:t>
            </a:r>
            <a:r>
              <a:rPr dirty="0" sz="1950" spc="-45">
                <a:solidFill>
                  <a:srgbClr val="2D2D2D"/>
                </a:solidFill>
                <a:latin typeface="Arial"/>
                <a:cs typeface="Arial"/>
              </a:rPr>
              <a:t>Onboarding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5">
                <a:solidFill>
                  <a:srgbClr val="2D2D2D"/>
                </a:solidFill>
                <a:latin typeface="Arial"/>
                <a:cs typeface="Arial"/>
              </a:rPr>
              <a:t>takes</a:t>
            </a:r>
            <a:r>
              <a:rPr dirty="0" sz="1950" spc="-1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50">
                <a:solidFill>
                  <a:srgbClr val="2D2D2D"/>
                </a:solidFill>
                <a:latin typeface="Arial"/>
                <a:cs typeface="Arial"/>
              </a:rPr>
              <a:t>up</a:t>
            </a:r>
            <a:r>
              <a:rPr dirty="0" sz="1950" spc="-2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75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dirty="0" sz="1950" spc="-3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2D2D2D"/>
                </a:solidFill>
                <a:latin typeface="Arial"/>
                <a:cs typeface="Arial"/>
              </a:rPr>
              <a:t>100</a:t>
            </a:r>
            <a:r>
              <a:rPr dirty="0" sz="1950" spc="-1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2D2D2D"/>
                </a:solidFill>
                <a:latin typeface="Arial"/>
                <a:cs typeface="Arial"/>
              </a:rPr>
              <a:t>days; </a:t>
            </a:r>
            <a:r>
              <a:rPr dirty="0" sz="1950" spc="-135">
                <a:solidFill>
                  <a:srgbClr val="2D2D2D"/>
                </a:solidFill>
                <a:latin typeface="Arial"/>
                <a:cs typeface="Arial"/>
              </a:rPr>
              <a:t>13%</a:t>
            </a:r>
            <a:r>
              <a:rPr dirty="0" sz="1950" spc="-1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70">
                <a:solidFill>
                  <a:srgbClr val="1A1A1A"/>
                </a:solidFill>
                <a:latin typeface="Arial"/>
                <a:cs typeface="Arial"/>
              </a:rPr>
              <a:t>of</a:t>
            </a:r>
            <a:r>
              <a:rPr dirty="0" sz="1950" spc="-1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2D2D2D"/>
                </a:solidFill>
                <a:latin typeface="Arial"/>
                <a:cs typeface="Arial"/>
              </a:rPr>
              <a:t>corporates</a:t>
            </a:r>
            <a:r>
              <a:rPr dirty="0" sz="1950" spc="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2D2D2D"/>
                </a:solidFill>
                <a:latin typeface="Arial"/>
                <a:cs typeface="Arial"/>
              </a:rPr>
              <a:t>switch</a:t>
            </a:r>
            <a:r>
              <a:rPr dirty="0" sz="1950" spc="-1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2D2D2D"/>
                </a:solidFill>
                <a:latin typeface="Arial"/>
                <a:cs typeface="Arial"/>
              </a:rPr>
              <a:t>banks </a:t>
            </a:r>
            <a:r>
              <a:rPr dirty="0" sz="1950" spc="-30">
                <a:solidFill>
                  <a:srgbClr val="2D2D2D"/>
                </a:solidFill>
                <a:latin typeface="Arial"/>
                <a:cs typeface="Arial"/>
              </a:rPr>
              <a:t>due</a:t>
            </a:r>
            <a:r>
              <a:rPr dirty="0" sz="1950" spc="-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75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dirty="0" sz="1950" spc="-19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friction</a:t>
            </a:r>
            <a:r>
              <a:rPr dirty="0" sz="1950" spc="-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65">
                <a:solidFill>
                  <a:srgbClr val="2D2D2D"/>
                </a:solidFill>
                <a:latin typeface="Arial"/>
                <a:cs typeface="Arial"/>
              </a:rPr>
              <a:t>(Thomson</a:t>
            </a:r>
            <a:r>
              <a:rPr dirty="0" sz="1950" spc="-7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2D2D2D"/>
                </a:solidFill>
                <a:latin typeface="Arial"/>
                <a:cs typeface="Arial"/>
              </a:rPr>
              <a:t>Reuters).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6823" y="5683721"/>
            <a:ext cx="2612390" cy="100520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340"/>
              </a:spcBef>
            </a:pPr>
            <a:r>
              <a:rPr dirty="0" sz="2250" b="1">
                <a:solidFill>
                  <a:srgbClr val="0F2831"/>
                </a:solidFill>
                <a:latin typeface="Arial"/>
                <a:cs typeface="Arial"/>
              </a:rPr>
              <a:t>4.</a:t>
            </a:r>
            <a:r>
              <a:rPr dirty="0" sz="2250" spc="-5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105" b="1">
                <a:solidFill>
                  <a:srgbClr val="0F2831"/>
                </a:solidFill>
                <a:latin typeface="Arial"/>
                <a:cs typeface="Arial"/>
              </a:rPr>
              <a:t>Regulatory</a:t>
            </a:r>
            <a:r>
              <a:rPr dirty="0" sz="2250" spc="-5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20" b="1">
                <a:solidFill>
                  <a:srgbClr val="0F2831"/>
                </a:solidFill>
                <a:latin typeface="Arial"/>
                <a:cs typeface="Arial"/>
              </a:rPr>
              <a:t>Flux</a:t>
            </a:r>
            <a:r>
              <a:rPr dirty="0" sz="2250" spc="-20" b="1">
                <a:solidFill>
                  <a:srgbClr val="3A3F42"/>
                </a:solidFill>
                <a:latin typeface="Arial"/>
                <a:cs typeface="Arial"/>
              </a:rPr>
              <a:t>:</a:t>
            </a:r>
            <a:endParaRPr sz="2250">
              <a:latin typeface="Arial"/>
              <a:cs typeface="Arial"/>
            </a:endParaRPr>
          </a:p>
          <a:p>
            <a:pPr algn="r" marR="40005">
              <a:lnSpc>
                <a:spcPts val="2275"/>
              </a:lnSpc>
              <a:spcBef>
                <a:spcPts val="215"/>
              </a:spcBef>
            </a:pPr>
            <a:r>
              <a:rPr dirty="0" sz="1950" spc="-85">
                <a:solidFill>
                  <a:srgbClr val="2D2D2D"/>
                </a:solidFill>
                <a:latin typeface="Arial"/>
                <a:cs typeface="Arial"/>
              </a:rPr>
              <a:t>6AMLD</a:t>
            </a:r>
            <a:r>
              <a:rPr dirty="0" sz="1950" spc="-3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45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dirty="0" sz="1950" spc="-13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2D2D2D"/>
                </a:solidFill>
                <a:latin typeface="Arial"/>
                <a:cs typeface="Arial"/>
              </a:rPr>
              <a:t>increasingly</a:t>
            </a:r>
            <a:endParaRPr sz="1950">
              <a:latin typeface="Arial"/>
              <a:cs typeface="Arial"/>
            </a:endParaRPr>
          </a:p>
          <a:p>
            <a:pPr algn="r" marR="29209">
              <a:lnSpc>
                <a:spcPts val="2275"/>
              </a:lnSpc>
            </a:pPr>
            <a:r>
              <a:rPr dirty="0" sz="1950" spc="-20">
                <a:solidFill>
                  <a:srgbClr val="2D2D2D"/>
                </a:solidFill>
                <a:latin typeface="Arial"/>
                <a:cs typeface="Arial"/>
              </a:rPr>
              <a:t>stringent</a:t>
            </a:r>
            <a:r>
              <a:rPr dirty="0" sz="1950" spc="-3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2D2D2D"/>
                </a:solidFill>
                <a:latin typeface="Arial"/>
                <a:cs typeface="Arial"/>
              </a:rPr>
              <a:t>rules.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46532" y="5683721"/>
            <a:ext cx="3687445" cy="100520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8255">
              <a:lnSpc>
                <a:spcPct val="101200"/>
              </a:lnSpc>
              <a:spcBef>
                <a:spcPts val="310"/>
              </a:spcBef>
            </a:pPr>
            <a:r>
              <a:rPr dirty="0" sz="2250" spc="50" b="1">
                <a:solidFill>
                  <a:srgbClr val="0F2831"/>
                </a:solidFill>
                <a:latin typeface="Arial"/>
                <a:cs typeface="Arial"/>
              </a:rPr>
              <a:t>2.</a:t>
            </a:r>
            <a:r>
              <a:rPr dirty="0" sz="2250" spc="-22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100" b="1">
                <a:solidFill>
                  <a:srgbClr val="0F2831"/>
                </a:solidFill>
                <a:latin typeface="Arial"/>
                <a:cs typeface="Arial"/>
              </a:rPr>
              <a:t>Outreach</a:t>
            </a:r>
            <a:r>
              <a:rPr dirty="0" sz="2250" spc="-125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0F2831"/>
                </a:solidFill>
                <a:latin typeface="Arial"/>
                <a:cs typeface="Arial"/>
              </a:rPr>
              <a:t>Friction: 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Inefficient</a:t>
            </a:r>
            <a:r>
              <a:rPr dirty="0" sz="1950" spc="-4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70">
                <a:solidFill>
                  <a:srgbClr val="2D2D2D"/>
                </a:solidFill>
                <a:latin typeface="Arial"/>
                <a:cs typeface="Arial"/>
              </a:rPr>
              <a:t>email</a:t>
            </a:r>
            <a:r>
              <a:rPr dirty="0" sz="1950" spc="-17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55">
                <a:solidFill>
                  <a:srgbClr val="2D2D2D"/>
                </a:solidFill>
                <a:latin typeface="Arial"/>
                <a:cs typeface="Arial"/>
              </a:rPr>
              <a:t>exchanges</a:t>
            </a:r>
            <a:r>
              <a:rPr dirty="0" sz="1950" spc="-10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2D2D2D"/>
                </a:solidFill>
                <a:latin typeface="Arial"/>
                <a:cs typeface="Arial"/>
              </a:rPr>
              <a:t>and 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lack</a:t>
            </a:r>
            <a:r>
              <a:rPr dirty="0" sz="1950" spc="-1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dirty="0" sz="1950" spc="-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40">
                <a:solidFill>
                  <a:srgbClr val="2D2D2D"/>
                </a:solidFill>
                <a:latin typeface="Arial"/>
                <a:cs typeface="Arial"/>
              </a:rPr>
              <a:t>alignment</a:t>
            </a:r>
            <a:r>
              <a:rPr dirty="0" sz="1950" spc="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2D2D2D"/>
                </a:solidFill>
                <a:latin typeface="Arial"/>
                <a:cs typeface="Arial"/>
              </a:rPr>
              <a:t>on</a:t>
            </a:r>
            <a:r>
              <a:rPr dirty="0" sz="1950" spc="-17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1A1A1A"/>
                </a:solidFill>
                <a:latin typeface="Arial"/>
                <a:cs typeface="Arial"/>
              </a:rPr>
              <a:t>requ</a:t>
            </a:r>
            <a:r>
              <a:rPr dirty="0" sz="1950" spc="-30">
                <a:solidFill>
                  <a:srgbClr val="3A3F42"/>
                </a:solidFill>
                <a:latin typeface="Arial"/>
                <a:cs typeface="Arial"/>
              </a:rPr>
              <a:t>irements.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3327" y="7445449"/>
            <a:ext cx="2898775" cy="101790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 indent="238760">
              <a:lnSpc>
                <a:spcPct val="103400"/>
              </a:lnSpc>
              <a:spcBef>
                <a:spcPts val="250"/>
              </a:spcBef>
            </a:pPr>
            <a:r>
              <a:rPr dirty="0" sz="2250" spc="70" b="1">
                <a:solidFill>
                  <a:srgbClr val="0F2831"/>
                </a:solidFill>
                <a:latin typeface="Arial"/>
                <a:cs typeface="Arial"/>
              </a:rPr>
              <a:t>3.</a:t>
            </a:r>
            <a:r>
              <a:rPr dirty="0" sz="2250" spc="-21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80" b="1">
                <a:solidFill>
                  <a:srgbClr val="0F2831"/>
                </a:solidFill>
                <a:latin typeface="Arial"/>
                <a:cs typeface="Arial"/>
              </a:rPr>
              <a:t>Talent</a:t>
            </a:r>
            <a:r>
              <a:rPr dirty="0" sz="2250" spc="-100" b="1">
                <a:solidFill>
                  <a:srgbClr val="0F2831"/>
                </a:solidFill>
                <a:latin typeface="Arial"/>
                <a:cs typeface="Arial"/>
              </a:rPr>
              <a:t> </a:t>
            </a:r>
            <a:r>
              <a:rPr dirty="0" sz="2250" spc="-10" b="1">
                <a:solidFill>
                  <a:srgbClr val="0F2831"/>
                </a:solidFill>
                <a:latin typeface="Arial"/>
                <a:cs typeface="Arial"/>
              </a:rPr>
              <a:t>Shortage: </a:t>
            </a:r>
            <a:r>
              <a:rPr dirty="0" sz="1950" spc="-165">
                <a:solidFill>
                  <a:srgbClr val="2D2D2D"/>
                </a:solidFill>
                <a:latin typeface="Arial"/>
                <a:cs typeface="Arial"/>
              </a:rPr>
              <a:t>15%</a:t>
            </a:r>
            <a:r>
              <a:rPr dirty="0" sz="1950" spc="-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dirty="0" sz="1950" spc="-3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2D2D2D"/>
                </a:solidFill>
                <a:latin typeface="Arial"/>
                <a:cs typeface="Arial"/>
              </a:rPr>
              <a:t>workforce</a:t>
            </a:r>
            <a:r>
              <a:rPr dirty="0" sz="1950" spc="-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65">
                <a:solidFill>
                  <a:srgbClr val="2D2D2D"/>
                </a:solidFill>
                <a:latin typeface="Arial"/>
                <a:cs typeface="Arial"/>
              </a:rPr>
              <a:t>in</a:t>
            </a:r>
            <a:r>
              <a:rPr dirty="0" sz="1950" spc="-22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2D2D2D"/>
                </a:solidFill>
                <a:latin typeface="Arial"/>
                <a:cs typeface="Arial"/>
              </a:rPr>
              <a:t>KYC; </a:t>
            </a:r>
            <a:r>
              <a:rPr dirty="0" sz="1950" spc="-25">
                <a:solidFill>
                  <a:srgbClr val="2D2D2D"/>
                </a:solidFill>
                <a:latin typeface="Arial"/>
                <a:cs typeface="Arial"/>
              </a:rPr>
              <a:t>shortage</a:t>
            </a:r>
            <a:r>
              <a:rPr dirty="0" sz="1950" spc="-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dirty="0" sz="1950" spc="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2D2D2D"/>
                </a:solidFill>
                <a:latin typeface="Arial"/>
                <a:cs typeface="Arial"/>
              </a:rPr>
              <a:t>skilled</a:t>
            </a:r>
            <a:r>
              <a:rPr dirty="0" sz="1950" spc="-1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2D2D2D"/>
                </a:solidFill>
                <a:latin typeface="Arial"/>
                <a:cs typeface="Arial"/>
              </a:rPr>
              <a:t>analysts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5744" y="2272638"/>
            <a:ext cx="6776040" cy="561710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629110" y="2502428"/>
            <a:ext cx="0" cy="5872480"/>
          </a:xfrm>
          <a:custGeom>
            <a:avLst/>
            <a:gdLst/>
            <a:ahLst/>
            <a:cxnLst/>
            <a:rect l="l" t="t" r="r" b="b"/>
            <a:pathLst>
              <a:path w="0" h="5872480">
                <a:moveTo>
                  <a:pt x="0" y="587242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62166" y="2502428"/>
            <a:ext cx="0" cy="3881120"/>
          </a:xfrm>
          <a:custGeom>
            <a:avLst/>
            <a:gdLst/>
            <a:ahLst/>
            <a:cxnLst/>
            <a:rect l="l" t="t" r="r" b="b"/>
            <a:pathLst>
              <a:path w="0" h="3881120">
                <a:moveTo>
                  <a:pt x="0" y="38809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15009" y="794080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40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15009" y="2502428"/>
            <a:ext cx="0" cy="4264025"/>
          </a:xfrm>
          <a:custGeom>
            <a:avLst/>
            <a:gdLst/>
            <a:ahLst/>
            <a:cxnLst/>
            <a:rect l="l" t="t" r="r" b="b"/>
            <a:pathLst>
              <a:path w="0" h="4264025">
                <a:moveTo>
                  <a:pt x="0" y="426389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252916" y="7889740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303561" y="7889740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341467" y="7889740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545258" y="7889740"/>
            <a:ext cx="0" cy="511175"/>
          </a:xfrm>
          <a:custGeom>
            <a:avLst/>
            <a:gdLst/>
            <a:ahLst/>
            <a:cxnLst/>
            <a:rect l="l" t="t" r="r" b="b"/>
            <a:pathLst>
              <a:path w="0"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011218" y="2515194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 h="0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2319" y="2808815"/>
            <a:ext cx="6623684" cy="0"/>
          </a:xfrm>
          <a:custGeom>
            <a:avLst/>
            <a:gdLst/>
            <a:ahLst/>
            <a:cxnLst/>
            <a:rect l="l" t="t" r="r" b="b"/>
            <a:pathLst>
              <a:path w="6623684" h="0">
                <a:moveTo>
                  <a:pt x="0" y="0"/>
                </a:moveTo>
                <a:lnTo>
                  <a:pt x="662319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215009" y="4430116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215009" y="6357803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09" h="0">
                <a:moveTo>
                  <a:pt x="0" y="0"/>
                </a:moveTo>
                <a:lnTo>
                  <a:pt x="129916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2319" y="7276965"/>
            <a:ext cx="6649084" cy="0"/>
          </a:xfrm>
          <a:custGeom>
            <a:avLst/>
            <a:gdLst/>
            <a:ahLst/>
            <a:cxnLst/>
            <a:rect l="l" t="t" r="r" b="b"/>
            <a:pathLst>
              <a:path w="6649084" h="0">
                <a:moveTo>
                  <a:pt x="0" y="0"/>
                </a:moveTo>
                <a:lnTo>
                  <a:pt x="664867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215009" y="8362087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6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15009" y="8655708"/>
            <a:ext cx="6165215" cy="0"/>
          </a:xfrm>
          <a:custGeom>
            <a:avLst/>
            <a:gdLst/>
            <a:ahLst/>
            <a:cxnLst/>
            <a:rect l="l" t="t" r="r" b="b"/>
            <a:pathLst>
              <a:path w="6165215" h="0">
                <a:moveTo>
                  <a:pt x="0" y="0"/>
                </a:moveTo>
                <a:lnTo>
                  <a:pt x="616466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6779" y="325868"/>
            <a:ext cx="10694670" cy="201485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marL="12700" marR="478155" indent="1270">
              <a:lnSpc>
                <a:spcPts val="5930"/>
              </a:lnSpc>
              <a:spcBef>
                <a:spcPts val="1235"/>
              </a:spcBef>
            </a:pPr>
            <a:r>
              <a:rPr dirty="0" sz="5850" spc="-125" b="1">
                <a:solidFill>
                  <a:srgbClr val="0E2F42"/>
                </a:solidFill>
                <a:latin typeface="Times New Roman"/>
                <a:cs typeface="Times New Roman"/>
              </a:rPr>
              <a:t>The</a:t>
            </a:r>
            <a:r>
              <a:rPr dirty="0" sz="5850" spc="-245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spc="-220" b="1">
                <a:solidFill>
                  <a:srgbClr val="0E2F42"/>
                </a:solidFill>
                <a:latin typeface="Times New Roman"/>
                <a:cs typeface="Times New Roman"/>
              </a:rPr>
              <a:t>Risl&lt;</a:t>
            </a:r>
            <a:r>
              <a:rPr dirty="0" sz="5850" spc="-220" b="1">
                <a:solidFill>
                  <a:srgbClr val="161818"/>
                </a:solidFill>
                <a:latin typeface="Times New Roman"/>
                <a:cs typeface="Times New Roman"/>
              </a:rPr>
              <a:t>-</a:t>
            </a:r>
            <a:r>
              <a:rPr dirty="0" sz="5850" spc="-254" b="1">
                <a:solidFill>
                  <a:srgbClr val="0E2F42"/>
                </a:solidFill>
                <a:latin typeface="Times New Roman"/>
                <a:cs typeface="Times New Roman"/>
              </a:rPr>
              <a:t>Based</a:t>
            </a:r>
            <a:r>
              <a:rPr dirty="0" sz="5850" spc="-470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spc="-140" b="1">
                <a:solidFill>
                  <a:srgbClr val="0E2F42"/>
                </a:solidFill>
                <a:latin typeface="Times New Roman"/>
                <a:cs typeface="Times New Roman"/>
              </a:rPr>
              <a:t>Approach</a:t>
            </a:r>
            <a:r>
              <a:rPr dirty="0" sz="5850" spc="-120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spc="-340" b="1">
                <a:solidFill>
                  <a:srgbClr val="0E2F42"/>
                </a:solidFill>
                <a:latin typeface="Times New Roman"/>
                <a:cs typeface="Times New Roman"/>
              </a:rPr>
              <a:t>(RBA). </a:t>
            </a:r>
            <a:r>
              <a:rPr dirty="0" sz="5850" spc="-150" b="1">
                <a:solidFill>
                  <a:srgbClr val="0E2F42"/>
                </a:solidFill>
                <a:latin typeface="Times New Roman"/>
                <a:cs typeface="Times New Roman"/>
              </a:rPr>
              <a:t>One</a:t>
            </a:r>
            <a:r>
              <a:rPr dirty="0" sz="5850" spc="-320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b="1">
                <a:solidFill>
                  <a:srgbClr val="0E2F42"/>
                </a:solidFill>
                <a:latin typeface="Times New Roman"/>
                <a:cs typeface="Times New Roman"/>
              </a:rPr>
              <a:t>Size</a:t>
            </a:r>
            <a:r>
              <a:rPr dirty="0" sz="5850" spc="-245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b="1">
                <a:solidFill>
                  <a:srgbClr val="0E2F42"/>
                </a:solidFill>
                <a:latin typeface="Times New Roman"/>
                <a:cs typeface="Times New Roman"/>
              </a:rPr>
              <a:t>Does</a:t>
            </a:r>
            <a:r>
              <a:rPr dirty="0" sz="5850" spc="-195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spc="-130" b="1">
                <a:solidFill>
                  <a:srgbClr val="0E2F42"/>
                </a:solidFill>
                <a:latin typeface="Times New Roman"/>
                <a:cs typeface="Times New Roman"/>
              </a:rPr>
              <a:t>Not</a:t>
            </a:r>
            <a:r>
              <a:rPr dirty="0" sz="5850" spc="-254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spc="-195" b="1">
                <a:solidFill>
                  <a:srgbClr val="0E2F42"/>
                </a:solidFill>
                <a:latin typeface="Times New Roman"/>
                <a:cs typeface="Times New Roman"/>
              </a:rPr>
              <a:t>Fit</a:t>
            </a:r>
            <a:r>
              <a:rPr dirty="0" sz="5850" spc="-350" b="1">
                <a:solidFill>
                  <a:srgbClr val="0E2F42"/>
                </a:solidFill>
                <a:latin typeface="Times New Roman"/>
                <a:cs typeface="Times New Roman"/>
              </a:rPr>
              <a:t> </a:t>
            </a:r>
            <a:r>
              <a:rPr dirty="0" sz="5850" spc="-20" b="1">
                <a:solidFill>
                  <a:srgbClr val="0E2F42"/>
                </a:solidFill>
                <a:latin typeface="Times New Roman"/>
                <a:cs typeface="Times New Roman"/>
              </a:rPr>
              <a:t>All.</a:t>
            </a:r>
            <a:endParaRPr sz="5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285"/>
              </a:spcBef>
              <a:tabLst>
                <a:tab pos="974090" algn="l"/>
              </a:tabLst>
            </a:pPr>
            <a:r>
              <a:rPr dirty="0" u="heavy" sz="1150">
                <a:solidFill>
                  <a:srgbClr val="6B727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1150" spc="-25">
                <a:solidFill>
                  <a:srgbClr val="6B7272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32</a:t>
            </a:r>
            <a:endParaRPr sz="11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838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eboo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12897764" y="262036"/>
            <a:ext cx="601980" cy="9829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250" spc="-540">
                <a:solidFill>
                  <a:srgbClr val="050505"/>
                </a:solidFill>
                <a:latin typeface="Arial"/>
                <a:cs typeface="Arial"/>
              </a:rPr>
              <a:t>n</a:t>
            </a:r>
            <a:r>
              <a:rPr dirty="0" sz="6250" spc="-540">
                <a:solidFill>
                  <a:srgbClr val="6B7272"/>
                </a:solidFill>
                <a:latin typeface="Arial"/>
                <a:cs typeface="Arial"/>
              </a:rPr>
              <a:t>,</a:t>
            </a:r>
            <a:endParaRPr sz="6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20889" y="728000"/>
            <a:ext cx="3138805" cy="553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940"/>
              </a:lnSpc>
              <a:spcBef>
                <a:spcPts val="110"/>
              </a:spcBef>
            </a:pPr>
            <a:r>
              <a:rPr dirty="0" sz="2600" spc="-80">
                <a:solidFill>
                  <a:srgbClr val="959797"/>
                </a:solidFill>
                <a:latin typeface="Arial"/>
                <a:cs typeface="Arial"/>
              </a:rPr>
              <a:t>Banque</a:t>
            </a:r>
            <a:r>
              <a:rPr dirty="0" sz="2600" spc="-80">
                <a:solidFill>
                  <a:srgbClr val="050505"/>
                </a:solidFill>
                <a:latin typeface="Arial"/>
                <a:cs typeface="Arial"/>
              </a:rPr>
              <a:t>Nationale</a:t>
            </a:r>
            <a:r>
              <a:rPr dirty="0" sz="2600" spc="-80">
                <a:solidFill>
                  <a:srgbClr val="959797"/>
                </a:solidFill>
                <a:latin typeface="Arial"/>
                <a:cs typeface="Arial"/>
              </a:rPr>
              <a:t>Bank</a:t>
            </a:r>
            <a:endParaRPr sz="2600">
              <a:latin typeface="Arial"/>
              <a:cs typeface="Arial"/>
            </a:endParaRPr>
          </a:p>
          <a:p>
            <a:pPr marL="1043940">
              <a:lnSpc>
                <a:spcPts val="1200"/>
              </a:lnSpc>
              <a:tabLst>
                <a:tab pos="2417445" algn="l"/>
              </a:tabLst>
            </a:pPr>
            <a:r>
              <a:rPr dirty="0" sz="1150" spc="-10">
                <a:solidFill>
                  <a:srgbClr val="161818"/>
                </a:solidFill>
                <a:latin typeface="Arial"/>
                <a:cs typeface="Arial"/>
              </a:rPr>
              <a:t>D</a:t>
            </a:r>
            <a:r>
              <a:rPr dirty="0" sz="1150" spc="-10">
                <a:solidFill>
                  <a:srgbClr val="464B4B"/>
                </a:solidFill>
                <a:latin typeface="Arial"/>
                <a:cs typeface="Arial"/>
              </a:rPr>
              <a:t>EBEL</a:t>
            </a:r>
            <a:r>
              <a:rPr dirty="0" sz="1150" spc="-10">
                <a:solidFill>
                  <a:srgbClr val="2B3131"/>
                </a:solidFill>
                <a:latin typeface="Arial"/>
                <a:cs typeface="Arial"/>
              </a:rPr>
              <a:t>G</a:t>
            </a:r>
            <a:r>
              <a:rPr dirty="0" sz="1150" spc="-10">
                <a:solidFill>
                  <a:srgbClr val="464B4B"/>
                </a:solidFill>
                <a:latin typeface="Arial"/>
                <a:cs typeface="Arial"/>
              </a:rPr>
              <a:t>IQ</a:t>
            </a:r>
            <a:r>
              <a:rPr dirty="0" sz="1150" spc="-10">
                <a:solidFill>
                  <a:srgbClr val="161818"/>
                </a:solidFill>
                <a:latin typeface="Arial"/>
                <a:cs typeface="Arial"/>
              </a:rPr>
              <a:t>U</a:t>
            </a:r>
            <a:r>
              <a:rPr dirty="0" sz="1150" spc="-10">
                <a:solidFill>
                  <a:srgbClr val="464B4B"/>
                </a:solidFill>
                <a:latin typeface="Arial"/>
                <a:cs typeface="Arial"/>
              </a:rPr>
              <a:t>E</a:t>
            </a:r>
            <a:r>
              <a:rPr dirty="0" sz="1150">
                <a:solidFill>
                  <a:srgbClr val="464B4B"/>
                </a:solidFill>
                <a:latin typeface="Arial"/>
                <a:cs typeface="Arial"/>
              </a:rPr>
              <a:t>	</a:t>
            </a:r>
            <a:r>
              <a:rPr dirty="0" sz="1150" spc="-95">
                <a:solidFill>
                  <a:srgbClr val="2B3131"/>
                </a:solidFill>
                <a:latin typeface="Arial"/>
                <a:cs typeface="Arial"/>
              </a:rPr>
              <a:t>VA</a:t>
            </a:r>
            <a:r>
              <a:rPr dirty="0" sz="1150" spc="-95">
                <a:solidFill>
                  <a:srgbClr val="161818"/>
                </a:solidFill>
                <a:latin typeface="Arial"/>
                <a:cs typeface="Arial"/>
              </a:rPr>
              <a:t>N</a:t>
            </a:r>
            <a:r>
              <a:rPr dirty="0" sz="1150" spc="-95">
                <a:solidFill>
                  <a:srgbClr val="2B3131"/>
                </a:solidFill>
                <a:latin typeface="Arial"/>
                <a:cs typeface="Arial"/>
              </a:rPr>
              <a:t>B</a:t>
            </a:r>
            <a:r>
              <a:rPr dirty="0" sz="1150" spc="-95">
                <a:solidFill>
                  <a:srgbClr val="464B4B"/>
                </a:solidFill>
                <a:latin typeface="Arial"/>
                <a:cs typeface="Arial"/>
              </a:rPr>
              <a:t>E</a:t>
            </a:r>
            <a:r>
              <a:rPr dirty="0" sz="1150" spc="-95">
                <a:solidFill>
                  <a:srgbClr val="2B3131"/>
                </a:solidFill>
                <a:latin typeface="Arial"/>
                <a:cs typeface="Arial"/>
              </a:rPr>
              <a:t>L</a:t>
            </a:r>
            <a:r>
              <a:rPr dirty="0" sz="1150" spc="-95">
                <a:solidFill>
                  <a:srgbClr val="464B4B"/>
                </a:solidFill>
                <a:latin typeface="Arial"/>
                <a:cs typeface="Arial"/>
              </a:rPr>
              <a:t>C</a:t>
            </a:r>
            <a:r>
              <a:rPr dirty="0" sz="1150" spc="-95">
                <a:solidFill>
                  <a:srgbClr val="161818"/>
                </a:solidFill>
                <a:latin typeface="Arial"/>
                <a:cs typeface="Arial"/>
              </a:rPr>
              <a:t>I</a:t>
            </a:r>
            <a:r>
              <a:rPr dirty="0" sz="1150" spc="-95">
                <a:solidFill>
                  <a:srgbClr val="2B3131"/>
                </a:solidFill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30985" y="1264179"/>
            <a:ext cx="87312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65">
                <a:solidFill>
                  <a:srgbClr val="A7A7A5"/>
                </a:solidFill>
                <a:latin typeface="Arial"/>
                <a:cs typeface="Arial"/>
              </a:rPr>
              <a:t>Eurosystem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91337" y="2138659"/>
            <a:ext cx="20002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5">
                <a:solidFill>
                  <a:srgbClr val="6B7272"/>
                </a:solidFill>
                <a:latin typeface="Arial"/>
                <a:cs typeface="Arial"/>
              </a:rPr>
              <a:t>28</a:t>
            </a:r>
            <a:endParaRPr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41981" y="2138659"/>
            <a:ext cx="18669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5">
                <a:solidFill>
                  <a:srgbClr val="6B7272"/>
                </a:solidFill>
                <a:latin typeface="Arial"/>
                <a:cs typeface="Arial"/>
              </a:rPr>
              <a:t>20</a:t>
            </a:r>
            <a:endParaRPr sz="1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618" y="3000375"/>
            <a:ext cx="5906135" cy="11518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17170" marR="5080" indent="-205104">
              <a:lnSpc>
                <a:spcPct val="91800"/>
              </a:lnSpc>
              <a:spcBef>
                <a:spcPts val="370"/>
              </a:spcBef>
            </a:pPr>
            <a:r>
              <a:rPr dirty="0" sz="2600">
                <a:solidFill>
                  <a:srgbClr val="050505"/>
                </a:solidFill>
                <a:latin typeface="Arial"/>
                <a:cs typeface="Arial"/>
              </a:rPr>
              <a:t>-</a:t>
            </a:r>
            <a:r>
              <a:rPr dirty="0" sz="2600" spc="-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85" b="1">
                <a:solidFill>
                  <a:srgbClr val="050505"/>
                </a:solidFill>
                <a:latin typeface="Arial"/>
                <a:cs typeface="Arial"/>
              </a:rPr>
              <a:t>Core</a:t>
            </a:r>
            <a:r>
              <a:rPr dirty="0" sz="2600" spc="-42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00" b="1">
                <a:solidFill>
                  <a:srgbClr val="050505"/>
                </a:solidFill>
                <a:latin typeface="Arial"/>
                <a:cs typeface="Arial"/>
              </a:rPr>
              <a:t>Principle:</a:t>
            </a:r>
            <a:r>
              <a:rPr dirty="0" sz="2600" spc="-17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50505"/>
                </a:solidFill>
                <a:latin typeface="Arial"/>
                <a:cs typeface="Arial"/>
              </a:rPr>
              <a:t>Institutions</a:t>
            </a:r>
            <a:r>
              <a:rPr dirty="0" sz="2600" spc="3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determine mitigation</a:t>
            </a:r>
            <a:r>
              <a:rPr dirty="0" sz="2600" spc="-5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161818"/>
                </a:solidFill>
                <a:latin typeface="Arial"/>
                <a:cs typeface="Arial"/>
              </a:rPr>
              <a:t>strategies</a:t>
            </a:r>
            <a:r>
              <a:rPr dirty="0" sz="2600" spc="2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70">
                <a:solidFill>
                  <a:srgbClr val="161818"/>
                </a:solidFill>
                <a:latin typeface="Arial"/>
                <a:cs typeface="Arial"/>
              </a:rPr>
              <a:t>based</a:t>
            </a:r>
            <a:r>
              <a:rPr dirty="0" sz="2600" spc="-14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1818"/>
                </a:solidFill>
                <a:latin typeface="Arial"/>
                <a:cs typeface="Arial"/>
              </a:rPr>
              <a:t>on</a:t>
            </a:r>
            <a:r>
              <a:rPr dirty="0" sz="2600" spc="-20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1818"/>
                </a:solidFill>
                <a:latin typeface="Arial"/>
                <a:cs typeface="Arial"/>
              </a:rPr>
              <a:t>their</a:t>
            </a:r>
            <a:r>
              <a:rPr dirty="0" sz="2600" spc="-114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161818"/>
                </a:solidFill>
                <a:latin typeface="Arial"/>
                <a:cs typeface="Arial"/>
              </a:rPr>
              <a:t>own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risk</a:t>
            </a:r>
            <a:r>
              <a:rPr dirty="0" sz="2600" spc="-15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a</a:t>
            </a:r>
            <a:r>
              <a:rPr dirty="0" sz="2600" spc="-10">
                <a:solidFill>
                  <a:srgbClr val="2B3131"/>
                </a:solidFill>
                <a:latin typeface="Arial"/>
                <a:cs typeface="Arial"/>
              </a:rPr>
              <a:t>s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ses</a:t>
            </a:r>
            <a:r>
              <a:rPr dirty="0" sz="2600" spc="-10">
                <a:solidFill>
                  <a:srgbClr val="2B3131"/>
                </a:solidFill>
                <a:latin typeface="Arial"/>
                <a:cs typeface="Arial"/>
              </a:rPr>
              <a:t>s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ment</a:t>
            </a:r>
            <a:r>
              <a:rPr dirty="0" sz="2600" spc="-10">
                <a:solidFill>
                  <a:srgbClr val="2B3131"/>
                </a:solidFill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618" y="4455716"/>
            <a:ext cx="5844540" cy="78168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232410" marR="5080" indent="-220345">
              <a:lnSpc>
                <a:spcPts val="2810"/>
              </a:lnSpc>
              <a:spcBef>
                <a:spcPts val="465"/>
              </a:spcBef>
            </a:pPr>
            <a:r>
              <a:rPr dirty="0" sz="2600">
                <a:solidFill>
                  <a:srgbClr val="050505"/>
                </a:solidFill>
                <a:latin typeface="Arial"/>
                <a:cs typeface="Arial"/>
              </a:rPr>
              <a:t>-</a:t>
            </a:r>
            <a:r>
              <a:rPr dirty="0" sz="2600" spc="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55" b="1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dirty="0" sz="2600" spc="-33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00" b="1">
                <a:solidFill>
                  <a:srgbClr val="050505"/>
                </a:solidFill>
                <a:latin typeface="Arial"/>
                <a:cs typeface="Arial"/>
              </a:rPr>
              <a:t>Reality:</a:t>
            </a:r>
            <a:r>
              <a:rPr dirty="0" sz="2600" spc="-18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05">
                <a:solidFill>
                  <a:srgbClr val="161818"/>
                </a:solidFill>
                <a:latin typeface="Arial"/>
                <a:cs typeface="Arial"/>
              </a:rPr>
              <a:t>"Residual</a:t>
            </a:r>
            <a:r>
              <a:rPr dirty="0" sz="2600" spc="-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1818"/>
                </a:solidFill>
                <a:latin typeface="Arial"/>
                <a:cs typeface="Arial"/>
              </a:rPr>
              <a:t>risk"</a:t>
            </a:r>
            <a:r>
              <a:rPr dirty="0" sz="2600" spc="-22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90">
                <a:solidFill>
                  <a:srgbClr val="050505"/>
                </a:solidFill>
                <a:latin typeface="Arial"/>
                <a:cs typeface="Arial"/>
              </a:rPr>
              <a:t>is</a:t>
            </a:r>
            <a:r>
              <a:rPr dirty="0" sz="2600" spc="-19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accepted</a:t>
            </a:r>
            <a:r>
              <a:rPr dirty="0" sz="2600" spc="-10">
                <a:solidFill>
                  <a:srgbClr val="2B3131"/>
                </a:solidFill>
                <a:latin typeface="Arial"/>
                <a:cs typeface="Arial"/>
              </a:rPr>
              <a:t>; </a:t>
            </a:r>
            <a:r>
              <a:rPr dirty="0" sz="2600" spc="-80">
                <a:solidFill>
                  <a:srgbClr val="161818"/>
                </a:solidFill>
                <a:latin typeface="Arial"/>
                <a:cs typeface="Arial"/>
              </a:rPr>
              <a:t>zero</a:t>
            </a:r>
            <a:r>
              <a:rPr dirty="0" sz="2600" spc="-8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30">
                <a:solidFill>
                  <a:srgbClr val="050505"/>
                </a:solidFill>
                <a:latin typeface="Arial"/>
                <a:cs typeface="Arial"/>
              </a:rPr>
              <a:t>risk</a:t>
            </a:r>
            <a:r>
              <a:rPr dirty="0" sz="2600" spc="-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1818"/>
                </a:solidFill>
                <a:latin typeface="Arial"/>
                <a:cs typeface="Arial"/>
              </a:rPr>
              <a:t>is</a:t>
            </a:r>
            <a:r>
              <a:rPr dirty="0" sz="2600" spc="-27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050505"/>
                </a:solidFill>
                <a:latin typeface="Arial"/>
                <a:cs typeface="Arial"/>
              </a:rPr>
              <a:t>impossible.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1355" y="5540838"/>
            <a:ext cx="6004560" cy="15220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03200" marR="5080" indent="-191135">
              <a:lnSpc>
                <a:spcPct val="92400"/>
              </a:lnSpc>
              <a:spcBef>
                <a:spcPts val="350"/>
              </a:spcBef>
            </a:pPr>
            <a:r>
              <a:rPr dirty="0" sz="2600">
                <a:solidFill>
                  <a:srgbClr val="050505"/>
                </a:solidFill>
                <a:latin typeface="Arial"/>
                <a:cs typeface="Arial"/>
              </a:rPr>
              <a:t>-</a:t>
            </a:r>
            <a:r>
              <a:rPr dirty="0" sz="2600" spc="-14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200" b="1">
                <a:solidFill>
                  <a:srgbClr val="050505"/>
                </a:solidFill>
                <a:latin typeface="Arial"/>
                <a:cs typeface="Arial"/>
              </a:rPr>
              <a:t>DNB</a:t>
            </a:r>
            <a:r>
              <a:rPr dirty="0" sz="2600" spc="-33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180" b="1">
                <a:solidFill>
                  <a:srgbClr val="050505"/>
                </a:solidFill>
                <a:latin typeface="Arial"/>
                <a:cs typeface="Arial"/>
              </a:rPr>
              <a:t>Good</a:t>
            </a:r>
            <a:r>
              <a:rPr dirty="0" sz="2600" spc="-19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600" spc="-70" b="1">
                <a:solidFill>
                  <a:srgbClr val="050505"/>
                </a:solidFill>
                <a:latin typeface="Arial"/>
                <a:cs typeface="Arial"/>
              </a:rPr>
              <a:t>Practice</a:t>
            </a:r>
            <a:r>
              <a:rPr dirty="0" sz="2600" spc="-70" b="1">
                <a:solidFill>
                  <a:srgbClr val="2B3131"/>
                </a:solidFill>
                <a:latin typeface="Arial"/>
                <a:cs typeface="Arial"/>
              </a:rPr>
              <a:t>:</a:t>
            </a:r>
            <a:r>
              <a:rPr dirty="0" sz="2600" spc="-400" b="1">
                <a:solidFill>
                  <a:srgbClr val="2B3131"/>
                </a:solidFill>
                <a:latin typeface="Arial"/>
                <a:cs typeface="Arial"/>
              </a:rPr>
              <a:t> </a:t>
            </a:r>
            <a:r>
              <a:rPr dirty="0" sz="2600" spc="-45">
                <a:solidFill>
                  <a:srgbClr val="161818"/>
                </a:solidFill>
                <a:latin typeface="Arial"/>
                <a:cs typeface="Arial"/>
              </a:rPr>
              <a:t>Classify</a:t>
            </a:r>
            <a:r>
              <a:rPr dirty="0" sz="2600" spc="2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customers </a:t>
            </a:r>
            <a:r>
              <a:rPr dirty="0" sz="2600" spc="-50">
                <a:solidFill>
                  <a:srgbClr val="161818"/>
                </a:solidFill>
                <a:latin typeface="Arial"/>
                <a:cs typeface="Arial"/>
              </a:rPr>
              <a:t>based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1818"/>
                </a:solidFill>
                <a:latin typeface="Arial"/>
                <a:cs typeface="Arial"/>
              </a:rPr>
              <a:t>on</a:t>
            </a:r>
            <a:r>
              <a:rPr dirty="0" sz="2600" spc="-23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20">
                <a:solidFill>
                  <a:srgbClr val="161818"/>
                </a:solidFill>
                <a:latin typeface="Arial"/>
                <a:cs typeface="Arial"/>
              </a:rPr>
              <a:t>characteri</a:t>
            </a:r>
            <a:r>
              <a:rPr dirty="0" sz="2600" spc="-20">
                <a:solidFill>
                  <a:srgbClr val="2B3131"/>
                </a:solidFill>
                <a:latin typeface="Arial"/>
                <a:cs typeface="Arial"/>
              </a:rPr>
              <a:t>s</a:t>
            </a:r>
            <a:r>
              <a:rPr dirty="0" sz="2600" spc="-20">
                <a:solidFill>
                  <a:srgbClr val="161818"/>
                </a:solidFill>
                <a:latin typeface="Arial"/>
                <a:cs typeface="Arial"/>
              </a:rPr>
              <a:t>tics</a:t>
            </a:r>
            <a:r>
              <a:rPr dirty="0" sz="2600" spc="-23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(sector, </a:t>
            </a:r>
            <a:r>
              <a:rPr dirty="0" sz="2600" spc="-45">
                <a:solidFill>
                  <a:srgbClr val="161818"/>
                </a:solidFill>
                <a:latin typeface="Arial"/>
                <a:cs typeface="Arial"/>
              </a:rPr>
              <a:t>geography</a:t>
            </a:r>
            <a:r>
              <a:rPr dirty="0" sz="2600" spc="-45">
                <a:solidFill>
                  <a:srgbClr val="2B3131"/>
                </a:solidFill>
                <a:latin typeface="Arial"/>
                <a:cs typeface="Arial"/>
              </a:rPr>
              <a:t>,</a:t>
            </a:r>
            <a:r>
              <a:rPr dirty="0" sz="2600" spc="-300">
                <a:solidFill>
                  <a:srgbClr val="2B3131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product)</a:t>
            </a:r>
            <a:r>
              <a:rPr dirty="0" sz="2600" spc="3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50">
                <a:solidFill>
                  <a:srgbClr val="161818"/>
                </a:solidFill>
                <a:latin typeface="Arial"/>
                <a:cs typeface="Arial"/>
              </a:rPr>
              <a:t>to</a:t>
            </a:r>
            <a:r>
              <a:rPr dirty="0" sz="2600" spc="-185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40">
                <a:solidFill>
                  <a:srgbClr val="161818"/>
                </a:solidFill>
                <a:latin typeface="Arial"/>
                <a:cs typeface="Arial"/>
              </a:rPr>
              <a:t>apply</a:t>
            </a:r>
            <a:r>
              <a:rPr dirty="0" sz="2600" spc="-14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35">
                <a:solidFill>
                  <a:srgbClr val="161818"/>
                </a:solidFill>
                <a:latin typeface="Arial"/>
                <a:cs typeface="Arial"/>
              </a:rPr>
              <a:t>appropriate </a:t>
            </a:r>
            <a:r>
              <a:rPr dirty="0" sz="2600" spc="-45">
                <a:solidFill>
                  <a:srgbClr val="161818"/>
                </a:solidFill>
                <a:latin typeface="Arial"/>
                <a:cs typeface="Arial"/>
              </a:rPr>
              <a:t>diligence</a:t>
            </a:r>
            <a:r>
              <a:rPr dirty="0" sz="2600" spc="-110">
                <a:solidFill>
                  <a:srgbClr val="161818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1818"/>
                </a:solidFill>
                <a:latin typeface="Arial"/>
                <a:cs typeface="Arial"/>
              </a:rPr>
              <a:t>measures.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14428" y="4653591"/>
            <a:ext cx="31115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-305">
                <a:solidFill>
                  <a:srgbClr val="2B3131"/>
                </a:solidFill>
                <a:latin typeface="Arial"/>
                <a:cs typeface="Arial"/>
              </a:rPr>
              <a:t>....,</a:t>
            </a:r>
            <a:endParaRPr sz="2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87011" y="4915296"/>
            <a:ext cx="12509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550" b="1">
                <a:solidFill>
                  <a:srgbClr val="2B3131"/>
                </a:solidFill>
                <a:latin typeface="Times New Roman"/>
                <a:cs typeface="Times New Roman"/>
              </a:rPr>
              <a:t>u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94086" y="5100406"/>
            <a:ext cx="23558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85">
                <a:solidFill>
                  <a:srgbClr val="2B3131"/>
                </a:solidFill>
                <a:latin typeface="Times New Roman"/>
                <a:cs typeface="Times New Roman"/>
              </a:rPr>
              <a:t>ro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85648" y="5291898"/>
            <a:ext cx="32258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161818"/>
                </a:solidFill>
                <a:latin typeface="Arial"/>
                <a:cs typeface="Arial"/>
              </a:rPr>
              <a:t>c..</a:t>
            </a:r>
            <a:endParaRPr sz="20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98333" y="5298280"/>
            <a:ext cx="34480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8970" sz="6150" spc="-1492">
                <a:solidFill>
                  <a:srgbClr val="161818"/>
                </a:solidFill>
                <a:latin typeface="Times New Roman"/>
                <a:cs typeface="Times New Roman"/>
              </a:rPr>
              <a:t>-</a:t>
            </a:r>
            <a:r>
              <a:rPr dirty="0" sz="2400" spc="75">
                <a:solidFill>
                  <a:srgbClr val="161818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25436" y="6772771"/>
            <a:ext cx="1495425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50" spc="-110" b="1">
                <a:solidFill>
                  <a:srgbClr val="050505"/>
                </a:solidFill>
                <a:latin typeface="Arial"/>
                <a:cs typeface="Arial"/>
              </a:rPr>
              <a:t>Low</a:t>
            </a:r>
            <a:r>
              <a:rPr dirty="0" sz="2450" spc="-25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50505"/>
                </a:solidFill>
                <a:latin typeface="Arial"/>
                <a:cs typeface="Arial"/>
              </a:rPr>
              <a:t>Risk=</a:t>
            </a:r>
            <a:endParaRPr sz="24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445305" y="8757906"/>
            <a:ext cx="1477645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30">
                <a:solidFill>
                  <a:srgbClr val="050505"/>
                </a:solidFill>
                <a:latin typeface="Arial"/>
                <a:cs typeface="Arial"/>
              </a:rPr>
              <a:t>L</a:t>
            </a:r>
            <a:r>
              <a:rPr dirty="0" sz="2600" spc="-30">
                <a:solidFill>
                  <a:srgbClr val="2B3131"/>
                </a:solidFill>
                <a:latin typeface="Arial"/>
                <a:cs typeface="Arial"/>
              </a:rPr>
              <a:t>i</a:t>
            </a:r>
            <a:r>
              <a:rPr dirty="0" sz="2600" spc="-30">
                <a:solidFill>
                  <a:srgbClr val="161818"/>
                </a:solidFill>
                <a:latin typeface="Arial"/>
                <a:cs typeface="Arial"/>
              </a:rPr>
              <a:t>keliho</a:t>
            </a:r>
            <a:r>
              <a:rPr dirty="0" sz="2600" spc="-30">
                <a:solidFill>
                  <a:srgbClr val="2B3131"/>
                </a:solidFill>
                <a:latin typeface="Arial"/>
                <a:cs typeface="Arial"/>
              </a:rPr>
              <a:t>o</a:t>
            </a:r>
            <a:r>
              <a:rPr dirty="0" sz="2600" spc="-30">
                <a:solidFill>
                  <a:srgbClr val="161818"/>
                </a:solidFill>
                <a:latin typeface="Arial"/>
                <a:cs typeface="Arial"/>
              </a:rPr>
              <a:t>d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49959" y="3064139"/>
            <a:ext cx="4687570" cy="2425700"/>
            <a:chOff x="10749959" y="3064139"/>
            <a:chExt cx="4687570" cy="242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30401" y="3064139"/>
              <a:ext cx="1706746" cy="13276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49959" y="3702446"/>
              <a:ext cx="3056860" cy="178726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917058" y="8349321"/>
            <a:ext cx="0" cy="1021715"/>
          </a:xfrm>
          <a:custGeom>
            <a:avLst/>
            <a:gdLst/>
            <a:ahLst/>
            <a:cxnLst/>
            <a:rect l="l" t="t" r="r" b="b"/>
            <a:pathLst>
              <a:path w="0" h="1021715">
                <a:moveTo>
                  <a:pt x="0" y="1021291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50263" y="1915186"/>
            <a:ext cx="0" cy="5872480"/>
          </a:xfrm>
          <a:custGeom>
            <a:avLst/>
            <a:gdLst/>
            <a:ahLst/>
            <a:cxnLst/>
            <a:rect l="l" t="t" r="r" b="b"/>
            <a:pathLst>
              <a:path w="0" h="5872480">
                <a:moveTo>
                  <a:pt x="0" y="587242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246396" y="4213091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067774" y="4749269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424408" y="3983301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634417" y="8374853"/>
            <a:ext cx="0" cy="996315"/>
          </a:xfrm>
          <a:custGeom>
            <a:avLst/>
            <a:gdLst/>
            <a:ahLst/>
            <a:cxnLst/>
            <a:rect l="l" t="t" r="r" b="b"/>
            <a:pathLst>
              <a:path w="0"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628503" y="3051372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271870" y="3498187"/>
            <a:ext cx="407670" cy="0"/>
          </a:xfrm>
          <a:custGeom>
            <a:avLst/>
            <a:gdLst/>
            <a:ahLst/>
            <a:cxnLst/>
            <a:rect l="l" t="t" r="r" b="b"/>
            <a:pathLst>
              <a:path w="407669" h="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246396" y="4110962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 h="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545561" y="4634374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 h="0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545561" y="5247149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5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628503" y="5693964"/>
            <a:ext cx="993775" cy="0"/>
          </a:xfrm>
          <a:custGeom>
            <a:avLst/>
            <a:gdLst/>
            <a:ahLst/>
            <a:cxnLst/>
            <a:rect l="l" t="t" r="r" b="b"/>
            <a:pathLst>
              <a:path w="993775" h="0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6110" y="8374853"/>
            <a:ext cx="15794355" cy="0"/>
          </a:xfrm>
          <a:custGeom>
            <a:avLst/>
            <a:gdLst/>
            <a:ahLst/>
            <a:cxnLst/>
            <a:rect l="l" t="t" r="r" b="b"/>
            <a:pathLst>
              <a:path w="15794355" h="0">
                <a:moveTo>
                  <a:pt x="0" y="0"/>
                </a:moveTo>
                <a:lnTo>
                  <a:pt x="1579378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66110" y="9332314"/>
            <a:ext cx="15794355" cy="0"/>
          </a:xfrm>
          <a:custGeom>
            <a:avLst/>
            <a:gdLst/>
            <a:ahLst/>
            <a:cxnLst/>
            <a:rect l="l" t="t" r="r" b="b"/>
            <a:pathLst>
              <a:path w="15794355" h="0">
                <a:moveTo>
                  <a:pt x="0" y="0"/>
                </a:moveTo>
                <a:lnTo>
                  <a:pt x="1579378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39498" y="3817341"/>
            <a:ext cx="548005" cy="0"/>
          </a:xfrm>
          <a:custGeom>
            <a:avLst/>
            <a:gdLst/>
            <a:ahLst/>
            <a:cxnLst/>
            <a:rect l="l" t="t" r="r" b="b"/>
            <a:pathLst>
              <a:path w="548004" h="0">
                <a:moveTo>
                  <a:pt x="0" y="0"/>
                </a:moveTo>
                <a:lnTo>
                  <a:pt x="54768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10234" y="3932236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10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39498" y="4047131"/>
            <a:ext cx="548005" cy="0"/>
          </a:xfrm>
          <a:custGeom>
            <a:avLst/>
            <a:gdLst/>
            <a:ahLst/>
            <a:cxnLst/>
            <a:rect l="l" t="t" r="r" b="b"/>
            <a:pathLst>
              <a:path w="548004" h="0">
                <a:moveTo>
                  <a:pt x="0" y="0"/>
                </a:moveTo>
                <a:lnTo>
                  <a:pt x="54768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16451" y="3932236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4133130" y="4047131"/>
            <a:ext cx="567055" cy="294005"/>
            <a:chOff x="4133130" y="4047131"/>
            <a:chExt cx="567055" cy="294005"/>
          </a:xfrm>
        </p:grpSpPr>
        <p:sp>
          <p:nvSpPr>
            <p:cNvPr id="24" name="object 24"/>
            <p:cNvSpPr/>
            <p:nvPr/>
          </p:nvSpPr>
          <p:spPr>
            <a:xfrm>
              <a:off x="4139498" y="4047131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4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39498" y="4136494"/>
              <a:ext cx="560705" cy="0"/>
            </a:xfrm>
            <a:custGeom>
              <a:avLst/>
              <a:gdLst/>
              <a:ahLst/>
              <a:cxnLst/>
              <a:rect l="l" t="t" r="r" b="b"/>
              <a:pathLst>
                <a:path w="560704" h="0">
                  <a:moveTo>
                    <a:pt x="0" y="0"/>
                  </a:moveTo>
                  <a:lnTo>
                    <a:pt x="560424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687186" y="4047131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4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4903713" y="4136494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03713" y="4340752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97497" y="4659906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39498" y="4825866"/>
            <a:ext cx="548005" cy="0"/>
          </a:xfrm>
          <a:custGeom>
            <a:avLst/>
            <a:gdLst/>
            <a:ahLst/>
            <a:cxnLst/>
            <a:rect l="l" t="t" r="r" b="b"/>
            <a:pathLst>
              <a:path w="548004" h="0">
                <a:moveTo>
                  <a:pt x="0" y="0"/>
                </a:moveTo>
                <a:lnTo>
                  <a:pt x="54768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2534647" y="3191800"/>
          <a:ext cx="4011929" cy="250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635000"/>
                <a:gridCol w="1108075"/>
                <a:gridCol w="1133475"/>
                <a:gridCol w="636904"/>
              </a:tblGrid>
              <a:tr h="1911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1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dirty="0" sz="1000" spc="-360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��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664"/>
                        </a:lnSpc>
                      </a:pPr>
                      <a:r>
                        <a:rPr dirty="0" sz="1800" spc="-25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§25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770"/>
                        </a:spcBef>
                        <a:tabLst>
                          <a:tab pos="720725" algn="l"/>
                        </a:tabLst>
                      </a:pPr>
                      <a:r>
                        <a:rPr dirty="0" sz="2950" spc="-25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r::</a:t>
                      </a:r>
                      <a:r>
                        <a:rPr dirty="0" sz="2950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19900" sz="5025" spc="-630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baseline="-19900" sz="5025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tabLst>
                          <a:tab pos="1054735" algn="l"/>
                        </a:tabLst>
                      </a:pPr>
                      <a:r>
                        <a:rPr dirty="0" sz="3550" spc="-50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L.!</a:t>
                      </a:r>
                      <a:r>
                        <a:rPr dirty="0" sz="3550" spc="-19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2735" sz="5850" spc="-1057" i="1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42735" sz="5850" i="1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19400" sz="4725" spc="-345">
                          <a:solidFill>
                            <a:srgbClr val="878E93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baseline="19400" sz="4725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0010">
                        <a:lnSpc>
                          <a:spcPts val="1465"/>
                        </a:lnSpc>
                      </a:pPr>
                      <a:r>
                        <a:rPr dirty="0" sz="2250" spc="-50">
                          <a:solidFill>
                            <a:srgbClr val="878E93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86055">
                        <a:lnSpc>
                          <a:spcPts val="2165"/>
                        </a:lnSpc>
                        <a:tabLst>
                          <a:tab pos="1313180" algn="l"/>
                        </a:tabLst>
                      </a:pPr>
                      <a:r>
                        <a:rPr dirty="0" baseline="-13071" sz="3825" spc="-472">
                          <a:solidFill>
                            <a:srgbClr val="72777E"/>
                          </a:solidFill>
                          <a:latin typeface="Microsoft Sans Serif"/>
                          <a:cs typeface="Microsoft Sans Serif"/>
                        </a:rPr>
                        <a:t>�-</a:t>
                      </a:r>
                      <a:r>
                        <a:rPr dirty="0" baseline="-13071" sz="3825">
                          <a:solidFill>
                            <a:srgbClr val="72777E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050" spc="-380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-33333" sz="3000" spc="-569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050" spc="-380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§</a:t>
                      </a:r>
                      <a:r>
                        <a:rPr dirty="0" baseline="-33333" sz="3000" spc="-569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1050" spc="-380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dirty="0" baseline="-33333" sz="3000" spc="-569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@</a:t>
                      </a:r>
                      <a:endParaRPr baseline="-33333" sz="3000">
                        <a:latin typeface="Arial"/>
                        <a:cs typeface="Arial"/>
                      </a:endParaRPr>
                    </a:p>
                    <a:p>
                      <a:pPr marL="520700">
                        <a:lnSpc>
                          <a:spcPts val="2940"/>
                        </a:lnSpc>
                      </a:pPr>
                      <a:r>
                        <a:rPr dirty="0" sz="2700" spc="-350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525780">
                        <a:lnSpc>
                          <a:spcPts val="2610"/>
                        </a:lnSpc>
                        <a:spcBef>
                          <a:spcPts val="125"/>
                        </a:spcBef>
                      </a:pPr>
                      <a:r>
                        <a:rPr dirty="0" sz="2250" spc="-50">
                          <a:solidFill>
                            <a:srgbClr val="878E93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66370">
                        <a:lnSpc>
                          <a:spcPts val="3690"/>
                        </a:lnSpc>
                        <a:tabLst>
                          <a:tab pos="1068705" algn="l"/>
                        </a:tabLst>
                      </a:pPr>
                      <a:r>
                        <a:rPr dirty="0" sz="2100" spc="-180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:'.J</a:t>
                      </a:r>
                      <a:r>
                        <a:rPr dirty="0" sz="2100" spc="-30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80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900" spc="-60">
                          <a:solidFill>
                            <a:srgbClr val="72777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baseline="8818" sz="4725" spc="-82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50" spc="-170" i="1">
                          <a:solidFill>
                            <a:srgbClr val="878E93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baseline="8818" sz="4725" spc="-3262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1350" spc="-30" i="1">
                          <a:solidFill>
                            <a:srgbClr val="878E93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5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�</a:t>
                      </a:r>
                      <a:r>
                        <a:rPr dirty="0" sz="1350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8818" sz="4725" spc="352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8818" sz="4725" spc="-85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·</a:t>
                      </a:r>
                      <a:r>
                        <a:rPr dirty="0" sz="1350" spc="70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\</a:t>
                      </a:r>
                      <a:r>
                        <a:rPr dirty="0" sz="1350" spc="-31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baseline="8818" sz="4725" spc="-31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sz="1350" spc="-55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dirty="0" baseline="8818" sz="4725" spc="104" i="1">
                          <a:solidFill>
                            <a:srgbClr val="72777E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baseline="8818" sz="4725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944"/>
                        </a:lnSpc>
                        <a:spcBef>
                          <a:spcPts val="935"/>
                        </a:spcBef>
                      </a:pPr>
                      <a:r>
                        <a:rPr dirty="0" sz="1650" spc="-50">
                          <a:solidFill>
                            <a:srgbClr val="72777E"/>
                          </a:solidFill>
                          <a:latin typeface="Microsoft Sans Serif"/>
                          <a:cs typeface="Microsoft Sans Serif"/>
                        </a:rPr>
                        <a:t>&lt;&lt;&lt;&lt;&lt;&lt;&lt;&lt;&lt;&lt;&lt;&lt;&lt;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43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650" spc="-50">
                          <a:solidFill>
                            <a:srgbClr val="72777E"/>
                          </a:solidFill>
                          <a:latin typeface="Microsoft Sans Serif"/>
                          <a:cs typeface="Microsoft Sans Serif"/>
                        </a:rPr>
                        <a:t>&lt;&lt;&lt;&lt;&lt;&lt;&lt;&lt;&lt;&lt;&lt;&lt;&lt;</a:t>
                      </a:r>
                      <a:endParaRPr sz="16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7112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337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112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3910234" y="3510953"/>
            <a:ext cx="229870" cy="0"/>
          </a:xfrm>
          <a:custGeom>
            <a:avLst/>
            <a:gdLst/>
            <a:ahLst/>
            <a:cxnLst/>
            <a:rect l="l" t="t" r="r" b="b"/>
            <a:pathLst>
              <a:path w="229870" h="0">
                <a:moveTo>
                  <a:pt x="0" y="0"/>
                </a:moveTo>
                <a:lnTo>
                  <a:pt x="22926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xfrm>
            <a:off x="850098" y="453528"/>
            <a:ext cx="13955394" cy="8915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00">
                <a:solidFill>
                  <a:srgbClr val="1C1F21"/>
                </a:solidFill>
              </a:rPr>
              <a:t>Customer</a:t>
            </a:r>
            <a:r>
              <a:rPr dirty="0" spc="5">
                <a:solidFill>
                  <a:srgbClr val="1C1F21"/>
                </a:solidFill>
              </a:rPr>
              <a:t> </a:t>
            </a:r>
            <a:r>
              <a:rPr dirty="0" spc="-170">
                <a:solidFill>
                  <a:srgbClr val="1C1F21"/>
                </a:solidFill>
              </a:rPr>
              <a:t>Due</a:t>
            </a:r>
            <a:r>
              <a:rPr dirty="0" spc="-335">
                <a:solidFill>
                  <a:srgbClr val="1C1F21"/>
                </a:solidFill>
              </a:rPr>
              <a:t> </a:t>
            </a:r>
            <a:r>
              <a:rPr dirty="0" spc="-200">
                <a:solidFill>
                  <a:srgbClr val="1C1F21"/>
                </a:solidFill>
              </a:rPr>
              <a:t>Diligence:</a:t>
            </a:r>
            <a:r>
              <a:rPr dirty="0" spc="-175">
                <a:solidFill>
                  <a:srgbClr val="1C1F21"/>
                </a:solidFill>
              </a:rPr>
              <a:t> </a:t>
            </a:r>
            <a:r>
              <a:rPr dirty="0" spc="-225">
                <a:solidFill>
                  <a:srgbClr val="1C1F21"/>
                </a:solidFill>
              </a:rPr>
              <a:t>Beyond</a:t>
            </a:r>
            <a:r>
              <a:rPr dirty="0" spc="-220">
                <a:solidFill>
                  <a:srgbClr val="1C1F21"/>
                </a:solidFill>
              </a:rPr>
              <a:t> </a:t>
            </a:r>
            <a:r>
              <a:rPr dirty="0" spc="-60">
                <a:solidFill>
                  <a:srgbClr val="1C1F21"/>
                </a:solidFill>
              </a:rPr>
              <a:t>the</a:t>
            </a:r>
            <a:r>
              <a:rPr dirty="0" spc="-400">
                <a:solidFill>
                  <a:srgbClr val="1C1F21"/>
                </a:solidFill>
              </a:rPr>
              <a:t> </a:t>
            </a:r>
            <a:r>
              <a:rPr dirty="0" spc="-260">
                <a:solidFill>
                  <a:srgbClr val="1C1F21"/>
                </a:solidFill>
              </a:rPr>
              <a:t>Check-</a:t>
            </a:r>
            <a:r>
              <a:rPr dirty="0" spc="-160">
                <a:solidFill>
                  <a:srgbClr val="1C1F21"/>
                </a:solidFill>
              </a:rPr>
              <a:t>Box.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383838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Not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eboo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383838"/>
                </a:solidFill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1A1A1A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71050" y="1838655"/>
            <a:ext cx="1196022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065134" algn="l"/>
              </a:tabLst>
            </a:pPr>
            <a:r>
              <a:rPr dirty="0" sz="3700" spc="-95" b="1">
                <a:solidFill>
                  <a:srgbClr val="1C1F21"/>
                </a:solidFill>
                <a:latin typeface="Times New Roman"/>
                <a:cs typeface="Times New Roman"/>
              </a:rPr>
              <a:t>Identity</a:t>
            </a:r>
            <a:r>
              <a:rPr dirty="0" sz="3700" spc="-80" b="1">
                <a:solidFill>
                  <a:srgbClr val="1C1F21"/>
                </a:solidFill>
                <a:latin typeface="Times New Roman"/>
                <a:cs typeface="Times New Roman"/>
              </a:rPr>
              <a:t> </a:t>
            </a:r>
            <a:r>
              <a:rPr dirty="0" sz="3700" spc="-10" b="1">
                <a:solidFill>
                  <a:srgbClr val="1C1F21"/>
                </a:solidFill>
                <a:latin typeface="Times New Roman"/>
                <a:cs typeface="Times New Roman"/>
              </a:rPr>
              <a:t>(Static).</a:t>
            </a:r>
            <a:r>
              <a:rPr dirty="0" sz="3700" b="1">
                <a:solidFill>
                  <a:srgbClr val="1C1F21"/>
                </a:solidFill>
                <a:latin typeface="Times New Roman"/>
                <a:cs typeface="Times New Roman"/>
              </a:rPr>
              <a:t>	</a:t>
            </a:r>
            <a:r>
              <a:rPr dirty="0" sz="3700" spc="-145" b="1">
                <a:solidFill>
                  <a:srgbClr val="1C1F21"/>
                </a:solidFill>
                <a:latin typeface="Times New Roman"/>
                <a:cs typeface="Times New Roman"/>
              </a:rPr>
              <a:t>Nature</a:t>
            </a:r>
            <a:r>
              <a:rPr dirty="0" sz="3700" spc="-65" b="1">
                <a:solidFill>
                  <a:srgbClr val="1C1F21"/>
                </a:solidFill>
                <a:latin typeface="Times New Roman"/>
                <a:cs typeface="Times New Roman"/>
              </a:rPr>
              <a:t> </a:t>
            </a:r>
            <a:r>
              <a:rPr dirty="0" sz="3700" spc="-110" b="1">
                <a:solidFill>
                  <a:srgbClr val="1C1F21"/>
                </a:solidFill>
                <a:latin typeface="Times New Roman"/>
                <a:cs typeface="Times New Roman"/>
              </a:rPr>
              <a:t>(Contextual).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65590" y="6338722"/>
            <a:ext cx="7000240" cy="154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29870" marR="239395" indent="-217804">
              <a:lnSpc>
                <a:spcPts val="2810"/>
              </a:lnSpc>
              <a:spcBef>
                <a:spcPts val="110"/>
              </a:spcBef>
              <a:buChar char="•"/>
              <a:tabLst>
                <a:tab pos="247650" algn="l"/>
              </a:tabLst>
            </a:pP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Identity</a:t>
            </a:r>
            <a:r>
              <a:rPr dirty="0" sz="2250" spc="-19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1C1F21"/>
                </a:solidFill>
                <a:latin typeface="Arial"/>
                <a:cs typeface="Arial"/>
              </a:rPr>
              <a:t>must</a:t>
            </a:r>
            <a:r>
              <a:rPr dirty="0" sz="2250" spc="-9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be</a:t>
            </a:r>
            <a:r>
              <a:rPr dirty="0" sz="2250" spc="-10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30">
                <a:solidFill>
                  <a:srgbClr val="1C1F21"/>
                </a:solidFill>
                <a:latin typeface="Arial"/>
                <a:cs typeface="Arial"/>
              </a:rPr>
              <a:t>verified</a:t>
            </a:r>
            <a:r>
              <a:rPr dirty="0" sz="2250" spc="-6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40">
                <a:solidFill>
                  <a:srgbClr val="1C1F21"/>
                </a:solidFill>
                <a:latin typeface="Arial"/>
                <a:cs typeface="Arial"/>
              </a:rPr>
              <a:t>through</a:t>
            </a:r>
            <a:r>
              <a:rPr dirty="0" sz="2250" spc="-55">
                <a:solidFill>
                  <a:srgbClr val="1C1F21"/>
                </a:solidFill>
                <a:latin typeface="Arial"/>
                <a:cs typeface="Arial"/>
              </a:rPr>
              <a:t> reliable,</a:t>
            </a:r>
            <a:r>
              <a:rPr dirty="0" sz="2250" spc="-19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40">
                <a:solidFill>
                  <a:srgbClr val="1C1F21"/>
                </a:solidFill>
                <a:latin typeface="Arial"/>
                <a:cs typeface="Arial"/>
              </a:rPr>
              <a:t>independent </a:t>
            </a:r>
            <a:r>
              <a:rPr dirty="0" sz="2250" spc="-40">
                <a:solidFill>
                  <a:srgbClr val="1C1F21"/>
                </a:solidFill>
                <a:latin typeface="Arial"/>
                <a:cs typeface="Arial"/>
              </a:rPr>
              <a:t>	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sources.</a:t>
            </a:r>
            <a:endParaRPr sz="2250">
              <a:latin typeface="Arial"/>
              <a:cs typeface="Arial"/>
            </a:endParaRPr>
          </a:p>
          <a:p>
            <a:pPr marL="247650" marR="5080" indent="-235585">
              <a:lnSpc>
                <a:spcPct val="104200"/>
              </a:lnSpc>
              <a:spcBef>
                <a:spcPts val="700"/>
              </a:spcBef>
              <a:buClr>
                <a:srgbClr val="000000"/>
              </a:buClr>
              <a:buChar char="•"/>
              <a:tabLst>
                <a:tab pos="247650" algn="l"/>
              </a:tabLst>
            </a:pPr>
            <a:r>
              <a:rPr dirty="0" sz="2250" spc="-90">
                <a:solidFill>
                  <a:srgbClr val="1C1F21"/>
                </a:solidFill>
                <a:latin typeface="Arial"/>
                <a:cs typeface="Arial"/>
              </a:rPr>
              <a:t>Name-</a:t>
            </a:r>
            <a:r>
              <a:rPr dirty="0" sz="2250" spc="-60">
                <a:solidFill>
                  <a:srgbClr val="1C1F21"/>
                </a:solidFill>
                <a:latin typeface="Arial"/>
                <a:cs typeface="Arial"/>
              </a:rPr>
              <a:t>number</a:t>
            </a:r>
            <a:r>
              <a:rPr dirty="0" sz="2250" spc="-3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1C1F21"/>
                </a:solidFill>
                <a:latin typeface="Arial"/>
                <a:cs typeface="Arial"/>
              </a:rPr>
              <a:t>check</a:t>
            </a:r>
            <a:r>
              <a:rPr dirty="0" sz="2250" spc="-9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60">
                <a:solidFill>
                  <a:srgbClr val="1C1F21"/>
                </a:solidFill>
                <a:latin typeface="Arial"/>
                <a:cs typeface="Arial"/>
              </a:rPr>
              <a:t>(e.g.,</a:t>
            </a:r>
            <a:r>
              <a:rPr dirty="0" sz="2250" spc="-24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75">
                <a:solidFill>
                  <a:srgbClr val="1C1F21"/>
                </a:solidFill>
                <a:latin typeface="Arial"/>
                <a:cs typeface="Arial"/>
              </a:rPr>
              <a:t>1</a:t>
            </a:r>
            <a:r>
              <a:rPr dirty="0" sz="2250" spc="-25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cent</a:t>
            </a:r>
            <a:r>
              <a:rPr dirty="0" sz="2250" spc="-10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35">
                <a:solidFill>
                  <a:srgbClr val="1C1F21"/>
                </a:solidFill>
                <a:latin typeface="Arial"/>
                <a:cs typeface="Arial"/>
              </a:rPr>
              <a:t>transfer)</a:t>
            </a:r>
            <a:r>
              <a:rPr dirty="0" sz="2250" spc="-1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is</a:t>
            </a:r>
            <a:r>
              <a:rPr dirty="0" sz="2250" spc="-25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1C1F21"/>
                </a:solidFill>
                <a:latin typeface="Arial"/>
                <a:cs typeface="Arial"/>
              </a:rPr>
              <a:t>insufficient </a:t>
            </a:r>
            <a:r>
              <a:rPr dirty="0" sz="2250" spc="-15">
                <a:solidFill>
                  <a:srgbClr val="1C1F21"/>
                </a:solidFill>
                <a:latin typeface="Arial"/>
                <a:cs typeface="Arial"/>
              </a:rPr>
              <a:t>on</a:t>
            </a:r>
            <a:r>
              <a:rPr dirty="0" sz="2250" spc="-28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50">
                <a:solidFill>
                  <a:srgbClr val="1C1F21"/>
                </a:solidFill>
                <a:latin typeface="Arial"/>
                <a:cs typeface="Arial"/>
              </a:rPr>
              <a:t>its</a:t>
            </a:r>
            <a:r>
              <a:rPr dirty="0" sz="2250" spc="-15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0">
                <a:solidFill>
                  <a:srgbClr val="1C1F21"/>
                </a:solidFill>
                <a:latin typeface="Arial"/>
                <a:cs typeface="Arial"/>
              </a:rPr>
              <a:t>own.</a:t>
            </a:r>
            <a:endParaRPr sz="22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176592" y="3708895"/>
            <a:ext cx="5683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484B52"/>
                </a:solidFill>
                <a:latin typeface="Arial"/>
                <a:cs typeface="Arial"/>
              </a:rPr>
              <a:t>S</a:t>
            </a:r>
            <a:r>
              <a:rPr dirty="0" sz="1050" spc="-10">
                <a:solidFill>
                  <a:srgbClr val="60676E"/>
                </a:solidFill>
                <a:latin typeface="Arial"/>
                <a:cs typeface="Arial"/>
              </a:rPr>
              <a:t>t</a:t>
            </a:r>
            <a:r>
              <a:rPr dirty="0" sz="1050" spc="-10">
                <a:solidFill>
                  <a:srgbClr val="333436"/>
                </a:solidFill>
                <a:latin typeface="Arial"/>
                <a:cs typeface="Arial"/>
              </a:rPr>
              <a:t>u</a:t>
            </a:r>
            <a:r>
              <a:rPr dirty="0" sz="1050" spc="-10">
                <a:solidFill>
                  <a:srgbClr val="484B52"/>
                </a:solidFill>
                <a:latin typeface="Arial"/>
                <a:cs typeface="Arial"/>
              </a:rPr>
              <a:t>dents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547204" y="4200392"/>
            <a:ext cx="113284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75">
                <a:solidFill>
                  <a:srgbClr val="1C1F21"/>
                </a:solidFill>
                <a:latin typeface="Arial"/>
                <a:cs typeface="Arial"/>
              </a:rPr>
              <a:t>Peer</a:t>
            </a:r>
            <a:r>
              <a:rPr dirty="0" sz="1800" spc="-6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1C1F21"/>
                </a:solidFill>
                <a:latin typeface="Arial"/>
                <a:cs typeface="Arial"/>
              </a:rPr>
              <a:t>Group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685342" y="4762102"/>
            <a:ext cx="1368425" cy="362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6940">
              <a:lnSpc>
                <a:spcPts val="1265"/>
              </a:lnSpc>
              <a:spcBef>
                <a:spcPts val="105"/>
              </a:spcBef>
            </a:pPr>
            <a:r>
              <a:rPr dirty="0" sz="1100" spc="-10">
                <a:solidFill>
                  <a:srgbClr val="484B52"/>
                </a:solidFill>
                <a:latin typeface="Arial"/>
                <a:cs typeface="Arial"/>
              </a:rPr>
              <a:t>S</a:t>
            </a:r>
            <a:r>
              <a:rPr dirty="0" sz="1100" spc="-10">
                <a:solidFill>
                  <a:srgbClr val="333436"/>
                </a:solidFill>
                <a:latin typeface="Arial"/>
                <a:cs typeface="Arial"/>
              </a:rPr>
              <a:t>m.</a:t>
            </a:r>
            <a:r>
              <a:rPr dirty="0" sz="1100" spc="-10">
                <a:solidFill>
                  <a:srgbClr val="484B52"/>
                </a:solidFill>
                <a:latin typeface="Arial"/>
                <a:cs typeface="Arial"/>
              </a:rPr>
              <a:t>a</a:t>
            </a:r>
            <a:r>
              <a:rPr dirty="0" sz="1100" spc="-10">
                <a:solidFill>
                  <a:srgbClr val="333436"/>
                </a:solidFill>
                <a:latin typeface="Arial"/>
                <a:cs typeface="Arial"/>
              </a:rPr>
              <a:t>ll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385"/>
              </a:lnSpc>
              <a:tabLst>
                <a:tab pos="486409" algn="l"/>
              </a:tabLst>
            </a:pPr>
            <a:r>
              <a:rPr dirty="0" sz="1200" spc="70">
                <a:solidFill>
                  <a:srgbClr val="72777E"/>
                </a:solidFill>
                <a:latin typeface="Arial"/>
                <a:cs typeface="Arial"/>
              </a:rPr>
              <a:t>'-</a:t>
            </a:r>
            <a:r>
              <a:rPr dirty="0" sz="1200" spc="40">
                <a:solidFill>
                  <a:srgbClr val="72777E"/>
                </a:solidFill>
                <a:latin typeface="Arial"/>
                <a:cs typeface="Arial"/>
              </a:rPr>
              <a:t>-</a:t>
            </a:r>
            <a:r>
              <a:rPr dirty="0" u="sng" sz="1200">
                <a:solidFill>
                  <a:srgbClr val="72777E"/>
                </a:solidFill>
                <a:uFill>
                  <a:solidFill>
                    <a:srgbClr val="71767D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200" spc="114">
                <a:solidFill>
                  <a:srgbClr val="72777E"/>
                </a:solidFill>
                <a:latin typeface="Arial"/>
                <a:cs typeface="Arial"/>
              </a:rPr>
              <a:t>,,</a:t>
            </a:r>
            <a:r>
              <a:rPr dirty="0" u="none" sz="1200" spc="114">
                <a:solidFill>
                  <a:srgbClr val="333436"/>
                </a:solidFill>
                <a:latin typeface="Arial"/>
                <a:cs typeface="Arial"/>
              </a:rPr>
              <a:t>B</a:t>
            </a:r>
            <a:r>
              <a:rPr dirty="0" u="none" sz="1200" spc="114">
                <a:solidFill>
                  <a:srgbClr val="484B52"/>
                </a:solidFill>
                <a:latin typeface="Arial"/>
                <a:cs typeface="Arial"/>
              </a:rPr>
              <a:t>us</a:t>
            </a:r>
            <a:r>
              <a:rPr dirty="0" u="none" sz="1200" spc="114">
                <a:solidFill>
                  <a:srgbClr val="333436"/>
                </a:solidFill>
                <a:latin typeface="Arial"/>
                <a:cs typeface="Arial"/>
              </a:rPr>
              <a:t>in</a:t>
            </a:r>
            <a:r>
              <a:rPr dirty="0" u="none" sz="1200" spc="114">
                <a:solidFill>
                  <a:srgbClr val="484B52"/>
                </a:solidFill>
                <a:latin typeface="Arial"/>
                <a:cs typeface="Arial"/>
              </a:rPr>
              <a:t>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35641" y="6338722"/>
            <a:ext cx="7355840" cy="1544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6379" marR="467359" indent="-234315">
              <a:lnSpc>
                <a:spcPts val="2810"/>
              </a:lnSpc>
              <a:spcBef>
                <a:spcPts val="110"/>
              </a:spcBef>
              <a:buChar char="•"/>
              <a:tabLst>
                <a:tab pos="246379" algn="l"/>
              </a:tabLst>
            </a:pPr>
            <a:r>
              <a:rPr dirty="0" sz="2250" spc="-95">
                <a:solidFill>
                  <a:srgbClr val="1C1F21"/>
                </a:solidFill>
                <a:latin typeface="Arial"/>
                <a:cs typeface="Arial"/>
              </a:rPr>
              <a:t>Purpose</a:t>
            </a:r>
            <a:r>
              <a:rPr dirty="0" sz="2250" spc="-13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&amp;</a:t>
            </a:r>
            <a:r>
              <a:rPr dirty="0" sz="2250" spc="-32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55">
                <a:solidFill>
                  <a:srgbClr val="1C1F21"/>
                </a:solidFill>
                <a:latin typeface="Arial"/>
                <a:cs typeface="Arial"/>
              </a:rPr>
              <a:t>Nature:</a:t>
            </a:r>
            <a:r>
              <a:rPr dirty="0" sz="2250" spc="-19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50">
                <a:solidFill>
                  <a:srgbClr val="1C1F21"/>
                </a:solidFill>
                <a:latin typeface="Arial"/>
                <a:cs typeface="Arial"/>
              </a:rPr>
              <a:t>Understanding</a:t>
            </a:r>
            <a:r>
              <a:rPr dirty="0" sz="2250" spc="14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20">
                <a:solidFill>
                  <a:srgbClr val="1C1F21"/>
                </a:solidFill>
                <a:latin typeface="Arial"/>
                <a:cs typeface="Arial"/>
              </a:rPr>
              <a:t>WHY</a:t>
            </a:r>
            <a:r>
              <a:rPr dirty="0" sz="2250" spc="-3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the</a:t>
            </a:r>
            <a:r>
              <a:rPr dirty="0" sz="2250" spc="-21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1C1F21"/>
                </a:solidFill>
                <a:latin typeface="Arial"/>
                <a:cs typeface="Arial"/>
              </a:rPr>
              <a:t>relationship 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exists.</a:t>
            </a:r>
            <a:endParaRPr sz="2250">
              <a:latin typeface="Arial"/>
              <a:cs typeface="Arial"/>
            </a:endParaRPr>
          </a:p>
          <a:p>
            <a:pPr marL="250190" marR="5080" indent="-238125">
              <a:lnSpc>
                <a:spcPct val="104200"/>
              </a:lnSpc>
              <a:spcBef>
                <a:spcPts val="700"/>
              </a:spcBef>
              <a:buClr>
                <a:srgbClr val="000000"/>
              </a:buClr>
              <a:buChar char="•"/>
              <a:tabLst>
                <a:tab pos="254000" algn="l"/>
              </a:tabLst>
            </a:pPr>
            <a:r>
              <a:rPr dirty="0" sz="2250" spc="-85">
                <a:solidFill>
                  <a:srgbClr val="1C1F21"/>
                </a:solidFill>
                <a:latin typeface="Arial"/>
                <a:cs typeface="Arial"/>
              </a:rPr>
              <a:t>Technique: </a:t>
            </a:r>
            <a:r>
              <a:rPr dirty="0" sz="2250" spc="-70">
                <a:solidFill>
                  <a:srgbClr val="1C1F21"/>
                </a:solidFill>
                <a:latin typeface="Arial"/>
                <a:cs typeface="Arial"/>
              </a:rPr>
              <a:t>Use</a:t>
            </a:r>
            <a:r>
              <a:rPr dirty="0" sz="2250" spc="-21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100">
                <a:solidFill>
                  <a:srgbClr val="1C1F21"/>
                </a:solidFill>
                <a:latin typeface="Arial"/>
                <a:cs typeface="Arial"/>
              </a:rPr>
              <a:t>Reference</a:t>
            </a:r>
            <a:r>
              <a:rPr dirty="0" sz="2250" spc="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95">
                <a:solidFill>
                  <a:srgbClr val="1C1F21"/>
                </a:solidFill>
                <a:latin typeface="Arial"/>
                <a:cs typeface="Arial"/>
              </a:rPr>
              <a:t>Groups</a:t>
            </a:r>
            <a:r>
              <a:rPr dirty="0" sz="2250" spc="-9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50">
                <a:solidFill>
                  <a:srgbClr val="1C1F21"/>
                </a:solidFill>
                <a:latin typeface="Arial"/>
                <a:cs typeface="Arial"/>
              </a:rPr>
              <a:t>to</a:t>
            </a:r>
            <a:r>
              <a:rPr dirty="0" sz="2250" spc="-14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55">
                <a:solidFill>
                  <a:srgbClr val="1C1F21"/>
                </a:solidFill>
                <a:latin typeface="Arial"/>
                <a:cs typeface="Arial"/>
              </a:rPr>
              <a:t>determine</a:t>
            </a:r>
            <a:r>
              <a:rPr dirty="0" sz="2250" spc="-19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if</a:t>
            </a:r>
            <a:r>
              <a:rPr dirty="0" sz="2250" spc="13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behavior 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	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fits</a:t>
            </a:r>
            <a:r>
              <a:rPr dirty="0" sz="2250" spc="-15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the</a:t>
            </a:r>
            <a:r>
              <a:rPr dirty="0" sz="2250" spc="-9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60">
                <a:solidFill>
                  <a:srgbClr val="1C1F21"/>
                </a:solidFill>
                <a:latin typeface="Arial"/>
                <a:cs typeface="Arial"/>
              </a:rPr>
              <a:t>standard 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profile</a:t>
            </a:r>
            <a:r>
              <a:rPr dirty="0" sz="2250" spc="-9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60">
                <a:solidFill>
                  <a:srgbClr val="1C1F21"/>
                </a:solidFill>
                <a:latin typeface="Arial"/>
                <a:cs typeface="Arial"/>
              </a:rPr>
              <a:t>(e.g.,</a:t>
            </a:r>
            <a:r>
              <a:rPr dirty="0" sz="2250" spc="-15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80">
                <a:solidFill>
                  <a:srgbClr val="1C1F21"/>
                </a:solidFill>
                <a:latin typeface="Arial"/>
                <a:cs typeface="Arial"/>
              </a:rPr>
              <a:t>"Students",</a:t>
            </a:r>
            <a:r>
              <a:rPr dirty="0" sz="2250" spc="3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95">
                <a:solidFill>
                  <a:srgbClr val="333436"/>
                </a:solidFill>
                <a:latin typeface="Arial"/>
                <a:cs typeface="Arial"/>
              </a:rPr>
              <a:t>"Small</a:t>
            </a:r>
            <a:r>
              <a:rPr dirty="0" sz="2250" spc="-35">
                <a:solidFill>
                  <a:srgbClr val="333436"/>
                </a:solidFill>
                <a:latin typeface="Arial"/>
                <a:cs typeface="Arial"/>
              </a:rPr>
              <a:t> </a:t>
            </a:r>
            <a:r>
              <a:rPr dirty="0" sz="2250" spc="-55">
                <a:solidFill>
                  <a:srgbClr val="1C1F21"/>
                </a:solidFill>
                <a:latin typeface="Arial"/>
                <a:cs typeface="Arial"/>
              </a:rPr>
              <a:t>Business").</a:t>
            </a:r>
            <a:endParaRPr sz="22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55268" y="8496200"/>
            <a:ext cx="15673069" cy="715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885" marR="492759" indent="9525">
              <a:lnSpc>
                <a:spcPct val="100499"/>
              </a:lnSpc>
              <a:spcBef>
                <a:spcPts val="95"/>
              </a:spcBef>
            </a:pPr>
            <a:r>
              <a:rPr dirty="0" sz="2250" spc="-165">
                <a:solidFill>
                  <a:srgbClr val="1C1F21"/>
                </a:solidFill>
                <a:latin typeface="Arial"/>
                <a:cs typeface="Arial"/>
              </a:rPr>
              <a:t>DNB</a:t>
            </a:r>
            <a:r>
              <a:rPr dirty="0" sz="2250" spc="-14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95">
                <a:solidFill>
                  <a:srgbClr val="1C1F21"/>
                </a:solidFill>
                <a:latin typeface="Arial"/>
                <a:cs typeface="Arial"/>
              </a:rPr>
              <a:t>Good</a:t>
            </a:r>
            <a:r>
              <a:rPr dirty="0" sz="2250" spc="-15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60">
                <a:solidFill>
                  <a:srgbClr val="1C1F21"/>
                </a:solidFill>
                <a:latin typeface="Arial"/>
                <a:cs typeface="Arial"/>
              </a:rPr>
              <a:t>Practice:</a:t>
            </a:r>
            <a:r>
              <a:rPr dirty="0" sz="2250" spc="-13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105">
                <a:solidFill>
                  <a:srgbClr val="1C1F21"/>
                </a:solidFill>
                <a:latin typeface="Arial"/>
                <a:cs typeface="Arial"/>
              </a:rPr>
              <a:t>Remote</a:t>
            </a:r>
            <a:r>
              <a:rPr dirty="0" sz="2250" spc="-18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Identification</a:t>
            </a:r>
            <a:r>
              <a:rPr dirty="0" sz="2250" spc="-31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45">
                <a:solidFill>
                  <a:srgbClr val="1C1F21"/>
                </a:solidFill>
                <a:latin typeface="Arial"/>
                <a:cs typeface="Arial"/>
              </a:rPr>
              <a:t>solutions</a:t>
            </a:r>
            <a:r>
              <a:rPr dirty="0" sz="2250" spc="-7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40">
                <a:solidFill>
                  <a:srgbClr val="1C1F21"/>
                </a:solidFill>
                <a:latin typeface="Arial"/>
                <a:cs typeface="Arial"/>
              </a:rPr>
              <a:t>require</a:t>
            </a:r>
            <a:r>
              <a:rPr dirty="0" sz="2250" spc="-7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1C1F21"/>
                </a:solidFill>
                <a:latin typeface="Arial"/>
                <a:cs typeface="Arial"/>
              </a:rPr>
              <a:t>specific</a:t>
            </a:r>
            <a:r>
              <a:rPr dirty="0" sz="2250" spc="-8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30">
                <a:solidFill>
                  <a:srgbClr val="1C1F21"/>
                </a:solidFill>
                <a:latin typeface="Arial"/>
                <a:cs typeface="Arial"/>
              </a:rPr>
              <a:t>policies</a:t>
            </a:r>
            <a:r>
              <a:rPr dirty="0" sz="2250" spc="-6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30">
                <a:solidFill>
                  <a:srgbClr val="1C1F21"/>
                </a:solidFill>
                <a:latin typeface="Arial"/>
                <a:cs typeface="Arial"/>
              </a:rPr>
              <a:t>detailing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30">
                <a:solidFill>
                  <a:srgbClr val="1C1F21"/>
                </a:solidFill>
                <a:latin typeface="Arial"/>
                <a:cs typeface="Arial"/>
              </a:rPr>
              <a:t>which</a:t>
            </a:r>
            <a:r>
              <a:rPr dirty="0" sz="2250" spc="-1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40">
                <a:solidFill>
                  <a:srgbClr val="1C1F21"/>
                </a:solidFill>
                <a:latin typeface="Arial"/>
                <a:cs typeface="Arial"/>
              </a:rPr>
              <a:t>steps</a:t>
            </a:r>
            <a:r>
              <a:rPr dirty="0" sz="2250" spc="-105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55">
                <a:solidFill>
                  <a:srgbClr val="1C1F21"/>
                </a:solidFill>
                <a:latin typeface="Arial"/>
                <a:cs typeface="Arial"/>
              </a:rPr>
              <a:t>are</a:t>
            </a:r>
            <a:r>
              <a:rPr dirty="0" sz="2250" spc="-25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65">
                <a:solidFill>
                  <a:srgbClr val="1C1F21"/>
                </a:solidFill>
                <a:latin typeface="Arial"/>
                <a:cs typeface="Arial"/>
              </a:rPr>
              <a:t>autonomous</a:t>
            </a:r>
            <a:r>
              <a:rPr dirty="0" sz="2250" spc="-4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1C1F21"/>
                </a:solidFill>
                <a:latin typeface="Arial"/>
                <a:cs typeface="Arial"/>
              </a:rPr>
              <a:t>vs</a:t>
            </a:r>
            <a:r>
              <a:rPr dirty="0" sz="2250" spc="-220">
                <a:solidFill>
                  <a:srgbClr val="1C1F21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1C1F21"/>
                </a:solidFill>
                <a:latin typeface="Arial"/>
                <a:cs typeface="Arial"/>
              </a:rPr>
              <a:t>human intervention.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20168" y="2834349"/>
            <a:ext cx="9286240" cy="6153785"/>
            <a:chOff x="4120168" y="2834349"/>
            <a:chExt cx="9286240" cy="6153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241" y="2834349"/>
              <a:ext cx="6699619" cy="61532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1301" y="6281207"/>
              <a:ext cx="229264" cy="4085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52235" y="4813100"/>
              <a:ext cx="9222105" cy="255904"/>
            </a:xfrm>
            <a:custGeom>
              <a:avLst/>
              <a:gdLst/>
              <a:ahLst/>
              <a:cxnLst/>
              <a:rect l="l" t="t" r="r" b="b"/>
              <a:pathLst>
                <a:path w="9222105" h="255904">
                  <a:moveTo>
                    <a:pt x="0" y="0"/>
                  </a:moveTo>
                  <a:lnTo>
                    <a:pt x="968005" y="0"/>
                  </a:lnTo>
                </a:path>
                <a:path w="9222105" h="255904">
                  <a:moveTo>
                    <a:pt x="7667625" y="38298"/>
                  </a:moveTo>
                  <a:lnTo>
                    <a:pt x="9221529" y="38298"/>
                  </a:lnTo>
                </a:path>
                <a:path w="9222105" h="255904">
                  <a:moveTo>
                    <a:pt x="687793" y="255322"/>
                  </a:moveTo>
                  <a:lnTo>
                    <a:pt x="1248218" y="255322"/>
                  </a:lnTo>
                </a:path>
              </a:pathLst>
            </a:custGeom>
            <a:ln w="63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921756" y="5093955"/>
              <a:ext cx="764540" cy="0"/>
            </a:xfrm>
            <a:custGeom>
              <a:avLst/>
              <a:gdLst/>
              <a:ahLst/>
              <a:cxnLst/>
              <a:rect l="l" t="t" r="r" b="b"/>
              <a:pathLst>
                <a:path w="764540" h="0">
                  <a:moveTo>
                    <a:pt x="0" y="0"/>
                  </a:moveTo>
                  <a:lnTo>
                    <a:pt x="764215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996138" y="3396706"/>
              <a:ext cx="165735" cy="418465"/>
            </a:xfrm>
            <a:custGeom>
              <a:avLst/>
              <a:gdLst/>
              <a:ahLst/>
              <a:cxnLst/>
              <a:rect l="l" t="t" r="r" b="b"/>
              <a:pathLst>
                <a:path w="165734" h="418464">
                  <a:moveTo>
                    <a:pt x="165579" y="417991"/>
                  </a:moveTo>
                  <a:lnTo>
                    <a:pt x="0" y="417991"/>
                  </a:lnTo>
                  <a:lnTo>
                    <a:pt x="0" y="0"/>
                  </a:lnTo>
                  <a:lnTo>
                    <a:pt x="165579" y="0"/>
                  </a:lnTo>
                  <a:lnTo>
                    <a:pt x="165579" y="417991"/>
                  </a:lnTo>
                  <a:close/>
                </a:path>
              </a:pathLst>
            </a:custGeom>
            <a:solidFill>
              <a:srgbClr val="EFF2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3568" y="383314"/>
            <a:ext cx="243078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26343B"/>
                </a:solidFill>
                <a:latin typeface="Arial"/>
                <a:cs typeface="Arial"/>
              </a:rPr>
              <a:t>Architectural</a:t>
            </a:r>
            <a:r>
              <a:rPr dirty="0" sz="1900" spc="35">
                <a:solidFill>
                  <a:srgbClr val="26343B"/>
                </a:solidFill>
                <a:latin typeface="Arial"/>
                <a:cs typeface="Arial"/>
              </a:rPr>
              <a:t>  </a:t>
            </a:r>
            <a:r>
              <a:rPr dirty="0" sz="1900" spc="-10">
                <a:solidFill>
                  <a:srgbClr val="26343B"/>
                </a:solidFill>
                <a:latin typeface="Arial"/>
                <a:cs typeface="Arial"/>
              </a:rPr>
              <a:t>Editorial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80135" y="408846"/>
            <a:ext cx="2040889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95">
                <a:solidFill>
                  <a:srgbClr val="566669"/>
                </a:solidFill>
                <a:latin typeface="Arial"/>
                <a:cs typeface="Arial"/>
              </a:rPr>
              <a:t>BanqueNationale</a:t>
            </a:r>
            <a:r>
              <a:rPr dirty="0" sz="1300" spc="-30">
                <a:solidFill>
                  <a:srgbClr val="566669"/>
                </a:solidFill>
                <a:latin typeface="Arial"/>
                <a:cs typeface="Arial"/>
              </a:rPr>
              <a:t> </a:t>
            </a:r>
            <a:r>
              <a:rPr dirty="0" sz="1300" spc="-50">
                <a:solidFill>
                  <a:srgbClr val="566669"/>
                </a:solidFill>
                <a:latin typeface="Arial"/>
                <a:cs typeface="Arial"/>
              </a:rPr>
              <a:t>deBe</a:t>
            </a:r>
            <a:r>
              <a:rPr dirty="0" sz="1300" spc="-50">
                <a:solidFill>
                  <a:srgbClr val="3D4B50"/>
                </a:solidFill>
                <a:latin typeface="Arial"/>
                <a:cs typeface="Arial"/>
              </a:rPr>
              <a:t>l</a:t>
            </a:r>
            <a:r>
              <a:rPr dirty="0" sz="1300" spc="-50">
                <a:solidFill>
                  <a:srgbClr val="566669"/>
                </a:solidFill>
                <a:latin typeface="Arial"/>
                <a:cs typeface="Arial"/>
              </a:rPr>
              <a:t>g</a:t>
            </a:r>
            <a:r>
              <a:rPr dirty="0" sz="1300" spc="-50">
                <a:solidFill>
                  <a:srgbClr val="3D4B50"/>
                </a:solidFill>
                <a:latin typeface="Arial"/>
                <a:cs typeface="Arial"/>
              </a:rPr>
              <a:t>i</a:t>
            </a:r>
            <a:r>
              <a:rPr dirty="0" sz="1300" spc="-50">
                <a:solidFill>
                  <a:srgbClr val="566669"/>
                </a:solidFill>
                <a:latin typeface="Arial"/>
                <a:cs typeface="Arial"/>
              </a:rPr>
              <a:t>que</a:t>
            </a:r>
            <a:r>
              <a:rPr dirty="0" sz="1250" spc="-50" b="1" i="1">
                <a:solidFill>
                  <a:srgbClr val="566669"/>
                </a:solidFill>
                <a:latin typeface="Arial"/>
                <a:cs typeface="Arial"/>
              </a:rPr>
              <a:t>ti'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45205" y="408846"/>
            <a:ext cx="1021080" cy="356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ts val="1510"/>
              </a:lnSpc>
              <a:spcBef>
                <a:spcPts val="105"/>
              </a:spcBef>
            </a:pPr>
            <a:r>
              <a:rPr dirty="0" sz="1300" spc="-120">
                <a:solidFill>
                  <a:srgbClr val="566669"/>
                </a:solidFill>
                <a:latin typeface="Arial"/>
                <a:cs typeface="Arial"/>
              </a:rPr>
              <a:t>Ban</a:t>
            </a:r>
            <a:r>
              <a:rPr dirty="0" sz="1300" spc="-120">
                <a:solidFill>
                  <a:srgbClr val="3D4B50"/>
                </a:solidFill>
                <a:latin typeface="Arial"/>
                <a:cs typeface="Arial"/>
              </a:rPr>
              <a:t>k</a:t>
            </a:r>
            <a:r>
              <a:rPr dirty="0" sz="1300" spc="-180">
                <a:solidFill>
                  <a:srgbClr val="3D4B50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566669"/>
                </a:solidFill>
                <a:latin typeface="Arial"/>
                <a:cs typeface="Arial"/>
              </a:rPr>
              <a:t>vanBe</a:t>
            </a:r>
            <a:r>
              <a:rPr dirty="0" sz="1300" spc="-65">
                <a:solidFill>
                  <a:srgbClr val="3D4B50"/>
                </a:solidFill>
                <a:latin typeface="Arial"/>
                <a:cs typeface="Arial"/>
              </a:rPr>
              <a:t>l</a:t>
            </a:r>
            <a:r>
              <a:rPr dirty="0" sz="1300" spc="-65">
                <a:solidFill>
                  <a:srgbClr val="566669"/>
                </a:solidFill>
                <a:latin typeface="Arial"/>
                <a:cs typeface="Arial"/>
              </a:rPr>
              <a:t>gie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090"/>
              </a:lnSpc>
            </a:pPr>
            <a:r>
              <a:rPr dirty="0" sz="950" spc="-10">
                <a:solidFill>
                  <a:srgbClr val="82898E"/>
                </a:solidFill>
                <a:latin typeface="Arial"/>
                <a:cs typeface="Arial"/>
              </a:rPr>
              <a:t>£urosys,</a:t>
            </a:r>
            <a:r>
              <a:rPr dirty="0" sz="950" spc="-10">
                <a:solidFill>
                  <a:srgbClr val="566669"/>
                </a:solidFill>
                <a:latin typeface="Arial"/>
                <a:cs typeface="Arial"/>
              </a:rPr>
              <a:t>tcm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8569" y="1493970"/>
            <a:ext cx="14827885" cy="852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400" spc="-204" b="1">
                <a:solidFill>
                  <a:srgbClr val="08242F"/>
                </a:solidFill>
                <a:latin typeface="Arial"/>
                <a:cs typeface="Arial"/>
              </a:rPr>
              <a:t>Unmasking</a:t>
            </a:r>
            <a:r>
              <a:rPr dirty="0" sz="5400" spc="-36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5400" spc="-10" b="1">
                <a:solidFill>
                  <a:srgbClr val="08242F"/>
                </a:solidFill>
                <a:latin typeface="Arial"/>
                <a:cs typeface="Arial"/>
              </a:rPr>
              <a:t>the</a:t>
            </a:r>
            <a:r>
              <a:rPr dirty="0" sz="5400" spc="-775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5400" spc="-325" b="1">
                <a:solidFill>
                  <a:srgbClr val="08242F"/>
                </a:solidFill>
                <a:latin typeface="Arial"/>
                <a:cs typeface="Arial"/>
              </a:rPr>
              <a:t>UBO</a:t>
            </a:r>
            <a:r>
              <a:rPr dirty="0" sz="5400" spc="-465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5400" spc="-65" b="1">
                <a:solidFill>
                  <a:srgbClr val="08242F"/>
                </a:solidFill>
                <a:latin typeface="Arial"/>
                <a:cs typeface="Arial"/>
              </a:rPr>
              <a:t>(Ultimate</a:t>
            </a:r>
            <a:r>
              <a:rPr dirty="0" sz="5400" spc="-50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5400" spc="-114" b="1">
                <a:solidFill>
                  <a:srgbClr val="08242F"/>
                </a:solidFill>
                <a:latin typeface="Arial"/>
                <a:cs typeface="Arial"/>
              </a:rPr>
              <a:t>Beneficial</a:t>
            </a:r>
            <a:r>
              <a:rPr dirty="0" sz="5400" spc="-33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5400" spc="-55" b="1">
                <a:solidFill>
                  <a:srgbClr val="08242F"/>
                </a:solidFill>
                <a:latin typeface="Arial"/>
                <a:cs typeface="Arial"/>
              </a:rPr>
              <a:t>Owner)</a:t>
            </a:r>
            <a:endParaRPr sz="5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71251" y="3396126"/>
            <a:ext cx="2753995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150">
                <a:solidFill>
                  <a:srgbClr val="566669"/>
                </a:solidFill>
                <a:latin typeface="Arial"/>
                <a:cs typeface="Arial"/>
              </a:rPr>
              <a:t>,</a:t>
            </a:r>
            <a:r>
              <a:rPr dirty="0" sz="2400" spc="-150">
                <a:solidFill>
                  <a:srgbClr val="999EA1"/>
                </a:solidFill>
                <a:latin typeface="Arial"/>
                <a:cs typeface="Arial"/>
              </a:rPr>
              <a:t>,</a:t>
            </a:r>
            <a:r>
              <a:rPr dirty="0" sz="2400" spc="-150">
                <a:solidFill>
                  <a:srgbClr val="B8BCBD"/>
                </a:solidFill>
                <a:latin typeface="Arial"/>
                <a:cs typeface="Arial"/>
              </a:rPr>
              <a:t>...</a:t>
            </a:r>
            <a:r>
              <a:rPr dirty="0" sz="2400" spc="-195">
                <a:solidFill>
                  <a:srgbClr val="B8BCBD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8242F"/>
                </a:solidFill>
                <a:latin typeface="Arial"/>
                <a:cs typeface="Arial"/>
              </a:rPr>
              <a:t>The</a:t>
            </a:r>
            <a:r>
              <a:rPr dirty="0" sz="2400" spc="-95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8242F"/>
                </a:solidFill>
                <a:latin typeface="Arial"/>
                <a:cs typeface="Arial"/>
              </a:rPr>
              <a:t>Legal</a:t>
            </a:r>
            <a:r>
              <a:rPr dirty="0" sz="2400" spc="-24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8242F"/>
                </a:solidFill>
                <a:latin typeface="Arial"/>
                <a:cs typeface="Arial"/>
              </a:rPr>
              <a:t>Entity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7753" y="5272749"/>
            <a:ext cx="3381375" cy="150304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 indent="5080">
              <a:lnSpc>
                <a:spcPct val="103200"/>
              </a:lnSpc>
              <a:spcBef>
                <a:spcPts val="20"/>
              </a:spcBef>
            </a:pPr>
            <a:r>
              <a:rPr dirty="0" sz="2400" spc="65" b="1">
                <a:solidFill>
                  <a:srgbClr val="08242F"/>
                </a:solidFill>
                <a:latin typeface="Arial"/>
                <a:cs typeface="Arial"/>
              </a:rPr>
              <a:t>The</a:t>
            </a:r>
            <a:r>
              <a:rPr dirty="0" sz="2400" spc="-25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8242F"/>
                </a:solidFill>
                <a:latin typeface="Arial"/>
                <a:cs typeface="Arial"/>
              </a:rPr>
              <a:t>Layered</a:t>
            </a:r>
            <a:r>
              <a:rPr dirty="0" sz="2400" spc="-18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08242F"/>
                </a:solidFill>
                <a:latin typeface="Arial"/>
                <a:cs typeface="Arial"/>
              </a:rPr>
              <a:t>Trap</a:t>
            </a:r>
            <a:r>
              <a:rPr dirty="0" sz="2400" spc="-20" b="1">
                <a:solidFill>
                  <a:srgbClr val="26343B"/>
                </a:solidFill>
                <a:latin typeface="Arial"/>
                <a:cs typeface="Arial"/>
              </a:rPr>
              <a:t>: 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Cr</a:t>
            </a:r>
            <a:r>
              <a:rPr dirty="0" sz="2350">
                <a:solidFill>
                  <a:srgbClr val="08242F"/>
                </a:solidFill>
                <a:latin typeface="Arial"/>
                <a:cs typeface="Arial"/>
              </a:rPr>
              <a:t>i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mina</a:t>
            </a:r>
            <a:r>
              <a:rPr dirty="0" sz="2350">
                <a:solidFill>
                  <a:srgbClr val="08242F"/>
                </a:solidFill>
                <a:latin typeface="Arial"/>
                <a:cs typeface="Arial"/>
              </a:rPr>
              <a:t>l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s</a:t>
            </a:r>
            <a:r>
              <a:rPr dirty="0" sz="2350" spc="135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95">
                <a:solidFill>
                  <a:srgbClr val="26343B"/>
                </a:solidFill>
                <a:latin typeface="Arial"/>
                <a:cs typeface="Arial"/>
              </a:rPr>
              <a:t>hide</a:t>
            </a:r>
            <a:r>
              <a:rPr dirty="0" sz="2350" spc="17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26343B"/>
                </a:solidFill>
                <a:latin typeface="Arial"/>
                <a:cs typeface="Arial"/>
              </a:rPr>
              <a:t>behi</a:t>
            </a:r>
            <a:r>
              <a:rPr dirty="0" sz="2350" spc="-10">
                <a:solidFill>
                  <a:srgbClr val="08242F"/>
                </a:solidFill>
                <a:latin typeface="Arial"/>
                <a:cs typeface="Arial"/>
              </a:rPr>
              <a:t>n</a:t>
            </a:r>
            <a:r>
              <a:rPr dirty="0" sz="2350" spc="-10">
                <a:solidFill>
                  <a:srgbClr val="26343B"/>
                </a:solidFill>
                <a:latin typeface="Arial"/>
                <a:cs typeface="Arial"/>
              </a:rPr>
              <a:t>d </a:t>
            </a:r>
            <a:r>
              <a:rPr dirty="0" sz="2350" spc="75">
                <a:solidFill>
                  <a:srgbClr val="26343B"/>
                </a:solidFill>
                <a:latin typeface="Arial"/>
                <a:cs typeface="Arial"/>
              </a:rPr>
              <a:t>complex,</a:t>
            </a:r>
            <a:r>
              <a:rPr dirty="0" sz="2350" spc="65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70">
                <a:solidFill>
                  <a:srgbClr val="26343B"/>
                </a:solidFill>
                <a:latin typeface="Arial"/>
                <a:cs typeface="Arial"/>
              </a:rPr>
              <a:t>mult</a:t>
            </a:r>
            <a:r>
              <a:rPr dirty="0" sz="2350" spc="70">
                <a:solidFill>
                  <a:srgbClr val="08242F"/>
                </a:solidFill>
                <a:latin typeface="Arial"/>
                <a:cs typeface="Arial"/>
              </a:rPr>
              <a:t>i</a:t>
            </a:r>
            <a:r>
              <a:rPr dirty="0" sz="2350" spc="70">
                <a:solidFill>
                  <a:srgbClr val="26343B"/>
                </a:solidFill>
                <a:latin typeface="Arial"/>
                <a:cs typeface="Arial"/>
              </a:rPr>
              <a:t>-</a:t>
            </a:r>
            <a:r>
              <a:rPr dirty="0" sz="2350" spc="65">
                <a:solidFill>
                  <a:srgbClr val="08242F"/>
                </a:solidFill>
                <a:latin typeface="Arial"/>
                <a:cs typeface="Arial"/>
              </a:rPr>
              <a:t>l</a:t>
            </a:r>
            <a:r>
              <a:rPr dirty="0" sz="2350" spc="65">
                <a:solidFill>
                  <a:srgbClr val="26343B"/>
                </a:solidFill>
                <a:latin typeface="Arial"/>
                <a:cs typeface="Arial"/>
              </a:rPr>
              <a:t>ayered </a:t>
            </a:r>
            <a:r>
              <a:rPr dirty="0" sz="2350" spc="50">
                <a:solidFill>
                  <a:srgbClr val="26343B"/>
                </a:solidFill>
                <a:latin typeface="Arial"/>
                <a:cs typeface="Arial"/>
              </a:rPr>
              <a:t>international</a:t>
            </a:r>
            <a:r>
              <a:rPr dirty="0" sz="2350" spc="195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60">
                <a:solidFill>
                  <a:srgbClr val="26343B"/>
                </a:solidFill>
                <a:latin typeface="Arial"/>
                <a:cs typeface="Arial"/>
              </a:rPr>
              <a:t>structures.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98070" y="5224284"/>
            <a:ext cx="38735" cy="348615"/>
          </a:xfrm>
          <a:custGeom>
            <a:avLst/>
            <a:gdLst/>
            <a:ahLst/>
            <a:cxnLst/>
            <a:rect l="l" t="t" r="r" b="b"/>
            <a:pathLst>
              <a:path w="38735" h="348614">
                <a:moveTo>
                  <a:pt x="38210" y="348326"/>
                </a:moveTo>
                <a:lnTo>
                  <a:pt x="0" y="348326"/>
                </a:lnTo>
                <a:lnTo>
                  <a:pt x="0" y="0"/>
                </a:lnTo>
                <a:lnTo>
                  <a:pt x="38210" y="0"/>
                </a:lnTo>
                <a:lnTo>
                  <a:pt x="38210" y="348326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062209" y="5150193"/>
            <a:ext cx="864235" cy="87566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dirty="0" sz="1950" spc="-345">
                <a:solidFill>
                  <a:srgbClr val="999EA1"/>
                </a:solidFill>
                <a:latin typeface="Times New Roman"/>
                <a:cs typeface="Times New Roman"/>
              </a:rPr>
              <a:t>,</a:t>
            </a:r>
            <a:r>
              <a:rPr dirty="0" baseline="-21505" sz="2325" spc="-517">
                <a:solidFill>
                  <a:srgbClr val="82898E"/>
                </a:solidFill>
                <a:latin typeface="Arial"/>
                <a:cs typeface="Arial"/>
              </a:rPr>
              <a:t>-</a:t>
            </a:r>
            <a:r>
              <a:rPr dirty="0" sz="2000" spc="-229">
                <a:solidFill>
                  <a:srgbClr val="999EA1"/>
                </a:solidFill>
                <a:latin typeface="Arial"/>
                <a:cs typeface="Arial"/>
              </a:rPr>
              <a:t>.</a:t>
            </a:r>
            <a:r>
              <a:rPr dirty="0" baseline="-21505" sz="2325" spc="-345">
                <a:solidFill>
                  <a:srgbClr val="82898E"/>
                </a:solidFill>
                <a:latin typeface="Arial"/>
                <a:cs typeface="Arial"/>
              </a:rPr>
              <a:t>.</a:t>
            </a:r>
            <a:r>
              <a:rPr dirty="0" sz="2000" spc="-229">
                <a:solidFill>
                  <a:srgbClr val="999EA1"/>
                </a:solidFill>
                <a:latin typeface="Arial"/>
                <a:cs typeface="Arial"/>
              </a:rPr>
              <a:t>.</a:t>
            </a:r>
            <a:r>
              <a:rPr dirty="0" sz="2000" spc="-229">
                <a:solidFill>
                  <a:srgbClr val="82898E"/>
                </a:solidFill>
                <a:latin typeface="Arial"/>
                <a:cs typeface="Arial"/>
              </a:rPr>
              <a:t>·</a:t>
            </a:r>
            <a:r>
              <a:rPr dirty="0" sz="2000" spc="-229">
                <a:solidFill>
                  <a:srgbClr val="B8BCBD"/>
                </a:solidFill>
                <a:latin typeface="Arial"/>
                <a:cs typeface="Arial"/>
              </a:rPr>
              <a:t>·</a:t>
            </a:r>
            <a:r>
              <a:rPr dirty="0" sz="2000" spc="-229">
                <a:solidFill>
                  <a:srgbClr val="999EA1"/>
                </a:solidFill>
                <a:latin typeface="Arial"/>
                <a:cs typeface="Arial"/>
              </a:rPr>
              <a:t>-</a:t>
            </a:r>
            <a:r>
              <a:rPr dirty="0" sz="2000" spc="-20">
                <a:solidFill>
                  <a:srgbClr val="999EA1"/>
                </a:solidFill>
                <a:latin typeface="Arial"/>
                <a:cs typeface="Arial"/>
              </a:rPr>
              <a:t>···.</a:t>
            </a:r>
            <a:endParaRPr sz="2000">
              <a:latin typeface="Arial"/>
              <a:cs typeface="Arial"/>
            </a:endParaRPr>
          </a:p>
          <a:p>
            <a:pPr marL="100330">
              <a:lnSpc>
                <a:spcPct val="100000"/>
              </a:lnSpc>
              <a:spcBef>
                <a:spcPts val="720"/>
              </a:spcBef>
            </a:pPr>
            <a:r>
              <a:rPr dirty="0" baseline="24444" sz="3750" spc="-209">
                <a:solidFill>
                  <a:srgbClr val="82898E"/>
                </a:solidFill>
                <a:latin typeface="Arial"/>
                <a:cs typeface="Arial"/>
              </a:rPr>
              <a:t>'</a:t>
            </a:r>
            <a:r>
              <a:rPr dirty="0" baseline="92592" sz="1350" spc="-209">
                <a:solidFill>
                  <a:srgbClr val="82898E"/>
                </a:solidFill>
                <a:latin typeface="Arial"/>
                <a:cs typeface="Arial"/>
              </a:rPr>
              <a:t>'.</a:t>
            </a:r>
            <a:r>
              <a:rPr dirty="0" u="heavy" sz="1900" spc="-140">
                <a:solidFill>
                  <a:srgbClr val="999EA1"/>
                </a:solidFill>
                <a:uFill>
                  <a:solidFill>
                    <a:srgbClr val="6E777C"/>
                  </a:solidFill>
                </a:uFill>
                <a:latin typeface="Arial"/>
                <a:cs typeface="Arial"/>
              </a:rPr>
              <a:t>\</a:t>
            </a:r>
            <a:r>
              <a:rPr dirty="0" u="heavy" sz="1900" spc="-140">
                <a:solidFill>
                  <a:srgbClr val="82898E"/>
                </a:solidFill>
                <a:uFill>
                  <a:solidFill>
                    <a:srgbClr val="6E777C"/>
                  </a:solidFill>
                </a:uFill>
                <a:latin typeface="Arial"/>
                <a:cs typeface="Arial"/>
              </a:rPr>
              <a:t>...</a:t>
            </a:r>
            <a:r>
              <a:rPr dirty="0" u="heavy" sz="1900" spc="-140">
                <a:solidFill>
                  <a:srgbClr val="999EA1"/>
                </a:solidFill>
                <a:uFill>
                  <a:solidFill>
                    <a:srgbClr val="6E777C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1900">
                <a:solidFill>
                  <a:srgbClr val="999EA1"/>
                </a:solidFill>
                <a:uFill>
                  <a:solidFill>
                    <a:srgbClr val="6E777C"/>
                  </a:solidFill>
                </a:uFill>
                <a:latin typeface="Arial"/>
                <a:cs typeface="Arial"/>
              </a:rPr>
              <a:t>·-</a:t>
            </a:r>
            <a:r>
              <a:rPr dirty="0" u="heavy" sz="1900" spc="-25">
                <a:solidFill>
                  <a:srgbClr val="999EA1"/>
                </a:solidFill>
                <a:uFill>
                  <a:solidFill>
                    <a:srgbClr val="6E777C"/>
                  </a:solidFill>
                </a:uFill>
                <a:latin typeface="Arial"/>
                <a:cs typeface="Arial"/>
              </a:rPr>
              <a:t>·</a:t>
            </a:r>
            <a:r>
              <a:rPr dirty="0" u="heavy" sz="1900" spc="-25">
                <a:solidFill>
                  <a:srgbClr val="6E777C"/>
                </a:solidFill>
                <a:uFill>
                  <a:solidFill>
                    <a:srgbClr val="6E777C"/>
                  </a:solidFill>
                </a:uFill>
                <a:latin typeface="Arial"/>
                <a:cs typeface="Arial"/>
              </a:rPr>
              <a:t>&gt;</a:t>
            </a:r>
            <a:endParaRPr sz="1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3495" y="5968503"/>
            <a:ext cx="11747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5">
                <a:solidFill>
                  <a:srgbClr val="82898E"/>
                </a:solidFill>
                <a:latin typeface="Arial"/>
                <a:cs typeface="Arial"/>
              </a:rPr>
              <a:t>'·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31989" y="6064249"/>
            <a:ext cx="8001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>
                <a:solidFill>
                  <a:srgbClr val="82898E"/>
                </a:solidFill>
                <a:latin typeface="Times New Roman"/>
                <a:cs typeface="Times New Roman"/>
              </a:rPr>
              <a:t>\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25013" y="6651492"/>
            <a:ext cx="7239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50">
                <a:solidFill>
                  <a:srgbClr val="999EA1"/>
                </a:solidFill>
                <a:latin typeface="Arial"/>
                <a:cs typeface="Arial"/>
              </a:rPr>
              <a:t>\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01508" y="6842984"/>
            <a:ext cx="81343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29914" sz="1950" spc="-127">
                <a:solidFill>
                  <a:srgbClr val="82898E"/>
                </a:solidFill>
                <a:latin typeface="Arial"/>
                <a:cs typeface="Arial"/>
              </a:rPr>
              <a:t>\.</a:t>
            </a:r>
            <a:r>
              <a:rPr dirty="0" sz="1500" spc="-85">
                <a:solidFill>
                  <a:srgbClr val="82898E"/>
                </a:solidFill>
                <a:latin typeface="Times New Roman"/>
                <a:cs typeface="Times New Roman"/>
              </a:rPr>
              <a:t>····-</a:t>
            </a:r>
            <a:r>
              <a:rPr dirty="0" sz="1500" spc="-65">
                <a:solidFill>
                  <a:srgbClr val="82898E"/>
                </a:solidFill>
                <a:latin typeface="Times New Roman"/>
                <a:cs typeface="Times New Roman"/>
              </a:rPr>
              <a:t>-</a:t>
            </a:r>
            <a:r>
              <a:rPr dirty="0" sz="1500" spc="-100">
                <a:solidFill>
                  <a:srgbClr val="82898E"/>
                </a:solidFill>
                <a:latin typeface="Times New Roman"/>
                <a:cs typeface="Times New Roman"/>
              </a:rPr>
              <a:t>·····</a:t>
            </a:r>
            <a:r>
              <a:rPr dirty="0" baseline="16908" sz="3450" spc="-150">
                <a:solidFill>
                  <a:srgbClr val="6E777C"/>
                </a:solidFill>
                <a:latin typeface="Times New Roman"/>
                <a:cs typeface="Times New Roman"/>
              </a:rPr>
              <a:t>.</a:t>
            </a:r>
            <a:r>
              <a:rPr dirty="0" sz="1500" spc="-100">
                <a:solidFill>
                  <a:srgbClr val="3D4B50"/>
                </a:solidFill>
                <a:latin typeface="Times New Roman"/>
                <a:cs typeface="Times New Roman"/>
              </a:rPr>
              <a:t>·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56938" y="7060008"/>
            <a:ext cx="6096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6E777C"/>
                </a:solidFill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77781" y="6989795"/>
            <a:ext cx="152400" cy="339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530"/>
              </a:lnSpc>
              <a:spcBef>
                <a:spcPts val="105"/>
              </a:spcBef>
            </a:pPr>
            <a:r>
              <a:rPr dirty="0" sz="1550" spc="-50">
                <a:solidFill>
                  <a:srgbClr val="999EA1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  <a:p>
            <a:pPr algn="r" marR="5080">
              <a:lnSpc>
                <a:spcPts val="930"/>
              </a:lnSpc>
            </a:pPr>
            <a:r>
              <a:rPr dirty="0" sz="1050" spc="-50">
                <a:solidFill>
                  <a:srgbClr val="82898E"/>
                </a:solidFill>
                <a:latin typeface="Times New Roman"/>
                <a:cs typeface="Times New Roman"/>
              </a:rPr>
              <a:t>\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88380" y="7289800"/>
            <a:ext cx="19875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51851" sz="1125" spc="-89">
                <a:solidFill>
                  <a:srgbClr val="6E777C"/>
                </a:solidFill>
                <a:latin typeface="Arial"/>
                <a:cs typeface="Arial"/>
              </a:rPr>
              <a:t>'•</a:t>
            </a:r>
            <a:r>
              <a:rPr dirty="0" sz="1300" spc="-60">
                <a:solidFill>
                  <a:srgbClr val="999EA1"/>
                </a:solidFill>
                <a:latin typeface="Arial"/>
                <a:cs typeface="Arial"/>
              </a:rPr>
              <a:t>...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22769" y="5808927"/>
            <a:ext cx="68453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85">
                <a:solidFill>
                  <a:srgbClr val="566669"/>
                </a:solidFill>
                <a:latin typeface="Arial"/>
                <a:cs typeface="Arial"/>
              </a:rPr>
              <a:t>&lt;</a:t>
            </a:r>
            <a:r>
              <a:rPr dirty="0" sz="1500" spc="-85">
                <a:solidFill>
                  <a:srgbClr val="999EA1"/>
                </a:solidFill>
                <a:latin typeface="Arial"/>
                <a:cs typeface="Arial"/>
              </a:rPr>
              <a:t>-</a:t>
            </a:r>
            <a:r>
              <a:rPr dirty="0" sz="1500" spc="-60">
                <a:solidFill>
                  <a:srgbClr val="6E777C"/>
                </a:solidFill>
                <a:latin typeface="Arial"/>
                <a:cs typeface="Arial"/>
              </a:rPr>
              <a:t>····</a:t>
            </a:r>
            <a:r>
              <a:rPr dirty="0" sz="1500" spc="-60">
                <a:solidFill>
                  <a:srgbClr val="999EA1"/>
                </a:solidFill>
                <a:latin typeface="Arial"/>
                <a:cs typeface="Arial"/>
              </a:rPr>
              <a:t>··-</a:t>
            </a:r>
            <a:r>
              <a:rPr dirty="0" sz="1500" spc="-25">
                <a:solidFill>
                  <a:srgbClr val="999EA1"/>
                </a:solidFill>
                <a:latin typeface="Arial"/>
                <a:cs typeface="Arial"/>
              </a:rPr>
              <a:t>··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01850" y="6294041"/>
            <a:ext cx="7429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50" i="1">
                <a:solidFill>
                  <a:srgbClr val="82898E"/>
                </a:solidFill>
                <a:latin typeface="Times New Roman"/>
                <a:cs typeface="Times New Roman"/>
              </a:rPr>
              <a:t>: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53904" y="6370637"/>
            <a:ext cx="571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82898E"/>
                </a:solidFill>
                <a:latin typeface="Arial"/>
                <a:cs typeface="Arial"/>
              </a:rPr>
              <a:t>,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31900" y="7264268"/>
            <a:ext cx="2757170" cy="1039494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2225" marR="5080" indent="-10160">
              <a:lnSpc>
                <a:spcPct val="96400"/>
              </a:lnSpc>
              <a:spcBef>
                <a:spcPts val="215"/>
              </a:spcBef>
            </a:pPr>
            <a:r>
              <a:rPr dirty="0" sz="2400" spc="65" b="1">
                <a:solidFill>
                  <a:srgbClr val="08242F"/>
                </a:solidFill>
                <a:latin typeface="Arial"/>
                <a:cs typeface="Arial"/>
              </a:rPr>
              <a:t>The</a:t>
            </a:r>
            <a:r>
              <a:rPr dirty="0" sz="2400" spc="-260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spc="-65" b="1">
                <a:solidFill>
                  <a:srgbClr val="08242F"/>
                </a:solidFill>
                <a:latin typeface="Arial"/>
                <a:cs typeface="Arial"/>
              </a:rPr>
              <a:t>UBO</a:t>
            </a:r>
            <a:r>
              <a:rPr dirty="0" sz="2400" spc="-125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8242F"/>
                </a:solidFill>
                <a:latin typeface="Arial"/>
                <a:cs typeface="Arial"/>
              </a:rPr>
              <a:t>Structure </a:t>
            </a:r>
            <a:r>
              <a:rPr dirty="0" sz="2200">
                <a:solidFill>
                  <a:srgbClr val="26343B"/>
                </a:solidFill>
                <a:latin typeface="Arial"/>
                <a:cs typeface="Arial"/>
              </a:rPr>
              <a:t>(&gt;25%</a:t>
            </a:r>
            <a:r>
              <a:rPr dirty="0" sz="2200" spc="6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200" spc="55">
                <a:solidFill>
                  <a:srgbClr val="26343B"/>
                </a:solidFill>
                <a:latin typeface="Arial"/>
                <a:cs typeface="Arial"/>
              </a:rPr>
              <a:t>owne</a:t>
            </a:r>
            <a:r>
              <a:rPr dirty="0" sz="2200" spc="55">
                <a:solidFill>
                  <a:srgbClr val="08242F"/>
                </a:solidFill>
                <a:latin typeface="Arial"/>
                <a:cs typeface="Arial"/>
              </a:rPr>
              <a:t>r</a:t>
            </a:r>
            <a:r>
              <a:rPr dirty="0" sz="2200" spc="55">
                <a:solidFill>
                  <a:srgbClr val="26343B"/>
                </a:solidFill>
                <a:latin typeface="Arial"/>
                <a:cs typeface="Arial"/>
              </a:rPr>
              <a:t>ship</a:t>
            </a:r>
            <a:r>
              <a:rPr dirty="0" sz="2200" spc="9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26343B"/>
                </a:solidFill>
                <a:latin typeface="Arial"/>
                <a:cs typeface="Arial"/>
              </a:rPr>
              <a:t>or </a:t>
            </a:r>
            <a:r>
              <a:rPr dirty="0" sz="2200" spc="55">
                <a:solidFill>
                  <a:srgbClr val="26343B"/>
                </a:solidFill>
                <a:latin typeface="Arial"/>
                <a:cs typeface="Arial"/>
              </a:rPr>
              <a:t>Effec</a:t>
            </a:r>
            <a:r>
              <a:rPr dirty="0" sz="2200" spc="55">
                <a:solidFill>
                  <a:srgbClr val="08242F"/>
                </a:solidFill>
                <a:latin typeface="Arial"/>
                <a:cs typeface="Arial"/>
              </a:rPr>
              <a:t>t</a:t>
            </a:r>
            <a:r>
              <a:rPr dirty="0" sz="2200" spc="55">
                <a:solidFill>
                  <a:srgbClr val="26343B"/>
                </a:solidFill>
                <a:latin typeface="Arial"/>
                <a:cs typeface="Arial"/>
              </a:rPr>
              <a:t>ive</a:t>
            </a:r>
            <a:r>
              <a:rPr dirty="0" sz="2200" spc="1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6343B"/>
                </a:solidFill>
                <a:latin typeface="Arial"/>
                <a:cs typeface="Arial"/>
              </a:rPr>
              <a:t>Control)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53541" y="5237819"/>
            <a:ext cx="2675890" cy="153797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8255">
              <a:lnSpc>
                <a:spcPct val="104400"/>
              </a:lnSpc>
              <a:spcBef>
                <a:spcPts val="160"/>
              </a:spcBef>
            </a:pPr>
            <a:r>
              <a:rPr dirty="0" sz="2400" spc="65" b="1">
                <a:solidFill>
                  <a:srgbClr val="08242F"/>
                </a:solidFill>
                <a:latin typeface="Arial"/>
                <a:cs typeface="Arial"/>
              </a:rPr>
              <a:t>The</a:t>
            </a:r>
            <a:r>
              <a:rPr dirty="0" sz="2400" spc="-254" b="1">
                <a:solidFill>
                  <a:srgbClr val="08242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8242F"/>
                </a:solidFill>
                <a:latin typeface="Arial"/>
                <a:cs typeface="Arial"/>
              </a:rPr>
              <a:t>Pseudo-</a:t>
            </a:r>
            <a:r>
              <a:rPr dirty="0" sz="2400" spc="-20" b="1">
                <a:solidFill>
                  <a:srgbClr val="08242F"/>
                </a:solidFill>
                <a:latin typeface="Arial"/>
                <a:cs typeface="Arial"/>
              </a:rPr>
              <a:t>UBO</a:t>
            </a:r>
            <a:r>
              <a:rPr dirty="0" sz="2400" spc="-20" b="1">
                <a:solidFill>
                  <a:srgbClr val="26343B"/>
                </a:solidFill>
                <a:latin typeface="Arial"/>
                <a:cs typeface="Arial"/>
              </a:rPr>
              <a:t>: </a:t>
            </a:r>
            <a:r>
              <a:rPr dirty="0" sz="2350">
                <a:solidFill>
                  <a:srgbClr val="08242F"/>
                </a:solidFill>
                <a:latin typeface="Arial"/>
                <a:cs typeface="Arial"/>
              </a:rPr>
              <a:t>I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f</a:t>
            </a:r>
            <a:r>
              <a:rPr dirty="0" sz="2350" spc="17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85">
                <a:solidFill>
                  <a:srgbClr val="26343B"/>
                </a:solidFill>
                <a:latin typeface="Arial"/>
                <a:cs typeface="Arial"/>
              </a:rPr>
              <a:t>no</a:t>
            </a:r>
            <a:r>
              <a:rPr dirty="0" sz="2350" spc="-10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UBO</a:t>
            </a:r>
            <a:r>
              <a:rPr dirty="0" sz="2350" spc="5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is</a:t>
            </a:r>
            <a:r>
              <a:rPr dirty="0" sz="2350" spc="95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80">
                <a:solidFill>
                  <a:srgbClr val="26343B"/>
                </a:solidFill>
                <a:latin typeface="Arial"/>
                <a:cs typeface="Arial"/>
              </a:rPr>
              <a:t>found, 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Senior</a:t>
            </a:r>
            <a:r>
              <a:rPr dirty="0" sz="2350" spc="27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45">
                <a:solidFill>
                  <a:srgbClr val="26343B"/>
                </a:solidFill>
                <a:latin typeface="Arial"/>
                <a:cs typeface="Arial"/>
              </a:rPr>
              <a:t>E</a:t>
            </a:r>
            <a:r>
              <a:rPr dirty="0" sz="2350" spc="45">
                <a:solidFill>
                  <a:srgbClr val="08242F"/>
                </a:solidFill>
                <a:latin typeface="Arial"/>
                <a:cs typeface="Arial"/>
              </a:rPr>
              <a:t>x</a:t>
            </a:r>
            <a:r>
              <a:rPr dirty="0" sz="2350" spc="45">
                <a:solidFill>
                  <a:srgbClr val="26343B"/>
                </a:solidFill>
                <a:latin typeface="Arial"/>
                <a:cs typeface="Arial"/>
              </a:rPr>
              <a:t>ec</a:t>
            </a:r>
            <a:r>
              <a:rPr dirty="0" sz="2350" spc="45">
                <a:solidFill>
                  <a:srgbClr val="08242F"/>
                </a:solidFill>
                <a:latin typeface="Arial"/>
                <a:cs typeface="Arial"/>
              </a:rPr>
              <a:t>u</a:t>
            </a:r>
            <a:r>
              <a:rPr dirty="0" sz="2350" spc="45">
                <a:solidFill>
                  <a:srgbClr val="26343B"/>
                </a:solidFill>
                <a:latin typeface="Arial"/>
                <a:cs typeface="Arial"/>
              </a:rPr>
              <a:t>tives 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a</a:t>
            </a:r>
            <a:r>
              <a:rPr dirty="0" sz="2350">
                <a:solidFill>
                  <a:srgbClr val="08242F"/>
                </a:solidFill>
                <a:latin typeface="Arial"/>
                <a:cs typeface="Arial"/>
              </a:rPr>
              <a:t>r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e</a:t>
            </a:r>
            <a:r>
              <a:rPr dirty="0" sz="2350" spc="114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75">
                <a:solidFill>
                  <a:srgbClr val="08242F"/>
                </a:solidFill>
                <a:latin typeface="Arial"/>
                <a:cs typeface="Arial"/>
              </a:rPr>
              <a:t>d</a:t>
            </a:r>
            <a:r>
              <a:rPr dirty="0" sz="2350" spc="75">
                <a:solidFill>
                  <a:srgbClr val="26343B"/>
                </a:solidFill>
                <a:latin typeface="Arial"/>
                <a:cs typeface="Arial"/>
              </a:rPr>
              <a:t>es</a:t>
            </a:r>
            <a:r>
              <a:rPr dirty="0" sz="2350" spc="75">
                <a:solidFill>
                  <a:srgbClr val="08242F"/>
                </a:solidFill>
                <a:latin typeface="Arial"/>
                <a:cs typeface="Arial"/>
              </a:rPr>
              <a:t>i</a:t>
            </a:r>
            <a:r>
              <a:rPr dirty="0" sz="2350" spc="75">
                <a:solidFill>
                  <a:srgbClr val="26343B"/>
                </a:solidFill>
                <a:latin typeface="Arial"/>
                <a:cs typeface="Arial"/>
              </a:rPr>
              <a:t>gnated.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53541" y="7015327"/>
            <a:ext cx="2376170" cy="18669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6510" marR="5080" indent="-4445">
              <a:lnSpc>
                <a:spcPct val="103400"/>
              </a:lnSpc>
              <a:spcBef>
                <a:spcPts val="15"/>
              </a:spcBef>
            </a:pPr>
            <a:r>
              <a:rPr dirty="0" sz="2350" spc="80">
                <a:solidFill>
                  <a:srgbClr val="26343B"/>
                </a:solidFill>
                <a:latin typeface="Arial"/>
                <a:cs typeface="Arial"/>
              </a:rPr>
              <a:t>Institutions</a:t>
            </a:r>
            <a:r>
              <a:rPr dirty="0" sz="2350" spc="11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75">
                <a:solidFill>
                  <a:srgbClr val="26343B"/>
                </a:solidFill>
                <a:latin typeface="Arial"/>
                <a:cs typeface="Arial"/>
              </a:rPr>
              <a:t>must </a:t>
            </a:r>
            <a:r>
              <a:rPr dirty="0" sz="2350" spc="85">
                <a:solidFill>
                  <a:srgbClr val="26343B"/>
                </a:solidFill>
                <a:latin typeface="Arial"/>
                <a:cs typeface="Arial"/>
              </a:rPr>
              <a:t>document</a:t>
            </a:r>
            <a:r>
              <a:rPr dirty="0" sz="2350" spc="16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45">
                <a:solidFill>
                  <a:srgbClr val="26343B"/>
                </a:solidFill>
                <a:latin typeface="Arial"/>
                <a:cs typeface="Arial"/>
              </a:rPr>
              <a:t>the </a:t>
            </a:r>
            <a:r>
              <a:rPr dirty="0" sz="2350">
                <a:solidFill>
                  <a:srgbClr val="26343B"/>
                </a:solidFill>
                <a:latin typeface="Arial"/>
                <a:cs typeface="Arial"/>
              </a:rPr>
              <a:t>measures</a:t>
            </a:r>
            <a:r>
              <a:rPr dirty="0" sz="2350" spc="24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75">
                <a:solidFill>
                  <a:srgbClr val="26343B"/>
                </a:solidFill>
                <a:latin typeface="Arial"/>
                <a:cs typeface="Arial"/>
              </a:rPr>
              <a:t>taken and</a:t>
            </a:r>
            <a:r>
              <a:rPr dirty="0" sz="2350" spc="-4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2350" spc="75">
                <a:solidFill>
                  <a:srgbClr val="26343B"/>
                </a:solidFill>
                <a:latin typeface="Arial"/>
                <a:cs typeface="Arial"/>
              </a:rPr>
              <a:t>difficulties </a:t>
            </a:r>
            <a:r>
              <a:rPr dirty="0" sz="2350" spc="50">
                <a:solidFill>
                  <a:srgbClr val="26343B"/>
                </a:solidFill>
                <a:latin typeface="Arial"/>
                <a:cs typeface="Arial"/>
              </a:rPr>
              <a:t>encountered.</a:t>
            </a:r>
            <a:endParaRPr sz="2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70">
                <a:solidFill>
                  <a:srgbClr val="26343B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26343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6343B"/>
                </a:solidFill>
                <a:latin typeface="Arial"/>
                <a:cs typeface="Arial"/>
              </a:rPr>
              <a:t>otebookL</a:t>
            </a:r>
            <a:r>
              <a:rPr dirty="0" sz="1350" spc="-10">
                <a:solidFill>
                  <a:srgbClr val="181818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479" y="3472656"/>
            <a:ext cx="3286125" cy="20170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7610" y="4110963"/>
            <a:ext cx="1299165" cy="7149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1726" y="3472656"/>
            <a:ext cx="3362547" cy="20681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02801" y="4110963"/>
            <a:ext cx="1350112" cy="7149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73760" y="3344994"/>
            <a:ext cx="1630325" cy="33191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3271868" y="3983301"/>
            <a:ext cx="2242185" cy="1455420"/>
            <a:chOff x="13271868" y="3983301"/>
            <a:chExt cx="2242185" cy="145542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75665" y="3983301"/>
              <a:ext cx="2037906" cy="14553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71868" y="4493948"/>
              <a:ext cx="407581" cy="944694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1031690" y="7685482"/>
            <a:ext cx="0" cy="1251585"/>
          </a:xfrm>
          <a:custGeom>
            <a:avLst/>
            <a:gdLst/>
            <a:ahLst/>
            <a:cxnLst/>
            <a:rect l="l" t="t" r="r" b="b"/>
            <a:pathLst>
              <a:path w="0" h="1251584">
                <a:moveTo>
                  <a:pt x="0" y="1251081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61712" y="4672672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61712" y="3396058"/>
            <a:ext cx="0" cy="1021715"/>
          </a:xfrm>
          <a:custGeom>
            <a:avLst/>
            <a:gdLst/>
            <a:ahLst/>
            <a:cxnLst/>
            <a:rect l="l" t="t" r="r" b="b"/>
            <a:pathLst>
              <a:path w="0" h="1021714">
                <a:moveTo>
                  <a:pt x="0" y="102129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52462" y="3396058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953750" y="4825866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953750" y="3013074"/>
            <a:ext cx="0" cy="919480"/>
          </a:xfrm>
          <a:custGeom>
            <a:avLst/>
            <a:gdLst/>
            <a:ahLst/>
            <a:cxnLst/>
            <a:rect l="l" t="t" r="r" b="b"/>
            <a:pathLst>
              <a:path w="0"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545865" y="3421590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519783" y="4800334"/>
            <a:ext cx="0" cy="944880"/>
          </a:xfrm>
          <a:custGeom>
            <a:avLst/>
            <a:gdLst/>
            <a:ahLst/>
            <a:cxnLst/>
            <a:rect l="l" t="t" r="r" b="b"/>
            <a:pathLst>
              <a:path w="0"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519783" y="3013074"/>
            <a:ext cx="0" cy="1736725"/>
          </a:xfrm>
          <a:custGeom>
            <a:avLst/>
            <a:gdLst/>
            <a:ahLst/>
            <a:cxnLst/>
            <a:rect l="l" t="t" r="r" b="b"/>
            <a:pathLst>
              <a:path w="0" h="1736725">
                <a:moveTo>
                  <a:pt x="0" y="1736195"/>
                </a:moveTo>
                <a:lnTo>
                  <a:pt x="0" y="689371"/>
                </a:lnTo>
              </a:path>
              <a:path w="0" h="1736725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04471" y="3421590"/>
            <a:ext cx="688340" cy="0"/>
          </a:xfrm>
          <a:custGeom>
            <a:avLst/>
            <a:gdLst/>
            <a:ahLst/>
            <a:cxnLst/>
            <a:rect l="l" t="t" r="r" b="b"/>
            <a:pathLst>
              <a:path w="688340" h="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724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30"/>
              </a:spcBef>
            </a:pPr>
            <a:r>
              <a:rPr dirty="0" sz="5600" spc="-295">
                <a:solidFill>
                  <a:srgbClr val="08232D"/>
                </a:solidFill>
                <a:latin typeface="Arial"/>
                <a:cs typeface="Arial"/>
              </a:rPr>
              <a:t>Transaction</a:t>
            </a:r>
            <a:r>
              <a:rPr dirty="0" sz="5600" spc="-35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5600" spc="-254">
                <a:solidFill>
                  <a:srgbClr val="08232D"/>
                </a:solidFill>
                <a:latin typeface="Arial"/>
                <a:cs typeface="Arial"/>
              </a:rPr>
              <a:t>Monitoring:</a:t>
            </a:r>
            <a:r>
              <a:rPr dirty="0" sz="5600" spc="-180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5600" spc="-175">
                <a:solidFill>
                  <a:srgbClr val="08232D"/>
                </a:solidFill>
                <a:latin typeface="Arial"/>
                <a:cs typeface="Arial"/>
              </a:rPr>
              <a:t>The</a:t>
            </a:r>
            <a:r>
              <a:rPr dirty="0" sz="5600" spc="-480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5600" spc="-305">
                <a:solidFill>
                  <a:srgbClr val="08232D"/>
                </a:solidFill>
                <a:latin typeface="Arial"/>
                <a:cs typeface="Arial"/>
              </a:rPr>
              <a:t>Pulse</a:t>
            </a:r>
            <a:r>
              <a:rPr dirty="0" sz="5600" spc="-295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5600" spc="-165">
                <a:solidFill>
                  <a:srgbClr val="08232D"/>
                </a:solidFill>
                <a:latin typeface="Arial"/>
                <a:cs typeface="Arial"/>
              </a:rPr>
              <a:t>of</a:t>
            </a:r>
            <a:r>
              <a:rPr dirty="0" sz="5600" spc="-240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5600" spc="-320">
                <a:solidFill>
                  <a:srgbClr val="08232D"/>
                </a:solidFill>
                <a:latin typeface="Arial"/>
                <a:cs typeface="Arial"/>
              </a:rPr>
              <a:t>Compliance.</a:t>
            </a:r>
            <a:endParaRPr sz="5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71803" y="2228023"/>
            <a:ext cx="2611120" cy="8058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110"/>
              </a:spcBef>
            </a:pPr>
            <a:r>
              <a:rPr dirty="0" sz="2250" spc="50">
                <a:solidFill>
                  <a:srgbClr val="232F36"/>
                </a:solidFill>
                <a:latin typeface="Arial"/>
                <a:cs typeface="Arial"/>
              </a:rPr>
              <a:t>Stage</a:t>
            </a:r>
            <a:r>
              <a:rPr dirty="0" sz="2250" spc="-12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250" spc="10">
                <a:solidFill>
                  <a:srgbClr val="3B494D"/>
                </a:solidFill>
                <a:latin typeface="Arial"/>
                <a:cs typeface="Arial"/>
              </a:rPr>
              <a:t>1</a:t>
            </a:r>
            <a:endParaRPr sz="2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dirty="0" sz="2800" spc="-25" b="1">
                <a:solidFill>
                  <a:srgbClr val="08232D"/>
                </a:solidFill>
                <a:latin typeface="Arial"/>
                <a:cs typeface="Arial"/>
              </a:rPr>
              <a:t>Pre-</a:t>
            </a:r>
            <a:r>
              <a:rPr dirty="0" sz="2800" spc="-10" b="1">
                <a:solidFill>
                  <a:srgbClr val="08232D"/>
                </a:solidFill>
                <a:latin typeface="Arial"/>
                <a:cs typeface="Arial"/>
              </a:rPr>
              <a:t>transaction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74152" y="2228023"/>
            <a:ext cx="2778760" cy="8058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2250" spc="50">
                <a:solidFill>
                  <a:srgbClr val="232F36"/>
                </a:solidFill>
                <a:latin typeface="Arial"/>
                <a:cs typeface="Arial"/>
              </a:rPr>
              <a:t>Stage</a:t>
            </a:r>
            <a:r>
              <a:rPr dirty="0" sz="2250" spc="6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250" spc="75">
                <a:solidFill>
                  <a:srgbClr val="232F36"/>
                </a:solidFill>
                <a:latin typeface="Arial"/>
                <a:cs typeface="Arial"/>
              </a:rPr>
              <a:t>2</a:t>
            </a:r>
            <a:endParaRPr sz="22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dirty="0" sz="2800" spc="-40" b="1">
                <a:solidFill>
                  <a:srgbClr val="08232D"/>
                </a:solidFill>
                <a:latin typeface="Arial"/>
                <a:cs typeface="Arial"/>
              </a:rPr>
              <a:t>Post-</a:t>
            </a:r>
            <a:r>
              <a:rPr dirty="0" sz="2800" spc="-20" b="1">
                <a:solidFill>
                  <a:srgbClr val="08232D"/>
                </a:solidFill>
                <a:latin typeface="Arial"/>
                <a:cs typeface="Arial"/>
              </a:rPr>
              <a:t>transaction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57403" y="4059897"/>
            <a:ext cx="38735" cy="0"/>
          </a:xfrm>
          <a:custGeom>
            <a:avLst/>
            <a:gdLst/>
            <a:ahLst/>
            <a:cxnLst/>
            <a:rect l="l" t="t" r="r" b="b"/>
            <a:pathLst>
              <a:path w="38735" h="0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B8BFC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744704" y="3811025"/>
            <a:ext cx="8191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solidFill>
                  <a:srgbClr val="B8BFC3"/>
                </a:solidFill>
                <a:latin typeface="Times New Roman"/>
                <a:cs typeface="Times New Roman"/>
              </a:rPr>
              <a:t>,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64462" y="4283372"/>
            <a:ext cx="276860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615" i="1">
                <a:solidFill>
                  <a:srgbClr val="B8BFC3"/>
                </a:solidFill>
                <a:latin typeface="Arial"/>
                <a:cs typeface="Arial"/>
              </a:rPr>
              <a:t>/4m'!</a:t>
            </a:r>
            <a:r>
              <a:rPr dirty="0" sz="2250" spc="615" i="1">
                <a:solidFill>
                  <a:srgbClr val="6D7E87"/>
                </a:solidFill>
                <a:latin typeface="Arial"/>
                <a:cs typeface="Arial"/>
              </a:rPr>
              <a:t>J</a:t>
            </a:r>
            <a:r>
              <a:rPr dirty="0" sz="2250" spc="615" i="1">
                <a:solidFill>
                  <a:srgbClr val="3F708E"/>
                </a:solidFill>
                <a:latin typeface="Arial"/>
                <a:cs typeface="Arial"/>
              </a:rPr>
              <a:t>-</a:t>
            </a:r>
            <a:r>
              <a:rPr dirty="0" sz="2250" spc="484" i="1">
                <a:solidFill>
                  <a:srgbClr val="6D7E87"/>
                </a:solidFill>
                <a:latin typeface="Arial"/>
                <a:cs typeface="Arial"/>
              </a:rPr>
              <a:t>---</a:t>
            </a:r>
            <a:r>
              <a:rPr dirty="0" sz="2250" spc="484" i="1">
                <a:solidFill>
                  <a:srgbClr val="89979E"/>
                </a:solidFill>
                <a:latin typeface="Arial"/>
                <a:cs typeface="Arial"/>
              </a:rPr>
              <a:t>-</a:t>
            </a:r>
            <a:r>
              <a:rPr dirty="0" sz="2250" spc="535" i="1">
                <a:solidFill>
                  <a:srgbClr val="3F708E"/>
                </a:solidFill>
                <a:latin typeface="Arial"/>
                <a:cs typeface="Arial"/>
              </a:rPr>
              <a:t>��</a:t>
            </a:r>
            <a:endParaRPr sz="22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68763" y="4590694"/>
            <a:ext cx="51435" cy="379730"/>
          </a:xfrm>
          <a:custGeom>
            <a:avLst/>
            <a:gdLst/>
            <a:ahLst/>
            <a:cxnLst/>
            <a:rect l="l" t="t" r="r" b="b"/>
            <a:pathLst>
              <a:path w="51435" h="379729">
                <a:moveTo>
                  <a:pt x="50939" y="26949"/>
                </a:moveTo>
                <a:lnTo>
                  <a:pt x="44513" y="26949"/>
                </a:lnTo>
                <a:lnTo>
                  <a:pt x="44513" y="0"/>
                </a:lnTo>
                <a:lnTo>
                  <a:pt x="19037" y="0"/>
                </a:lnTo>
                <a:lnTo>
                  <a:pt x="19037" y="26949"/>
                </a:lnTo>
                <a:lnTo>
                  <a:pt x="0" y="26949"/>
                </a:lnTo>
                <a:lnTo>
                  <a:pt x="0" y="379260"/>
                </a:lnTo>
                <a:lnTo>
                  <a:pt x="50939" y="379260"/>
                </a:lnTo>
                <a:lnTo>
                  <a:pt x="50939" y="26949"/>
                </a:lnTo>
                <a:close/>
              </a:path>
            </a:pathLst>
          </a:custGeom>
          <a:solidFill>
            <a:srgbClr val="D4E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82805" y="4551462"/>
            <a:ext cx="34544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9239" sz="1425" spc="-60">
                <a:solidFill>
                  <a:srgbClr val="89979E"/>
                </a:solidFill>
                <a:latin typeface="Arial"/>
                <a:cs typeface="Arial"/>
              </a:rPr>
              <a:t>.</a:t>
            </a:r>
            <a:r>
              <a:rPr dirty="0" baseline="-29239" sz="1425" spc="-172">
                <a:solidFill>
                  <a:srgbClr val="89979E"/>
                </a:solidFill>
                <a:latin typeface="Arial"/>
                <a:cs typeface="Arial"/>
              </a:rPr>
              <a:t> </a:t>
            </a:r>
            <a:r>
              <a:rPr dirty="0" baseline="-13550" sz="3075" spc="-172">
                <a:solidFill>
                  <a:srgbClr val="B8BFC3"/>
                </a:solidFill>
                <a:latin typeface="Times New Roman"/>
                <a:cs typeface="Times New Roman"/>
              </a:rPr>
              <a:t>,</a:t>
            </a:r>
            <a:r>
              <a:rPr dirty="0" sz="1800" spc="-114" i="1">
                <a:solidFill>
                  <a:srgbClr val="B8BFC3"/>
                </a:solidFill>
                <a:latin typeface="Times New Roman"/>
                <a:cs typeface="Times New Roman"/>
              </a:rPr>
              <a:t>.</a:t>
            </a:r>
            <a:r>
              <a:rPr dirty="0" sz="1800" spc="-114" i="1">
                <a:solidFill>
                  <a:srgbClr val="89979E"/>
                </a:solidFill>
                <a:latin typeface="Times New Roman"/>
                <a:cs typeface="Times New Roman"/>
              </a:rPr>
              <a:t>¼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08935" y="5049341"/>
            <a:ext cx="107314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0">
                <a:solidFill>
                  <a:srgbClr val="B8BFC3"/>
                </a:solidFill>
                <a:latin typeface="Arial"/>
                <a:cs typeface="Arial"/>
              </a:rPr>
              <a:t>+</a:t>
            </a:r>
            <a:endParaRPr sz="12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637980" y="3562667"/>
            <a:ext cx="64135" cy="418465"/>
          </a:xfrm>
          <a:custGeom>
            <a:avLst/>
            <a:gdLst/>
            <a:ahLst/>
            <a:cxnLst/>
            <a:rect l="l" t="t" r="r" b="b"/>
            <a:pathLst>
              <a:path w="64134" h="418464">
                <a:moveTo>
                  <a:pt x="63684" y="417991"/>
                </a:moveTo>
                <a:lnTo>
                  <a:pt x="0" y="417991"/>
                </a:lnTo>
                <a:lnTo>
                  <a:pt x="0" y="0"/>
                </a:lnTo>
                <a:lnTo>
                  <a:pt x="63684" y="0"/>
                </a:lnTo>
                <a:lnTo>
                  <a:pt x="63684" y="417991"/>
                </a:lnTo>
                <a:close/>
              </a:path>
            </a:pathLst>
          </a:custGeom>
          <a:solidFill>
            <a:srgbClr val="D4E4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2786880" y="2228023"/>
            <a:ext cx="2863850" cy="27717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337185">
              <a:lnSpc>
                <a:spcPct val="100000"/>
              </a:lnSpc>
              <a:spcBef>
                <a:spcPts val="110"/>
              </a:spcBef>
            </a:pPr>
            <a:r>
              <a:rPr dirty="0" sz="2250" spc="50">
                <a:solidFill>
                  <a:srgbClr val="232F36"/>
                </a:solidFill>
                <a:latin typeface="Arial"/>
                <a:cs typeface="Arial"/>
              </a:rPr>
              <a:t>Stage</a:t>
            </a:r>
            <a:r>
              <a:rPr dirty="0" sz="2250" spc="3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250" spc="10">
                <a:solidFill>
                  <a:srgbClr val="232F36"/>
                </a:solidFill>
                <a:latin typeface="Arial"/>
                <a:cs typeface="Arial"/>
              </a:rPr>
              <a:t>3</a:t>
            </a:r>
            <a:endParaRPr sz="2250">
              <a:latin typeface="Arial"/>
              <a:cs typeface="Arial"/>
            </a:endParaRPr>
          </a:p>
          <a:p>
            <a:pPr algn="ctr" marL="344170">
              <a:lnSpc>
                <a:spcPct val="100000"/>
              </a:lnSpc>
              <a:spcBef>
                <a:spcPts val="65"/>
              </a:spcBef>
            </a:pPr>
            <a:r>
              <a:rPr dirty="0" sz="2800" spc="-65" b="1">
                <a:solidFill>
                  <a:srgbClr val="08232D"/>
                </a:solidFill>
                <a:latin typeface="Arial"/>
                <a:cs typeface="Arial"/>
              </a:rPr>
              <a:t>Feedback</a:t>
            </a:r>
            <a:r>
              <a:rPr dirty="0" sz="2800" spc="-120" b="1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800" spc="-45" b="1">
                <a:solidFill>
                  <a:srgbClr val="08232D"/>
                </a:solidFill>
                <a:latin typeface="Arial"/>
                <a:cs typeface="Arial"/>
              </a:rPr>
              <a:t>Loop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538480" algn="l"/>
                <a:tab pos="1557655" algn="l"/>
                <a:tab pos="1851025" algn="l"/>
              </a:tabLst>
            </a:pPr>
            <a:r>
              <a:rPr dirty="0" sz="2400" spc="-25">
                <a:solidFill>
                  <a:srgbClr val="CFD1D4"/>
                </a:solidFill>
                <a:latin typeface="Arial"/>
                <a:cs typeface="Arial"/>
              </a:rPr>
              <a:t>']</a:t>
            </a:r>
            <a:r>
              <a:rPr dirty="0" sz="2400">
                <a:solidFill>
                  <a:srgbClr val="CFD1D4"/>
                </a:solidFill>
                <a:latin typeface="Arial"/>
                <a:cs typeface="Arial"/>
              </a:rPr>
              <a:t>	</a:t>
            </a:r>
            <a:r>
              <a:rPr dirty="0" sz="2400" spc="-515">
                <a:solidFill>
                  <a:srgbClr val="9CA7AC"/>
                </a:solidFill>
                <a:latin typeface="Arial"/>
                <a:cs typeface="Arial"/>
              </a:rPr>
              <a:t>i</a:t>
            </a:r>
            <a:r>
              <a:rPr dirty="0" sz="2400">
                <a:solidFill>
                  <a:srgbClr val="9CA7AC"/>
                </a:solidFill>
                <a:latin typeface="Arial"/>
                <a:cs typeface="Arial"/>
              </a:rPr>
              <a:t>	</a:t>
            </a:r>
            <a:r>
              <a:rPr dirty="0" u="heavy" sz="2400" spc="-50">
                <a:solidFill>
                  <a:srgbClr val="B8BFC3"/>
                </a:solidFill>
                <a:uFill>
                  <a:solidFill>
                    <a:srgbClr val="B8BFC3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2400">
                <a:solidFill>
                  <a:srgbClr val="B8BFC3"/>
                </a:solidFill>
                <a:uFill>
                  <a:solidFill>
                    <a:srgbClr val="B8BFC3"/>
                  </a:solidFill>
                </a:uFill>
                <a:latin typeface="Arial"/>
                <a:cs typeface="Arial"/>
              </a:rPr>
              <a:t>	-</a:t>
            </a:r>
            <a:r>
              <a:rPr dirty="0" u="none" sz="2400" spc="-160">
                <a:solidFill>
                  <a:srgbClr val="B8BFC3"/>
                </a:solidFill>
                <a:latin typeface="Arial"/>
                <a:cs typeface="Arial"/>
              </a:rPr>
              <a:t> </a:t>
            </a:r>
            <a:r>
              <a:rPr dirty="0" u="none" sz="2400" spc="459">
                <a:solidFill>
                  <a:srgbClr val="B8BFC3"/>
                </a:solidFill>
                <a:latin typeface="Arial"/>
                <a:cs typeface="Arial"/>
              </a:rPr>
              <a:t>-</a:t>
            </a:r>
            <a:r>
              <a:rPr dirty="0" u="none" sz="2400" spc="565">
                <a:solidFill>
                  <a:srgbClr val="6D7E87"/>
                </a:solidFill>
                <a:latin typeface="Arial"/>
                <a:cs typeface="Arial"/>
              </a:rPr>
              <a:t>&gt;</a:t>
            </a:r>
            <a:r>
              <a:rPr dirty="0" u="none" sz="2400" spc="565">
                <a:solidFill>
                  <a:srgbClr val="232F36"/>
                </a:solidFill>
                <a:latin typeface="Arial"/>
                <a:cs typeface="Arial"/>
              </a:rPr>
              <a:t>!</a:t>
            </a:r>
            <a:endParaRPr sz="2400">
              <a:latin typeface="Arial"/>
              <a:cs typeface="Arial"/>
            </a:endParaRPr>
          </a:p>
          <a:p>
            <a:pPr marL="552450">
              <a:lnSpc>
                <a:spcPct val="100000"/>
              </a:lnSpc>
              <a:spcBef>
                <a:spcPts val="2695"/>
              </a:spcBef>
              <a:tabLst>
                <a:tab pos="1577975" algn="l"/>
              </a:tabLst>
            </a:pPr>
            <a:r>
              <a:rPr dirty="0" sz="1650" spc="-75">
                <a:solidFill>
                  <a:srgbClr val="B8BFC3"/>
                </a:solidFill>
                <a:latin typeface="Times New Roman"/>
                <a:cs typeface="Times New Roman"/>
              </a:rPr>
              <a:t>-</a:t>
            </a:r>
            <a:r>
              <a:rPr dirty="0" sz="1650">
                <a:solidFill>
                  <a:srgbClr val="B8BFC3"/>
                </a:solidFill>
                <a:latin typeface="Times New Roman"/>
                <a:cs typeface="Times New Roman"/>
              </a:rPr>
              <a:t>•</a:t>
            </a:r>
            <a:r>
              <a:rPr dirty="0" sz="1650" spc="495">
                <a:solidFill>
                  <a:srgbClr val="B8BFC3"/>
                </a:solidFill>
                <a:latin typeface="Times New Roman"/>
                <a:cs typeface="Times New Roman"/>
              </a:rPr>
              <a:t> </a:t>
            </a:r>
            <a:r>
              <a:rPr dirty="0" sz="1650" spc="-20" i="1">
                <a:solidFill>
                  <a:srgbClr val="9CA7AC"/>
                </a:solidFill>
                <a:latin typeface="Times New Roman"/>
                <a:cs typeface="Times New Roman"/>
              </a:rPr>
              <a:t>:</a:t>
            </a:r>
            <a:r>
              <a:rPr dirty="0" sz="1650" spc="-20" i="1">
                <a:solidFill>
                  <a:srgbClr val="6D7E87"/>
                </a:solidFill>
                <a:latin typeface="Times New Roman"/>
                <a:cs typeface="Times New Roman"/>
              </a:rPr>
              <a:t>,,</a:t>
            </a:r>
            <a:r>
              <a:rPr dirty="0" sz="1650" spc="-20" i="1">
                <a:solidFill>
                  <a:srgbClr val="B8BFC3"/>
                </a:solidFill>
                <a:latin typeface="Times New Roman"/>
                <a:cs typeface="Times New Roman"/>
              </a:rPr>
              <a:t>-</a:t>
            </a:r>
            <a:r>
              <a:rPr dirty="0" sz="1650" i="1">
                <a:solidFill>
                  <a:srgbClr val="B8BFC3"/>
                </a:solidFill>
                <a:latin typeface="Times New Roman"/>
                <a:cs typeface="Times New Roman"/>
              </a:rPr>
              <a:t>	</a:t>
            </a:r>
            <a:r>
              <a:rPr dirty="0" sz="1650" spc="-50">
                <a:solidFill>
                  <a:srgbClr val="CFD1D4"/>
                </a:solidFill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  <a:p>
            <a:pPr marL="906780">
              <a:lnSpc>
                <a:spcPct val="100000"/>
              </a:lnSpc>
              <a:spcBef>
                <a:spcPts val="190"/>
              </a:spcBef>
            </a:pPr>
            <a:r>
              <a:rPr dirty="0" sz="2800" spc="-50">
                <a:solidFill>
                  <a:srgbClr val="B8BFC3"/>
                </a:solidFill>
                <a:latin typeface="Arial"/>
                <a:cs typeface="Arial"/>
              </a:rPr>
              <a:t>-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47783" y="9418922"/>
            <a:ext cx="125984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32F36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08232D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45667" y="5298281"/>
            <a:ext cx="80391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00" spc="325">
                <a:solidFill>
                  <a:srgbClr val="9CA7AC"/>
                </a:solidFill>
                <a:latin typeface="Arial"/>
                <a:cs typeface="Arial"/>
              </a:rPr>
              <a:t>&lt;</a:t>
            </a:r>
            <a:r>
              <a:rPr dirty="0" sz="900" spc="325">
                <a:solidFill>
                  <a:srgbClr val="B8BFC3"/>
                </a:solidFill>
                <a:latin typeface="Arial"/>
                <a:cs typeface="Arial"/>
              </a:rPr>
              <a:t>•-</a:t>
            </a:r>
            <a:r>
              <a:rPr dirty="0" sz="900" spc="254">
                <a:solidFill>
                  <a:srgbClr val="9CA7AC"/>
                </a:solidFill>
                <a:latin typeface="Arial"/>
                <a:cs typeface="Arial"/>
              </a:rPr>
              <a:t>-</a:t>
            </a:r>
            <a:r>
              <a:rPr dirty="0" sz="900" spc="254">
                <a:solidFill>
                  <a:srgbClr val="6D7E87"/>
                </a:solidFill>
                <a:latin typeface="Arial"/>
                <a:cs typeface="Arial"/>
              </a:rPr>
              <a:t>--</a:t>
            </a:r>
            <a:r>
              <a:rPr dirty="0" sz="900" spc="305">
                <a:solidFill>
                  <a:srgbClr val="6D7E87"/>
                </a:solidFill>
                <a:latin typeface="Arial"/>
                <a:cs typeface="Arial"/>
              </a:rPr>
              <a:t>��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62316" y="6038717"/>
            <a:ext cx="3709670" cy="7505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01650" marR="5080" indent="-489584">
              <a:lnSpc>
                <a:spcPts val="2810"/>
              </a:lnSpc>
              <a:spcBef>
                <a:spcPts val="265"/>
              </a:spcBef>
            </a:pPr>
            <a:r>
              <a:rPr dirty="0" sz="2400">
                <a:solidFill>
                  <a:srgbClr val="232F36"/>
                </a:solidFill>
                <a:latin typeface="Arial"/>
                <a:cs typeface="Arial"/>
              </a:rPr>
              <a:t>Real-time</a:t>
            </a:r>
            <a:r>
              <a:rPr dirty="0" sz="2400" spc="39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232F36"/>
                </a:solidFill>
                <a:latin typeface="Arial"/>
                <a:cs typeface="Arial"/>
              </a:rPr>
              <a:t>stopping</a:t>
            </a:r>
            <a:r>
              <a:rPr dirty="0" sz="2400" spc="11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08232D"/>
                </a:solidFill>
                <a:latin typeface="Arial"/>
                <a:cs typeface="Arial"/>
              </a:rPr>
              <a:t>power </a:t>
            </a:r>
            <a:r>
              <a:rPr dirty="0" sz="2400">
                <a:solidFill>
                  <a:srgbClr val="232F36"/>
                </a:solidFill>
                <a:latin typeface="Arial"/>
                <a:cs typeface="Arial"/>
              </a:rPr>
              <a:t>(e.g.,</a:t>
            </a:r>
            <a:r>
              <a:rPr dirty="0" sz="2400" spc="9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232F36"/>
                </a:solidFill>
                <a:latin typeface="Arial"/>
                <a:cs typeface="Arial"/>
              </a:rPr>
              <a:t>sanction</a:t>
            </a:r>
            <a:r>
              <a:rPr dirty="0" sz="2400" spc="3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232F36"/>
                </a:solidFill>
                <a:latin typeface="Arial"/>
                <a:cs typeface="Arial"/>
              </a:rPr>
              <a:t>hits)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07582" y="6038717"/>
            <a:ext cx="4485640" cy="7505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461009">
              <a:lnSpc>
                <a:spcPts val="2810"/>
              </a:lnSpc>
              <a:spcBef>
                <a:spcPts val="265"/>
              </a:spcBef>
            </a:pPr>
            <a:r>
              <a:rPr dirty="0" sz="2400" spc="80">
                <a:solidFill>
                  <a:srgbClr val="232F36"/>
                </a:solidFill>
                <a:latin typeface="Arial"/>
                <a:cs typeface="Arial"/>
              </a:rPr>
              <a:t>Pattern</a:t>
            </a:r>
            <a:r>
              <a:rPr dirty="0" sz="2400" spc="-9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80">
                <a:solidFill>
                  <a:srgbClr val="232F36"/>
                </a:solidFill>
                <a:latin typeface="Arial"/>
                <a:cs typeface="Arial"/>
              </a:rPr>
              <a:t>recognition</a:t>
            </a:r>
            <a:r>
              <a:rPr dirty="0" sz="2400" spc="9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32F36"/>
                </a:solidFill>
                <a:latin typeface="Arial"/>
                <a:cs typeface="Arial"/>
              </a:rPr>
              <a:t>(e.g., </a:t>
            </a:r>
            <a:r>
              <a:rPr dirty="0" sz="2400" spc="65">
                <a:solidFill>
                  <a:srgbClr val="232F36"/>
                </a:solidFill>
                <a:latin typeface="Arial"/>
                <a:cs typeface="Arial"/>
              </a:rPr>
              <a:t>'Smurfing'</a:t>
            </a:r>
            <a:r>
              <a:rPr dirty="0" sz="2400" spc="9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85">
                <a:solidFill>
                  <a:srgbClr val="232F36"/>
                </a:solidFill>
                <a:latin typeface="Arial"/>
                <a:cs typeface="Arial"/>
              </a:rPr>
              <a:t>or</a:t>
            </a:r>
            <a:r>
              <a:rPr dirty="0" sz="2400" spc="1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8232D"/>
                </a:solidFill>
                <a:latin typeface="Arial"/>
                <a:cs typeface="Arial"/>
              </a:rPr>
              <a:t>unusual</a:t>
            </a:r>
            <a:r>
              <a:rPr dirty="0" sz="2400" spc="110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232F36"/>
                </a:solidFill>
                <a:latin typeface="Arial"/>
                <a:cs typeface="Arial"/>
              </a:rPr>
              <a:t>cash</a:t>
            </a:r>
            <a:r>
              <a:rPr dirty="0" sz="2400" spc="7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232F36"/>
                </a:solidFill>
                <a:latin typeface="Arial"/>
                <a:cs typeface="Arial"/>
              </a:rPr>
              <a:t>use)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536323" y="6038717"/>
            <a:ext cx="3697604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70">
                <a:solidFill>
                  <a:srgbClr val="232F36"/>
                </a:solidFill>
                <a:latin typeface="Arial"/>
                <a:cs typeface="Arial"/>
              </a:rPr>
              <a:t>Backtesting</a:t>
            </a:r>
            <a:r>
              <a:rPr dirty="0" sz="2400" spc="-4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250" spc="105">
                <a:solidFill>
                  <a:srgbClr val="232F36"/>
                </a:solidFill>
                <a:latin typeface="Arial"/>
                <a:cs typeface="Arial"/>
              </a:rPr>
              <a:t>&amp;</a:t>
            </a:r>
            <a:r>
              <a:rPr dirty="0" sz="225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08232D"/>
                </a:solidFill>
                <a:latin typeface="Arial"/>
                <a:cs typeface="Arial"/>
              </a:rPr>
              <a:t>Refinement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85905" y="7589473"/>
            <a:ext cx="13759815" cy="13652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2800" spc="-130" b="1">
                <a:solidFill>
                  <a:srgbClr val="08232D"/>
                </a:solidFill>
                <a:latin typeface="Arial"/>
                <a:cs typeface="Arial"/>
              </a:rPr>
              <a:t>DNB</a:t>
            </a:r>
            <a:r>
              <a:rPr dirty="0" sz="2800" spc="-210" b="1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800" spc="-120" b="1">
                <a:solidFill>
                  <a:srgbClr val="08232D"/>
                </a:solidFill>
                <a:latin typeface="Arial"/>
                <a:cs typeface="Arial"/>
              </a:rPr>
              <a:t>Good</a:t>
            </a:r>
            <a:r>
              <a:rPr dirty="0" sz="2800" spc="-215" b="1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800" spc="-30" b="1">
                <a:solidFill>
                  <a:srgbClr val="08232D"/>
                </a:solidFill>
                <a:latin typeface="Arial"/>
                <a:cs typeface="Arial"/>
              </a:rPr>
              <a:t>Practice</a:t>
            </a:r>
            <a:r>
              <a:rPr dirty="0" sz="2800" spc="-105" b="1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8232D"/>
                </a:solidFill>
                <a:latin typeface="Arial"/>
                <a:cs typeface="Arial"/>
              </a:rPr>
              <a:t>{Backtesting):</a:t>
            </a:r>
            <a:endParaRPr sz="2800">
              <a:latin typeface="Arial"/>
              <a:cs typeface="Arial"/>
            </a:endParaRPr>
          </a:p>
          <a:p>
            <a:pPr marL="431800" indent="-271780">
              <a:lnSpc>
                <a:spcPts val="3229"/>
              </a:lnSpc>
              <a:spcBef>
                <a:spcPts val="355"/>
              </a:spcBef>
              <a:buClr>
                <a:srgbClr val="546970"/>
              </a:buClr>
              <a:buChar char="•"/>
              <a:tabLst>
                <a:tab pos="431800" algn="l"/>
              </a:tabLst>
            </a:pP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Retrospective</a:t>
            </a:r>
            <a:r>
              <a:rPr dirty="0" sz="2700" spc="39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analysis</a:t>
            </a:r>
            <a:r>
              <a:rPr dirty="0" sz="2700" spc="12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232F36"/>
                </a:solidFill>
                <a:latin typeface="Arial"/>
                <a:cs typeface="Arial"/>
              </a:rPr>
              <a:t>of</a:t>
            </a:r>
            <a:r>
              <a:rPr dirty="0" sz="2700" spc="17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8232D"/>
                </a:solidFill>
                <a:latin typeface="Arial"/>
                <a:cs typeface="Arial"/>
              </a:rPr>
              <a:t>transactions</a:t>
            </a:r>
            <a:r>
              <a:rPr dirty="0" sz="2700" spc="130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232F36"/>
                </a:solidFill>
                <a:latin typeface="Arial"/>
                <a:cs typeface="Arial"/>
              </a:rPr>
              <a:t>that</a:t>
            </a:r>
            <a:r>
              <a:rPr dirty="0" sz="2700" spc="12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114">
                <a:solidFill>
                  <a:srgbClr val="232F36"/>
                </a:solidFill>
                <a:latin typeface="Arial"/>
                <a:cs typeface="Arial"/>
              </a:rPr>
              <a:t>did</a:t>
            </a:r>
            <a:r>
              <a:rPr dirty="0" sz="2700" spc="-14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8232D"/>
                </a:solidFill>
                <a:latin typeface="Arial"/>
                <a:cs typeface="Arial"/>
              </a:rPr>
              <a:t>NOT</a:t>
            </a:r>
            <a:r>
              <a:rPr dirty="0" sz="2700" spc="150">
                <a:solidFill>
                  <a:srgbClr val="08232D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generate</a:t>
            </a:r>
            <a:r>
              <a:rPr dirty="0" sz="2700" spc="204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232F36"/>
                </a:solidFill>
                <a:latin typeface="Arial"/>
                <a:cs typeface="Arial"/>
              </a:rPr>
              <a:t>alerts</a:t>
            </a:r>
            <a:r>
              <a:rPr dirty="0" sz="2700" spc="10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(false</a:t>
            </a:r>
            <a:r>
              <a:rPr dirty="0" sz="2700" spc="1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32F36"/>
                </a:solidFill>
                <a:latin typeface="Arial"/>
                <a:cs typeface="Arial"/>
              </a:rPr>
              <a:t>negatives).</a:t>
            </a:r>
            <a:endParaRPr sz="2700">
              <a:latin typeface="Arial"/>
              <a:cs typeface="Arial"/>
            </a:endParaRPr>
          </a:p>
          <a:p>
            <a:pPr marL="446405" indent="-286385">
              <a:lnSpc>
                <a:spcPts val="3229"/>
              </a:lnSpc>
              <a:buClr>
                <a:srgbClr val="546970"/>
              </a:buClr>
              <a:buChar char="•"/>
              <a:tabLst>
                <a:tab pos="446405" algn="l"/>
              </a:tabLst>
            </a:pP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Analysis</a:t>
            </a:r>
            <a:r>
              <a:rPr dirty="0" sz="2700" spc="18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232F36"/>
                </a:solidFill>
                <a:latin typeface="Arial"/>
                <a:cs typeface="Arial"/>
              </a:rPr>
              <a:t>of</a:t>
            </a:r>
            <a:r>
              <a:rPr dirty="0" sz="2700" spc="7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rules</a:t>
            </a:r>
            <a:r>
              <a:rPr dirty="0" sz="2700" spc="8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232F36"/>
                </a:solidFill>
                <a:latin typeface="Arial"/>
                <a:cs typeface="Arial"/>
              </a:rPr>
              <a:t>that</a:t>
            </a:r>
            <a:r>
              <a:rPr dirty="0" sz="2700" spc="7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generate</a:t>
            </a:r>
            <a:r>
              <a:rPr dirty="0" sz="2700" spc="13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excessive</a:t>
            </a:r>
            <a:r>
              <a:rPr dirty="0" sz="2700" spc="130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32F36"/>
                </a:solidFill>
                <a:latin typeface="Arial"/>
                <a:cs typeface="Arial"/>
              </a:rPr>
              <a:t>false</a:t>
            </a:r>
            <a:r>
              <a:rPr dirty="0" sz="2700" spc="4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232F36"/>
                </a:solidFill>
                <a:latin typeface="Arial"/>
                <a:cs typeface="Arial"/>
              </a:rPr>
              <a:t>positives.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6989" y="4596076"/>
            <a:ext cx="76421" cy="4851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01740" y="5183319"/>
            <a:ext cx="331159" cy="4340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0990" y="8221662"/>
            <a:ext cx="917058" cy="71490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273084" y="4851398"/>
            <a:ext cx="0" cy="1097915"/>
          </a:xfrm>
          <a:custGeom>
            <a:avLst/>
            <a:gdLst/>
            <a:ahLst/>
            <a:cxnLst/>
            <a:rect l="l" t="t" r="r" b="b"/>
            <a:pathLst>
              <a:path w="0" h="1097914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52462" y="5821625"/>
            <a:ext cx="0" cy="1149350"/>
          </a:xfrm>
          <a:custGeom>
            <a:avLst/>
            <a:gdLst/>
            <a:ahLst/>
            <a:cxnLst/>
            <a:rect l="l" t="t" r="r" b="b"/>
            <a:pathLst>
              <a:path w="0"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23728" y="8042933"/>
            <a:ext cx="0" cy="1097915"/>
          </a:xfrm>
          <a:custGeom>
            <a:avLst/>
            <a:gdLst/>
            <a:ahLst/>
            <a:cxnLst/>
            <a:rect l="l" t="t" r="r" b="b"/>
            <a:pathLst>
              <a:path w="0" h="1097915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38891" y="4851398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176798" y="8017402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07201" y="3115203"/>
            <a:ext cx="3312160" cy="1276985"/>
          </a:xfrm>
          <a:custGeom>
            <a:avLst/>
            <a:gdLst/>
            <a:ahLst/>
            <a:cxnLst/>
            <a:rect l="l" t="t" r="r" b="b"/>
            <a:pathLst>
              <a:path w="3312159" h="1276985">
                <a:moveTo>
                  <a:pt x="3146019" y="1276614"/>
                </a:moveTo>
                <a:lnTo>
                  <a:pt x="3146019" y="0"/>
                </a:lnTo>
              </a:path>
              <a:path w="3312159" h="1276985">
                <a:moveTo>
                  <a:pt x="0" y="153193"/>
                </a:moveTo>
                <a:lnTo>
                  <a:pt x="3311599" y="153193"/>
                </a:lnTo>
              </a:path>
            </a:pathLst>
          </a:custGeom>
          <a:ln w="38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03410" y="4608841"/>
            <a:ext cx="3770629" cy="0"/>
          </a:xfrm>
          <a:custGeom>
            <a:avLst/>
            <a:gdLst/>
            <a:ahLst/>
            <a:cxnLst/>
            <a:rect l="l" t="t" r="r" b="b"/>
            <a:pathLst>
              <a:path w="3770629" h="0">
                <a:moveTo>
                  <a:pt x="0" y="0"/>
                </a:moveTo>
                <a:lnTo>
                  <a:pt x="377012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45715" y="4979060"/>
            <a:ext cx="3159125" cy="0"/>
          </a:xfrm>
          <a:custGeom>
            <a:avLst/>
            <a:gdLst/>
            <a:ahLst/>
            <a:cxnLst/>
            <a:rect l="l" t="t" r="r" b="b"/>
            <a:pathLst>
              <a:path w="3159125" h="0">
                <a:moveTo>
                  <a:pt x="0" y="0"/>
                </a:moveTo>
                <a:lnTo>
                  <a:pt x="31587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45715" y="5821625"/>
            <a:ext cx="3133725" cy="0"/>
          </a:xfrm>
          <a:custGeom>
            <a:avLst/>
            <a:gdLst/>
            <a:ahLst/>
            <a:cxnLst/>
            <a:rect l="l" t="t" r="r" b="b"/>
            <a:pathLst>
              <a:path w="3133725" h="0">
                <a:moveTo>
                  <a:pt x="0" y="0"/>
                </a:moveTo>
                <a:lnTo>
                  <a:pt x="3133282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83622" y="8170595"/>
            <a:ext cx="3159125" cy="0"/>
          </a:xfrm>
          <a:custGeom>
            <a:avLst/>
            <a:gdLst/>
            <a:ahLst/>
            <a:cxnLst/>
            <a:rect l="l" t="t" r="r" b="b"/>
            <a:pathLst>
              <a:path w="3159125" h="0">
                <a:moveTo>
                  <a:pt x="0" y="0"/>
                </a:moveTo>
                <a:lnTo>
                  <a:pt x="31587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83622" y="9000394"/>
            <a:ext cx="3159125" cy="0"/>
          </a:xfrm>
          <a:custGeom>
            <a:avLst/>
            <a:gdLst/>
            <a:ahLst/>
            <a:cxnLst/>
            <a:rect l="l" t="t" r="r" b="b"/>
            <a:pathLst>
              <a:path w="3159125" h="0">
                <a:moveTo>
                  <a:pt x="0" y="0"/>
                </a:moveTo>
                <a:lnTo>
                  <a:pt x="31587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24448" y="313101"/>
            <a:ext cx="195326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20">
                <a:solidFill>
                  <a:srgbClr val="313D42"/>
                </a:solidFill>
                <a:latin typeface="Arial"/>
                <a:cs typeface="Arial"/>
              </a:rPr>
              <a:t>Architec</a:t>
            </a:r>
            <a:r>
              <a:rPr dirty="0" sz="1550" spc="20">
                <a:solidFill>
                  <a:srgbClr val="0E2A34"/>
                </a:solidFill>
                <a:latin typeface="Arial"/>
                <a:cs typeface="Arial"/>
              </a:rPr>
              <a:t>t</a:t>
            </a:r>
            <a:r>
              <a:rPr dirty="0" sz="1550" spc="20">
                <a:solidFill>
                  <a:srgbClr val="313D42"/>
                </a:solidFill>
                <a:latin typeface="Arial"/>
                <a:cs typeface="Arial"/>
              </a:rPr>
              <a:t>ura</a:t>
            </a:r>
            <a:r>
              <a:rPr dirty="0" sz="1550" spc="20">
                <a:solidFill>
                  <a:srgbClr val="0E2A34"/>
                </a:solidFill>
                <a:latin typeface="Arial"/>
                <a:cs typeface="Arial"/>
              </a:rPr>
              <a:t>l</a:t>
            </a:r>
            <a:r>
              <a:rPr dirty="0" sz="1550" spc="-80">
                <a:solidFill>
                  <a:srgbClr val="0E2A3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Editoria</a:t>
            </a:r>
            <a:r>
              <a:rPr dirty="0" sz="1550" spc="-10">
                <a:solidFill>
                  <a:srgbClr val="0E2A34"/>
                </a:solidFill>
                <a:latin typeface="Arial"/>
                <a:cs typeface="Arial"/>
              </a:rPr>
              <a:t>l</a:t>
            </a:r>
            <a:endParaRPr sz="1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47783" y="9418922"/>
            <a:ext cx="1259840" cy="218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32F36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232F36"/>
                </a:solidFill>
                <a:latin typeface="Arial"/>
                <a:cs typeface="Arial"/>
              </a:rPr>
              <a:t> </a:t>
            </a:r>
            <a:r>
              <a:rPr dirty="0" sz="1350" spc="-40" b="1">
                <a:solidFill>
                  <a:srgbClr val="08232D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20277" y="313102"/>
            <a:ext cx="13188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60" b="1">
                <a:solidFill>
                  <a:srgbClr val="5B696E"/>
                </a:solidFill>
                <a:latin typeface="Arial"/>
                <a:cs typeface="Arial"/>
              </a:rPr>
              <a:t>Ba</a:t>
            </a:r>
            <a:r>
              <a:rPr dirty="0" sz="1150" spc="-60" b="1">
                <a:solidFill>
                  <a:srgbClr val="445254"/>
                </a:solidFill>
                <a:latin typeface="Arial"/>
                <a:cs typeface="Arial"/>
              </a:rPr>
              <a:t>n</a:t>
            </a:r>
            <a:r>
              <a:rPr dirty="0" sz="1150" spc="-60" b="1">
                <a:solidFill>
                  <a:srgbClr val="5B696E"/>
                </a:solidFill>
                <a:latin typeface="Arial"/>
                <a:cs typeface="Arial"/>
              </a:rPr>
              <a:t>q</a:t>
            </a:r>
            <a:r>
              <a:rPr dirty="0" sz="1150" spc="-60" b="1">
                <a:solidFill>
                  <a:srgbClr val="445254"/>
                </a:solidFill>
                <a:latin typeface="Arial"/>
                <a:cs typeface="Arial"/>
              </a:rPr>
              <a:t>u</a:t>
            </a:r>
            <a:r>
              <a:rPr dirty="0" sz="1150" spc="-60" b="1">
                <a:solidFill>
                  <a:srgbClr val="5B696E"/>
                </a:solidFill>
                <a:latin typeface="Arial"/>
                <a:cs typeface="Arial"/>
              </a:rPr>
              <a:t>e</a:t>
            </a:r>
            <a:r>
              <a:rPr dirty="0" sz="1150" spc="-125" b="1">
                <a:solidFill>
                  <a:srgbClr val="5B696E"/>
                </a:solidFill>
                <a:latin typeface="Arial"/>
                <a:cs typeface="Arial"/>
              </a:rPr>
              <a:t> </a:t>
            </a:r>
            <a:r>
              <a:rPr dirty="0" sz="1150" spc="-30" b="1">
                <a:solidFill>
                  <a:srgbClr val="445254"/>
                </a:solidFill>
                <a:latin typeface="Arial"/>
                <a:cs typeface="Arial"/>
              </a:rPr>
              <a:t>N</a:t>
            </a:r>
            <a:r>
              <a:rPr dirty="0" sz="1150" spc="-30" b="1">
                <a:solidFill>
                  <a:srgbClr val="5B696E"/>
                </a:solidFill>
                <a:latin typeface="Arial"/>
                <a:cs typeface="Arial"/>
              </a:rPr>
              <a:t>a</a:t>
            </a:r>
            <a:r>
              <a:rPr dirty="0" sz="1150" spc="-30" b="1">
                <a:solidFill>
                  <a:srgbClr val="445254"/>
                </a:solidFill>
                <a:latin typeface="Arial"/>
                <a:cs typeface="Arial"/>
              </a:rPr>
              <a:t>ti</a:t>
            </a:r>
            <a:r>
              <a:rPr dirty="0" sz="1150" spc="-30" b="1">
                <a:solidFill>
                  <a:srgbClr val="5B696E"/>
                </a:solidFill>
                <a:latin typeface="Arial"/>
                <a:cs typeface="Arial"/>
              </a:rPr>
              <a:t>o</a:t>
            </a:r>
            <a:r>
              <a:rPr dirty="0" sz="1150" spc="-30" b="1">
                <a:solidFill>
                  <a:srgbClr val="445254"/>
                </a:solidFill>
                <a:latin typeface="Arial"/>
                <a:cs typeface="Arial"/>
              </a:rPr>
              <a:t>n</a:t>
            </a:r>
            <a:r>
              <a:rPr dirty="0" sz="1150" spc="-30" b="1">
                <a:solidFill>
                  <a:srgbClr val="5B696E"/>
                </a:solidFill>
                <a:latin typeface="Arial"/>
                <a:cs typeface="Arial"/>
              </a:rPr>
              <a:t>ale</a:t>
            </a:r>
            <a:r>
              <a:rPr dirty="0" sz="1150" spc="15" b="1">
                <a:solidFill>
                  <a:srgbClr val="5B696E"/>
                </a:solidFill>
                <a:latin typeface="Arial"/>
                <a:cs typeface="Arial"/>
              </a:rPr>
              <a:t> </a:t>
            </a:r>
            <a:r>
              <a:rPr dirty="0" sz="1150" spc="-320" b="1">
                <a:solidFill>
                  <a:srgbClr val="214454"/>
                </a:solidFill>
                <a:latin typeface="Arial"/>
                <a:cs typeface="Arial"/>
              </a:rPr>
              <a:t>�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063340" y="313102"/>
            <a:ext cx="1045844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60" b="1">
                <a:solidFill>
                  <a:srgbClr val="445254"/>
                </a:solidFill>
                <a:latin typeface="Arial"/>
                <a:cs typeface="Arial"/>
              </a:rPr>
              <a:t>Ba</a:t>
            </a:r>
            <a:r>
              <a:rPr dirty="0" sz="1150" spc="-60" b="1">
                <a:solidFill>
                  <a:srgbClr val="5B696E"/>
                </a:solidFill>
                <a:latin typeface="Arial"/>
                <a:cs typeface="Arial"/>
              </a:rPr>
              <a:t>nk</a:t>
            </a:r>
            <a:r>
              <a:rPr dirty="0" sz="1150" spc="-125" b="1">
                <a:solidFill>
                  <a:srgbClr val="5B696E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5B696E"/>
                </a:solidFill>
                <a:latin typeface="Arial"/>
                <a:cs typeface="Arial"/>
              </a:rPr>
              <a:t>van</a:t>
            </a:r>
            <a:r>
              <a:rPr dirty="0" sz="1150" spc="-20" b="1">
                <a:solidFill>
                  <a:srgbClr val="445254"/>
                </a:solidFill>
                <a:latin typeface="Arial"/>
                <a:cs typeface="Arial"/>
              </a:rPr>
              <a:t>Bel</a:t>
            </a:r>
            <a:r>
              <a:rPr dirty="0" sz="1150" spc="-20" b="1">
                <a:solidFill>
                  <a:srgbClr val="5B696E"/>
                </a:solidFill>
                <a:latin typeface="Arial"/>
                <a:cs typeface="Arial"/>
              </a:rPr>
              <a:t>g</a:t>
            </a:r>
            <a:r>
              <a:rPr dirty="0" sz="1150" spc="-20" b="1">
                <a:solidFill>
                  <a:srgbClr val="445254"/>
                </a:solidFill>
                <a:latin typeface="Arial"/>
                <a:cs typeface="Arial"/>
              </a:rPr>
              <a:t>i</a:t>
            </a:r>
            <a:r>
              <a:rPr dirty="0" sz="1150" spc="-20" b="1">
                <a:solidFill>
                  <a:srgbClr val="5B696E"/>
                </a:solidFill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06866" y="453529"/>
            <a:ext cx="94615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b="1">
                <a:solidFill>
                  <a:srgbClr val="5B696E"/>
                </a:solidFill>
                <a:latin typeface="Times New Roman"/>
                <a:cs typeface="Times New Roman"/>
              </a:rPr>
              <a:t>de</a:t>
            </a:r>
            <a:r>
              <a:rPr dirty="0" sz="1250" spc="65" b="1">
                <a:solidFill>
                  <a:srgbClr val="5B696E"/>
                </a:solidFill>
                <a:latin typeface="Times New Roman"/>
                <a:cs typeface="Times New Roman"/>
              </a:rPr>
              <a:t> </a:t>
            </a:r>
            <a:r>
              <a:rPr dirty="0" sz="1250" spc="-45" b="1">
                <a:solidFill>
                  <a:srgbClr val="445254"/>
                </a:solidFill>
                <a:latin typeface="Times New Roman"/>
                <a:cs typeface="Times New Roman"/>
              </a:rPr>
              <a:t>B</a:t>
            </a:r>
            <a:r>
              <a:rPr dirty="0" sz="1250" spc="-45" b="1">
                <a:solidFill>
                  <a:srgbClr val="5B696E"/>
                </a:solidFill>
                <a:latin typeface="Times New Roman"/>
                <a:cs typeface="Times New Roman"/>
              </a:rPr>
              <a:t>e</a:t>
            </a:r>
            <a:r>
              <a:rPr dirty="0" sz="1250" spc="-45" b="1">
                <a:solidFill>
                  <a:srgbClr val="778082"/>
                </a:solidFill>
                <a:latin typeface="Times New Roman"/>
                <a:cs typeface="Times New Roman"/>
              </a:rPr>
              <a:t>l</a:t>
            </a:r>
            <a:r>
              <a:rPr dirty="0" sz="1250" spc="-45" b="1">
                <a:solidFill>
                  <a:srgbClr val="445254"/>
                </a:solidFill>
                <a:latin typeface="Times New Roman"/>
                <a:cs typeface="Times New Roman"/>
              </a:rPr>
              <a:t>g</a:t>
            </a:r>
            <a:r>
              <a:rPr dirty="0" sz="1250" spc="-45" b="1">
                <a:solidFill>
                  <a:srgbClr val="778082"/>
                </a:solidFill>
                <a:latin typeface="Times New Roman"/>
                <a:cs typeface="Times New Roman"/>
              </a:rPr>
              <a:t>i</a:t>
            </a:r>
            <a:r>
              <a:rPr dirty="0" sz="1250" spc="-45" b="1">
                <a:solidFill>
                  <a:srgbClr val="445254"/>
                </a:solidFill>
                <a:latin typeface="Times New Roman"/>
                <a:cs typeface="Times New Roman"/>
              </a:rPr>
              <a:t>q</a:t>
            </a:r>
            <a:r>
              <a:rPr dirty="0" sz="1250" spc="-45" b="1">
                <a:solidFill>
                  <a:srgbClr val="5B696E"/>
                </a:solidFill>
                <a:latin typeface="Times New Roman"/>
                <a:cs typeface="Times New Roman"/>
              </a:rPr>
              <a:t>ue</a:t>
            </a:r>
            <a:r>
              <a:rPr dirty="0" sz="1250" b="1">
                <a:solidFill>
                  <a:srgbClr val="5B696E"/>
                </a:solidFill>
                <a:latin typeface="Times New Roman"/>
                <a:cs typeface="Times New Roman"/>
              </a:rPr>
              <a:t> </a:t>
            </a:r>
            <a:r>
              <a:rPr dirty="0" sz="1250" spc="-204" b="1">
                <a:solidFill>
                  <a:srgbClr val="5B696E"/>
                </a:solidFill>
                <a:latin typeface="Times New Roman"/>
                <a:cs typeface="Times New Roman"/>
              </a:rPr>
              <a:t>�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17291" y="255654"/>
            <a:ext cx="90741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100" b="1">
                <a:solidFill>
                  <a:srgbClr val="778082"/>
                </a:solidFill>
                <a:latin typeface="Times New Roman"/>
                <a:cs typeface="Times New Roman"/>
              </a:rPr>
              <a:t>r-</a:t>
            </a:r>
            <a:r>
              <a:rPr dirty="0" sz="2800" spc="-315" b="1">
                <a:solidFill>
                  <a:srgbClr val="778082"/>
                </a:solidFill>
                <a:latin typeface="Times New Roman"/>
                <a:cs typeface="Times New Roman"/>
              </a:rPr>
              <a:t> </a:t>
            </a:r>
            <a:r>
              <a:rPr dirty="0" sz="1250" spc="-185" b="1">
                <a:solidFill>
                  <a:srgbClr val="778082"/>
                </a:solidFill>
                <a:latin typeface="Times New Roman"/>
                <a:cs typeface="Times New Roman"/>
              </a:rPr>
              <a:t>Euro,ysttm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434" y="886974"/>
            <a:ext cx="15817215" cy="155956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5650" spc="-125" b="1">
                <a:solidFill>
                  <a:srgbClr val="0E2A34"/>
                </a:solidFill>
                <a:latin typeface="Times New Roman"/>
                <a:cs typeface="Times New Roman"/>
              </a:rPr>
              <a:t>Enhanced</a:t>
            </a:r>
            <a:r>
              <a:rPr dirty="0" sz="5650" spc="-25" b="1">
                <a:solidFill>
                  <a:srgbClr val="0E2A34"/>
                </a:solidFill>
                <a:latin typeface="Times New Roman"/>
                <a:cs typeface="Times New Roman"/>
              </a:rPr>
              <a:t> </a:t>
            </a:r>
            <a:r>
              <a:rPr dirty="0" sz="5650" spc="-100" b="1">
                <a:solidFill>
                  <a:srgbClr val="0E2A34"/>
                </a:solidFill>
                <a:latin typeface="Times New Roman"/>
                <a:cs typeface="Times New Roman"/>
              </a:rPr>
              <a:t>Due</a:t>
            </a:r>
            <a:r>
              <a:rPr dirty="0" sz="5650" spc="-254" b="1">
                <a:solidFill>
                  <a:srgbClr val="0E2A34"/>
                </a:solidFill>
                <a:latin typeface="Times New Roman"/>
                <a:cs typeface="Times New Roman"/>
              </a:rPr>
              <a:t> </a:t>
            </a:r>
            <a:r>
              <a:rPr dirty="0" sz="5650" spc="-95" b="1">
                <a:solidFill>
                  <a:srgbClr val="0E2A34"/>
                </a:solidFill>
                <a:latin typeface="Times New Roman"/>
                <a:cs typeface="Times New Roman"/>
              </a:rPr>
              <a:t>Diligence:</a:t>
            </a:r>
            <a:r>
              <a:rPr dirty="0" sz="5650" spc="-210" b="1">
                <a:solidFill>
                  <a:srgbClr val="0E2A34"/>
                </a:solidFill>
                <a:latin typeface="Times New Roman"/>
                <a:cs typeface="Times New Roman"/>
              </a:rPr>
              <a:t> </a:t>
            </a:r>
            <a:r>
              <a:rPr dirty="0" sz="5650" spc="-295" b="1">
                <a:solidFill>
                  <a:srgbClr val="0E2A34"/>
                </a:solidFill>
                <a:latin typeface="Times New Roman"/>
                <a:cs typeface="Times New Roman"/>
              </a:rPr>
              <a:t>PEPs</a:t>
            </a:r>
            <a:r>
              <a:rPr dirty="0" sz="5650" spc="-500" b="1">
                <a:solidFill>
                  <a:srgbClr val="0E2A34"/>
                </a:solidFill>
                <a:latin typeface="Times New Roman"/>
                <a:cs typeface="Times New Roman"/>
              </a:rPr>
              <a:t> </a:t>
            </a:r>
            <a:r>
              <a:rPr dirty="0" sz="5000" spc="-330" b="1">
                <a:solidFill>
                  <a:srgbClr val="0E2A34"/>
                </a:solidFill>
                <a:latin typeface="Arial"/>
                <a:cs typeface="Arial"/>
              </a:rPr>
              <a:t>&amp;</a:t>
            </a:r>
            <a:r>
              <a:rPr dirty="0" sz="5000" spc="280" b="1">
                <a:solidFill>
                  <a:srgbClr val="0E2A34"/>
                </a:solidFill>
                <a:latin typeface="Arial"/>
                <a:cs typeface="Arial"/>
              </a:rPr>
              <a:t> </a:t>
            </a:r>
            <a:r>
              <a:rPr dirty="0" sz="5650" spc="-254" b="1">
                <a:solidFill>
                  <a:srgbClr val="0E2A34"/>
                </a:solidFill>
                <a:latin typeface="Times New Roman"/>
                <a:cs typeface="Times New Roman"/>
              </a:rPr>
              <a:t>High-Risk</a:t>
            </a:r>
            <a:r>
              <a:rPr dirty="0" sz="5650" spc="-25" b="1">
                <a:solidFill>
                  <a:srgbClr val="0E2A34"/>
                </a:solidFill>
                <a:latin typeface="Times New Roman"/>
                <a:cs typeface="Times New Roman"/>
              </a:rPr>
              <a:t> </a:t>
            </a:r>
            <a:r>
              <a:rPr dirty="0" sz="5650" spc="-60" b="1">
                <a:solidFill>
                  <a:srgbClr val="0E2A34"/>
                </a:solidFill>
                <a:latin typeface="Times New Roman"/>
                <a:cs typeface="Times New Roman"/>
              </a:rPr>
              <a:t>Countries</a:t>
            </a:r>
            <a:endParaRPr sz="5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3300" spc="-235" b="1">
                <a:solidFill>
                  <a:srgbClr val="0E2A34"/>
                </a:solidFill>
                <a:latin typeface="Arial"/>
                <a:cs typeface="Arial"/>
              </a:rPr>
              <a:t>Senior</a:t>
            </a:r>
            <a:r>
              <a:rPr dirty="0" sz="3300" spc="-100" b="1">
                <a:solidFill>
                  <a:srgbClr val="0E2A34"/>
                </a:solidFill>
                <a:latin typeface="Arial"/>
                <a:cs typeface="Arial"/>
              </a:rPr>
              <a:t> </a:t>
            </a:r>
            <a:r>
              <a:rPr dirty="0" sz="3300" spc="-170" b="1">
                <a:solidFill>
                  <a:srgbClr val="0E2A34"/>
                </a:solidFill>
                <a:latin typeface="Arial"/>
                <a:cs typeface="Arial"/>
              </a:rPr>
              <a:t>Management</a:t>
            </a:r>
            <a:r>
              <a:rPr dirty="0" sz="3300" spc="-65" b="1">
                <a:solidFill>
                  <a:srgbClr val="0E2A34"/>
                </a:solidFill>
                <a:latin typeface="Arial"/>
                <a:cs typeface="Arial"/>
              </a:rPr>
              <a:t> </a:t>
            </a:r>
            <a:r>
              <a:rPr dirty="0" sz="3300" spc="-210" b="1">
                <a:solidFill>
                  <a:srgbClr val="0E2A34"/>
                </a:solidFill>
                <a:latin typeface="Arial"/>
                <a:cs typeface="Arial"/>
              </a:rPr>
              <a:t>Approval </a:t>
            </a:r>
            <a:r>
              <a:rPr dirty="0" sz="3300" spc="-85" b="1">
                <a:solidFill>
                  <a:srgbClr val="0E2A34"/>
                </a:solidFill>
                <a:latin typeface="Arial"/>
                <a:cs typeface="Arial"/>
              </a:rPr>
              <a:t>Framework</a:t>
            </a:r>
            <a:endParaRPr sz="3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81391" y="3268464"/>
            <a:ext cx="2923540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>
                <a:solidFill>
                  <a:srgbClr val="C3C6C6"/>
                </a:solidFill>
                <a:latin typeface="Times New Roman"/>
                <a:cs typeface="Times New Roman"/>
              </a:rPr>
              <a:t>l</a:t>
            </a:r>
            <a:r>
              <a:rPr dirty="0" u="heavy" sz="1550">
                <a:solidFill>
                  <a:srgbClr val="8E979A"/>
                </a:solidFill>
                <a:uFill>
                  <a:solidFill>
                    <a:srgbClr val="8E979A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1550">
                <a:solidFill>
                  <a:srgbClr val="445254"/>
                </a:solidFill>
                <a:uFill>
                  <a:solidFill>
                    <a:srgbClr val="8E979A"/>
                  </a:solidFill>
                </a:uFill>
                <a:latin typeface="Arial"/>
                <a:cs typeface="Arial"/>
              </a:rPr>
              <a:t>.8,</a:t>
            </a:r>
            <a:r>
              <a:rPr dirty="0" u="heavy" sz="1550">
                <a:solidFill>
                  <a:srgbClr val="8E979A"/>
                </a:solidFill>
                <a:uFill>
                  <a:solidFill>
                    <a:srgbClr val="8E979A"/>
                  </a:solidFill>
                </a:uFill>
                <a:latin typeface="Arial"/>
                <a:cs typeface="Arial"/>
              </a:rPr>
              <a:t>:</a:t>
            </a:r>
            <a:r>
              <a:rPr dirty="0" u="heavy" sz="1550" spc="55">
                <a:solidFill>
                  <a:srgbClr val="8E979A"/>
                </a:solidFill>
                <a:uFill>
                  <a:solidFill>
                    <a:srgbClr val="8E979A"/>
                  </a:solidFill>
                </a:uFill>
                <a:latin typeface="Arial"/>
                <a:cs typeface="Arial"/>
              </a:rPr>
              <a:t>  </a:t>
            </a:r>
            <a:r>
              <a:rPr dirty="0" u="heavy" sz="1550">
                <a:solidFill>
                  <a:srgbClr val="8E979A"/>
                </a:solidFill>
                <a:uFill>
                  <a:solidFill>
                    <a:srgbClr val="8E979A"/>
                  </a:solidFill>
                </a:uFill>
                <a:latin typeface="Arial"/>
                <a:cs typeface="Arial"/>
              </a:rPr>
              <a:t>�</a:t>
            </a:r>
            <a:r>
              <a:rPr dirty="0" u="none" sz="1550" spc="409">
                <a:solidFill>
                  <a:srgbClr val="8E979A"/>
                </a:solidFill>
                <a:latin typeface="Arial"/>
                <a:cs typeface="Arial"/>
              </a:rPr>
              <a:t> </a:t>
            </a:r>
            <a:r>
              <a:rPr dirty="0" u="none" sz="1550" spc="110">
                <a:solidFill>
                  <a:srgbClr val="313D42"/>
                </a:solidFill>
                <a:latin typeface="Arial"/>
                <a:cs typeface="Arial"/>
              </a:rPr>
              <a:t>Senio</a:t>
            </a:r>
            <a:r>
              <a:rPr dirty="0" u="none" sz="1550" spc="110">
                <a:solidFill>
                  <a:srgbClr val="0E2A34"/>
                </a:solidFill>
                <a:latin typeface="Arial"/>
                <a:cs typeface="Arial"/>
              </a:rPr>
              <a:t>r</a:t>
            </a:r>
            <a:r>
              <a:rPr dirty="0" u="none" sz="1550" spc="-55">
                <a:solidFill>
                  <a:srgbClr val="0E2A34"/>
                </a:solidFill>
                <a:latin typeface="Arial"/>
                <a:cs typeface="Arial"/>
              </a:rPr>
              <a:t> </a:t>
            </a:r>
            <a:r>
              <a:rPr dirty="0" u="none" sz="1550" spc="-10">
                <a:solidFill>
                  <a:srgbClr val="313D42"/>
                </a:solidFill>
                <a:latin typeface="Arial"/>
                <a:cs typeface="Arial"/>
              </a:rPr>
              <a:t>Management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71145" y="3542936"/>
            <a:ext cx="1824989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46735" algn="l"/>
                <a:tab pos="1009015" algn="l"/>
              </a:tabLst>
            </a:pPr>
            <a:r>
              <a:rPr dirty="0" sz="3050" spc="-375">
                <a:solidFill>
                  <a:srgbClr val="C3C6C6"/>
                </a:solidFill>
                <a:latin typeface="Arial"/>
                <a:cs typeface="Arial"/>
              </a:rPr>
              <a:t>r</a:t>
            </a:r>
            <a:r>
              <a:rPr dirty="0" sz="3050">
                <a:solidFill>
                  <a:srgbClr val="C3C6C6"/>
                </a:solidFill>
                <a:latin typeface="Arial"/>
                <a:cs typeface="Arial"/>
              </a:rPr>
              <a:t>	</a:t>
            </a:r>
            <a:r>
              <a:rPr dirty="0" sz="1800" spc="-25">
                <a:solidFill>
                  <a:srgbClr val="445254"/>
                </a:solidFill>
                <a:latin typeface="Arial"/>
                <a:cs typeface="Arial"/>
              </a:rPr>
              <a:t>=-</a:t>
            </a:r>
            <a:r>
              <a:rPr dirty="0" sz="1800">
                <a:solidFill>
                  <a:srgbClr val="445254"/>
                </a:solidFill>
                <a:latin typeface="Arial"/>
                <a:cs typeface="Arial"/>
              </a:rPr>
              <a:t>	</a:t>
            </a:r>
            <a:r>
              <a:rPr dirty="0" sz="1550" spc="70">
                <a:solidFill>
                  <a:srgbClr val="313D42"/>
                </a:solidFill>
                <a:latin typeface="Arial"/>
                <a:cs typeface="Arial"/>
              </a:rPr>
              <a:t>Sign-</a:t>
            </a:r>
            <a:r>
              <a:rPr dirty="0" sz="1550" spc="45">
                <a:solidFill>
                  <a:srgbClr val="313D42"/>
                </a:solidFill>
                <a:latin typeface="Arial"/>
                <a:cs typeface="Arial"/>
              </a:rPr>
              <a:t>Off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83795" y="4040815"/>
            <a:ext cx="3449954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325">
                <a:solidFill>
                  <a:srgbClr val="5B696E"/>
                </a:solidFill>
                <a:latin typeface="Times New Roman"/>
                <a:cs typeface="Times New Roman"/>
              </a:rPr>
              <a:t>-</a:t>
            </a:r>
            <a:r>
              <a:rPr dirty="0" sz="2050" spc="420">
                <a:solidFill>
                  <a:srgbClr val="5B696E"/>
                </a:solidFill>
                <a:latin typeface="Times New Roman"/>
                <a:cs typeface="Times New Roman"/>
              </a:rPr>
              <a:t>f=</a:t>
            </a:r>
            <a:r>
              <a:rPr dirty="0" sz="2050" spc="420">
                <a:solidFill>
                  <a:srgbClr val="778082"/>
                </a:solidFill>
                <a:latin typeface="Times New Roman"/>
                <a:cs typeface="Times New Roman"/>
              </a:rPr>
              <a:t>===::;:::===</a:t>
            </a:r>
            <a:r>
              <a:rPr dirty="0" sz="2050" spc="420">
                <a:solidFill>
                  <a:srgbClr val="5B696E"/>
                </a:solidFill>
                <a:latin typeface="Times New Roman"/>
                <a:cs typeface="Times New Roman"/>
              </a:rPr>
              <a:t>=-</a:t>
            </a:r>
            <a:r>
              <a:rPr dirty="0" sz="2050" spc="250">
                <a:solidFill>
                  <a:srgbClr val="5B696E"/>
                </a:solidFill>
                <a:latin typeface="Times New Roman"/>
                <a:cs typeface="Times New Roman"/>
              </a:rPr>
              <a:t>'-</a:t>
            </a:r>
            <a:r>
              <a:rPr dirty="0" sz="2050" spc="320">
                <a:solidFill>
                  <a:srgbClr val="5B696E"/>
                </a:solidFill>
                <a:latin typeface="Times New Roman"/>
                <a:cs typeface="Times New Roman"/>
              </a:rPr>
              <a:t>-</a:t>
            </a:r>
            <a:r>
              <a:rPr dirty="0" sz="2050" spc="375">
                <a:solidFill>
                  <a:srgbClr val="5B696E"/>
                </a:solidFill>
                <a:latin typeface="Times New Roman"/>
                <a:cs typeface="Times New Roman"/>
              </a:rPr>
              <a:t>4-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67966" y="3376976"/>
            <a:ext cx="3346450" cy="709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6250">
              <a:lnSpc>
                <a:spcPts val="1810"/>
              </a:lnSpc>
              <a:spcBef>
                <a:spcPts val="105"/>
              </a:spcBef>
            </a:pPr>
            <a:r>
              <a:rPr dirty="0" sz="1550" spc="-30">
                <a:solidFill>
                  <a:srgbClr val="313D42"/>
                </a:solidFill>
                <a:latin typeface="Arial"/>
                <a:cs typeface="Arial"/>
              </a:rPr>
              <a:t>Senior</a:t>
            </a:r>
            <a:r>
              <a:rPr dirty="0" sz="1550" spc="-65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45254"/>
                </a:solidFill>
                <a:latin typeface="Arial"/>
                <a:cs typeface="Arial"/>
              </a:rPr>
              <a:t>management 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m</a:t>
            </a:r>
            <a:r>
              <a:rPr dirty="0" sz="1550">
                <a:solidFill>
                  <a:srgbClr val="0E2A34"/>
                </a:solidFill>
                <a:latin typeface="Arial"/>
                <a:cs typeface="Arial"/>
              </a:rPr>
              <a:t>u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st</a:t>
            </a:r>
            <a:r>
              <a:rPr dirty="0" sz="1550" spc="65">
                <a:solidFill>
                  <a:srgbClr val="445254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445254"/>
                </a:solidFill>
                <a:latin typeface="Arial"/>
                <a:cs typeface="Arial"/>
              </a:rPr>
              <a:t>sign</a:t>
            </a:r>
            <a:endParaRPr sz="1550">
              <a:latin typeface="Arial"/>
              <a:cs typeface="Arial"/>
            </a:endParaRPr>
          </a:p>
          <a:p>
            <a:pPr marL="472440" marR="5080" indent="-460375">
              <a:lnSpc>
                <a:spcPts val="1710"/>
              </a:lnSpc>
              <a:spcBef>
                <a:spcPts val="185"/>
              </a:spcBef>
              <a:tabLst>
                <a:tab pos="478790" algn="l"/>
              </a:tabLst>
            </a:pPr>
            <a:r>
              <a:rPr dirty="0" sz="1600">
                <a:solidFill>
                  <a:srgbClr val="5B696E"/>
                </a:solidFill>
                <a:latin typeface="Arial"/>
                <a:cs typeface="Arial"/>
              </a:rPr>
              <a:t>f-</a:t>
            </a:r>
            <a:r>
              <a:rPr dirty="0" sz="1600" spc="-50">
                <a:solidFill>
                  <a:srgbClr val="5B696E"/>
                </a:solidFill>
                <a:latin typeface="Arial"/>
                <a:cs typeface="Arial"/>
              </a:rPr>
              <a:t>-</a:t>
            </a:r>
            <a:r>
              <a:rPr dirty="0" sz="1600">
                <a:solidFill>
                  <a:srgbClr val="5B696E"/>
                </a:solidFill>
                <a:latin typeface="Arial"/>
                <a:cs typeface="Arial"/>
              </a:rPr>
              <a:t>		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off</a:t>
            </a:r>
            <a:r>
              <a:rPr dirty="0" sz="1550" spc="-5">
                <a:solidFill>
                  <a:srgbClr val="445254"/>
                </a:solidFill>
                <a:latin typeface="Arial"/>
                <a:cs typeface="Arial"/>
              </a:rPr>
              <a:t> </a:t>
            </a:r>
            <a:r>
              <a:rPr dirty="0" sz="1550" spc="55">
                <a:solidFill>
                  <a:srgbClr val="313D42"/>
                </a:solidFill>
                <a:latin typeface="Arial"/>
                <a:cs typeface="Arial"/>
              </a:rPr>
              <a:t>on</a:t>
            </a:r>
            <a:r>
              <a:rPr dirty="0" sz="1550" spc="-50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h</a:t>
            </a:r>
            <a:r>
              <a:rPr dirty="0" sz="1550">
                <a:solidFill>
                  <a:srgbClr val="0E2A34"/>
                </a:solidFill>
                <a:latin typeface="Arial"/>
                <a:cs typeface="Arial"/>
              </a:rPr>
              <a:t>i</a:t>
            </a:r>
            <a:r>
              <a:rPr dirty="0" sz="1550">
                <a:solidFill>
                  <a:srgbClr val="313D42"/>
                </a:solidFill>
                <a:latin typeface="Arial"/>
                <a:cs typeface="Arial"/>
              </a:rPr>
              <a:t>gh-risk</a:t>
            </a:r>
            <a:r>
              <a:rPr dirty="0" sz="1550" spc="-130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relat</a:t>
            </a:r>
            <a:r>
              <a:rPr dirty="0" sz="1550">
                <a:solidFill>
                  <a:srgbClr val="5B696E"/>
                </a:solidFill>
                <a:latin typeface="Arial"/>
                <a:cs typeface="Arial"/>
              </a:rPr>
              <a:t>i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onships</a:t>
            </a:r>
            <a:r>
              <a:rPr dirty="0" sz="1550" spc="60">
                <a:solidFill>
                  <a:srgbClr val="445254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313D42"/>
                </a:solidFill>
                <a:latin typeface="Arial"/>
                <a:cs typeface="Arial"/>
              </a:rPr>
              <a:t>and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receive</a:t>
            </a:r>
            <a:r>
              <a:rPr dirty="0" sz="1550" spc="-45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regu</a:t>
            </a:r>
            <a:r>
              <a:rPr dirty="0" sz="1550">
                <a:solidFill>
                  <a:srgbClr val="0E2A34"/>
                </a:solidFill>
                <a:latin typeface="Arial"/>
                <a:cs typeface="Arial"/>
              </a:rPr>
              <a:t>l</a:t>
            </a:r>
            <a:r>
              <a:rPr dirty="0" sz="1550">
                <a:solidFill>
                  <a:srgbClr val="445254"/>
                </a:solidFill>
                <a:latin typeface="Arial"/>
                <a:cs typeface="Arial"/>
              </a:rPr>
              <a:t>ar</a:t>
            </a:r>
            <a:r>
              <a:rPr dirty="0" sz="1550" spc="-105">
                <a:solidFill>
                  <a:srgbClr val="44525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445254"/>
                </a:solidFill>
                <a:latin typeface="Arial"/>
                <a:cs typeface="Arial"/>
              </a:rPr>
              <a:t>report</a:t>
            </a:r>
            <a:r>
              <a:rPr dirty="0" sz="1550" spc="-10">
                <a:solidFill>
                  <a:srgbClr val="5B696E"/>
                </a:solidFill>
                <a:latin typeface="Arial"/>
                <a:cs typeface="Arial"/>
              </a:rPr>
              <a:t>i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3194" y="5106789"/>
            <a:ext cx="18669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400" spc="-50">
                <a:solidFill>
                  <a:srgbClr val="445254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55221" y="5387644"/>
            <a:ext cx="42037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07034" algn="l"/>
              </a:tabLst>
            </a:pPr>
            <a:r>
              <a:rPr dirty="0" u="heavy" sz="1400" spc="-25">
                <a:solidFill>
                  <a:srgbClr val="5B696E"/>
                </a:solidFill>
                <a:uFill>
                  <a:solidFill>
                    <a:srgbClr val="5B696E"/>
                  </a:solidFill>
                </a:uFill>
                <a:latin typeface="Arial"/>
                <a:cs typeface="Arial"/>
              </a:rPr>
              <a:t>C')</a:t>
            </a:r>
            <a:r>
              <a:rPr dirty="0" u="heavy" sz="1400">
                <a:solidFill>
                  <a:srgbClr val="5B696E"/>
                </a:solidFill>
                <a:uFill>
                  <a:solidFill>
                    <a:srgbClr val="5B696E"/>
                  </a:solidFill>
                </a:uFill>
                <a:latin typeface="Arial"/>
                <a:cs typeface="Arial"/>
              </a:rPr>
              <a:t>	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98519" y="5138704"/>
            <a:ext cx="1802764" cy="50545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R="5080">
              <a:lnSpc>
                <a:spcPct val="102699"/>
              </a:lnSpc>
              <a:spcBef>
                <a:spcPts val="55"/>
              </a:spcBef>
            </a:pPr>
            <a:r>
              <a:rPr dirty="0" sz="1550" spc="60">
                <a:solidFill>
                  <a:srgbClr val="313D42"/>
                </a:solidFill>
                <a:latin typeface="Arial"/>
                <a:cs typeface="Arial"/>
              </a:rPr>
              <a:t>Politically</a:t>
            </a:r>
            <a:r>
              <a:rPr dirty="0" sz="1550" spc="-20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313D42"/>
                </a:solidFill>
                <a:latin typeface="Arial"/>
                <a:cs typeface="Arial"/>
              </a:rPr>
              <a:t>Exposed </a:t>
            </a:r>
            <a:r>
              <a:rPr dirty="0" sz="1550" spc="70">
                <a:solidFill>
                  <a:srgbClr val="313D42"/>
                </a:solidFill>
                <a:latin typeface="Arial"/>
                <a:cs typeface="Arial"/>
              </a:rPr>
              <a:t>Persons</a:t>
            </a:r>
            <a:r>
              <a:rPr dirty="0" sz="1550" spc="-85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(PEPs)</a:t>
            </a:r>
            <a:endParaRPr sz="15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19313" y="5930205"/>
            <a:ext cx="1551305" cy="92710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5240" marR="5080" indent="-2540">
              <a:lnSpc>
                <a:spcPts val="1710"/>
              </a:lnSpc>
              <a:spcBef>
                <a:spcPts val="290"/>
              </a:spcBef>
            </a:pPr>
            <a:r>
              <a:rPr dirty="0" sz="1550" spc="60">
                <a:solidFill>
                  <a:srgbClr val="445254"/>
                </a:solidFill>
                <a:latin typeface="Arial"/>
                <a:cs typeface="Arial"/>
              </a:rPr>
              <a:t>Not</a:t>
            </a:r>
            <a:r>
              <a:rPr dirty="0" sz="1550" spc="-70">
                <a:solidFill>
                  <a:srgbClr val="44525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a</a:t>
            </a:r>
            <a:r>
              <a:rPr dirty="0" sz="1550" spc="-10">
                <a:solidFill>
                  <a:srgbClr val="0E2A34"/>
                </a:solidFill>
                <a:latin typeface="Arial"/>
                <a:cs typeface="Arial"/>
              </a:rPr>
              <a:t>u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tomatically unacceptable.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ts val="1650"/>
              </a:lnSpc>
            </a:pPr>
            <a:r>
              <a:rPr dirty="0" sz="1550" spc="-25">
                <a:solidFill>
                  <a:srgbClr val="445254"/>
                </a:solidFill>
                <a:latin typeface="Arial"/>
                <a:cs typeface="Arial"/>
              </a:rPr>
              <a:t>Requ</a:t>
            </a:r>
            <a:r>
              <a:rPr dirty="0" sz="1550" spc="-25">
                <a:solidFill>
                  <a:srgbClr val="0E2A34"/>
                </a:solidFill>
                <a:latin typeface="Arial"/>
                <a:cs typeface="Arial"/>
              </a:rPr>
              <a:t>i</a:t>
            </a:r>
            <a:r>
              <a:rPr dirty="0" sz="1550" spc="-25">
                <a:solidFill>
                  <a:srgbClr val="445254"/>
                </a:solidFill>
                <a:latin typeface="Arial"/>
                <a:cs typeface="Arial"/>
              </a:rPr>
              <a:t>res</a:t>
            </a:r>
            <a:r>
              <a:rPr dirty="0" sz="1550" spc="-110">
                <a:solidFill>
                  <a:srgbClr val="44525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Source</a:t>
            </a:r>
            <a:endParaRPr sz="1550">
              <a:latin typeface="Arial"/>
              <a:cs typeface="Arial"/>
            </a:endParaRPr>
          </a:p>
          <a:p>
            <a:pPr marL="21590">
              <a:lnSpc>
                <a:spcPts val="1835"/>
              </a:lnSpc>
            </a:pPr>
            <a:r>
              <a:rPr dirty="0" sz="1550">
                <a:solidFill>
                  <a:srgbClr val="313D42"/>
                </a:solidFill>
                <a:latin typeface="Arial"/>
                <a:cs typeface="Arial"/>
              </a:rPr>
              <a:t>of</a:t>
            </a:r>
            <a:r>
              <a:rPr dirty="0" sz="1550" spc="-15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Wealth</a:t>
            </a:r>
            <a:r>
              <a:rPr dirty="0" sz="1550" spc="-50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check.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37924" y="6402552"/>
            <a:ext cx="42735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778082"/>
                </a:solidFill>
                <a:latin typeface="Arial"/>
                <a:cs typeface="Arial"/>
              </a:rPr>
              <a:t>1/-</a:t>
            </a:r>
            <a:r>
              <a:rPr dirty="0" sz="1550" spc="-25">
                <a:solidFill>
                  <a:srgbClr val="778082"/>
                </a:solidFill>
                <a:latin typeface="Arial"/>
                <a:cs typeface="Arial"/>
              </a:rPr>
              <a:t>.::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43649" y="6721706"/>
            <a:ext cx="41783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20">
                <a:solidFill>
                  <a:srgbClr val="313D42"/>
                </a:solidFill>
                <a:latin typeface="Arial"/>
                <a:cs typeface="Arial"/>
              </a:rPr>
              <a:t>R</a:t>
            </a:r>
            <a:r>
              <a:rPr dirty="0" sz="1550" spc="-20">
                <a:solidFill>
                  <a:srgbClr val="0E2A34"/>
                </a:solidFill>
                <a:latin typeface="Arial"/>
                <a:cs typeface="Arial"/>
              </a:rPr>
              <a:t>i</a:t>
            </a:r>
            <a:r>
              <a:rPr dirty="0" sz="1550" spc="-20">
                <a:solidFill>
                  <a:srgbClr val="313D42"/>
                </a:solidFill>
                <a:latin typeface="Arial"/>
                <a:cs typeface="Arial"/>
              </a:rPr>
              <a:t>sk</a:t>
            </a:r>
            <a:endParaRPr sz="15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06338" y="6881283"/>
            <a:ext cx="3840479" cy="9182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400" spc="450">
                <a:solidFill>
                  <a:srgbClr val="4F829E"/>
                </a:solidFill>
                <a:latin typeface="Arial"/>
                <a:cs typeface="Arial"/>
              </a:rPr>
              <a:t>'-</a:t>
            </a:r>
            <a:r>
              <a:rPr dirty="0" sz="1400" spc="575">
                <a:solidFill>
                  <a:srgbClr val="4F829E"/>
                </a:solidFill>
                <a:latin typeface="Arial"/>
                <a:cs typeface="Arial"/>
              </a:rPr>
              <a:t>---</a:t>
            </a:r>
            <a:r>
              <a:rPr dirty="0" sz="1400" spc="570">
                <a:solidFill>
                  <a:srgbClr val="385B6D"/>
                </a:solidFill>
                <a:latin typeface="Arial"/>
                <a:cs typeface="Arial"/>
              </a:rPr>
              <a:t>-</a:t>
            </a:r>
            <a:r>
              <a:rPr dirty="0" sz="1400" spc="1015">
                <a:solidFill>
                  <a:srgbClr val="385B6D"/>
                </a:solidFill>
                <a:latin typeface="Arial"/>
                <a:cs typeface="Arial"/>
              </a:rPr>
              <a:t>&lt;</a:t>
            </a:r>
            <a:r>
              <a:rPr dirty="0" sz="1400" spc="-315">
                <a:solidFill>
                  <a:srgbClr val="385B6D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8E979A"/>
                </a:solidFill>
                <a:latin typeface="Arial"/>
                <a:cs typeface="Arial"/>
              </a:rPr>
              <a:t>:&lt;</a:t>
            </a:r>
            <a:r>
              <a:rPr dirty="0" sz="1900" spc="320">
                <a:solidFill>
                  <a:srgbClr val="8E979A"/>
                </a:solidFill>
                <a:latin typeface="Arial"/>
                <a:cs typeface="Arial"/>
              </a:rPr>
              <a:t> </a:t>
            </a:r>
            <a:r>
              <a:rPr dirty="0" sz="1550" spc="90">
                <a:solidFill>
                  <a:srgbClr val="313D42"/>
                </a:solidFill>
                <a:latin typeface="Arial"/>
                <a:cs typeface="Arial"/>
              </a:rPr>
              <a:t>Identification</a:t>
            </a:r>
            <a:r>
              <a:rPr dirty="0" sz="1550" spc="445">
                <a:solidFill>
                  <a:srgbClr val="313D42"/>
                </a:solidFill>
                <a:latin typeface="Arial"/>
                <a:cs typeface="Arial"/>
              </a:rPr>
              <a:t> </a:t>
            </a:r>
            <a:r>
              <a:rPr dirty="0" sz="1900" spc="450">
                <a:solidFill>
                  <a:srgbClr val="8E979A"/>
                </a:solidFill>
                <a:latin typeface="Arial"/>
                <a:cs typeface="Arial"/>
              </a:rPr>
              <a:t>&gt;.</a:t>
            </a:r>
            <a:r>
              <a:rPr dirty="0" sz="1300" spc="450">
                <a:solidFill>
                  <a:srgbClr val="3F6E89"/>
                </a:solidFill>
                <a:latin typeface="Arial"/>
                <a:cs typeface="Arial"/>
              </a:rPr>
              <a:t>&gt;-</a:t>
            </a:r>
            <a:r>
              <a:rPr dirty="0" sz="1300" spc="700">
                <a:solidFill>
                  <a:srgbClr val="3F6E89"/>
                </a:solidFill>
                <a:latin typeface="Arial"/>
                <a:cs typeface="Arial"/>
              </a:rPr>
              <a:t>--</a:t>
            </a:r>
            <a:r>
              <a:rPr dirty="0" sz="800" spc="1070">
                <a:solidFill>
                  <a:srgbClr val="3F6E89"/>
                </a:solidFill>
                <a:latin typeface="Arial"/>
                <a:cs typeface="Arial"/>
              </a:rPr>
              <a:t>✓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Arial"/>
              <a:cs typeface="Arial"/>
            </a:endParaRPr>
          </a:p>
          <a:p>
            <a:pPr algn="ctr" marL="183515">
              <a:lnSpc>
                <a:spcPct val="100000"/>
              </a:lnSpc>
            </a:pPr>
            <a:r>
              <a:rPr dirty="0" baseline="35230" sz="3075" spc="-382">
                <a:solidFill>
                  <a:srgbClr val="778082"/>
                </a:solidFill>
                <a:latin typeface="Times New Roman"/>
                <a:cs typeface="Times New Roman"/>
              </a:rPr>
              <a:t>�</a:t>
            </a:r>
            <a:r>
              <a:rPr dirty="0" sz="2450" spc="1085">
                <a:solidFill>
                  <a:srgbClr val="0E2A34"/>
                </a:solidFill>
                <a:latin typeface="Arial"/>
                <a:cs typeface="Arial"/>
              </a:rPr>
              <a:t>,,</a:t>
            </a:r>
            <a:endParaRPr sz="2450">
              <a:latin typeface="Arial"/>
              <a:cs typeface="Arial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9221529" y="4851398"/>
          <a:ext cx="3235325" cy="209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"/>
                <a:gridCol w="1286510"/>
                <a:gridCol w="1579245"/>
                <a:gridCol w="152400"/>
              </a:tblGrid>
              <a:tr h="127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2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588645" marR="483870" indent="159385">
                        <a:lnSpc>
                          <a:spcPct val="102699"/>
                        </a:lnSpc>
                        <a:spcBef>
                          <a:spcPts val="1315"/>
                        </a:spcBef>
                      </a:pPr>
                      <a:r>
                        <a:rPr dirty="0" sz="155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High-Risk</a:t>
                      </a:r>
                      <a:r>
                        <a:rPr dirty="0" sz="1550" spc="47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75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Third </a:t>
                      </a:r>
                      <a:r>
                        <a:rPr dirty="0" sz="1550" spc="7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Countries</a:t>
                      </a:r>
                      <a:r>
                        <a:rPr dirty="0" sz="1550" spc="85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(HRTCs)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7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99568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1300" indent="3810">
                        <a:lnSpc>
                          <a:spcPts val="1710"/>
                        </a:lnSpc>
                        <a:spcBef>
                          <a:spcPts val="140"/>
                        </a:spcBef>
                      </a:pPr>
                      <a:r>
                        <a:rPr dirty="0" sz="155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Strict</a:t>
                      </a:r>
                      <a:r>
                        <a:rPr dirty="0" sz="1550" spc="3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enha</a:t>
                      </a:r>
                      <a:r>
                        <a:rPr dirty="0" sz="1550" spc="-10">
                          <a:solidFill>
                            <a:srgbClr val="0E2A34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550" spc="-1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ced </a:t>
                      </a:r>
                      <a:r>
                        <a:rPr dirty="0" sz="155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monitor</a:t>
                      </a:r>
                      <a:r>
                        <a:rPr dirty="0" sz="1550">
                          <a:solidFill>
                            <a:srgbClr val="0E2A34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550">
                          <a:solidFill>
                            <a:srgbClr val="445254"/>
                          </a:solidFill>
                          <a:latin typeface="Arial"/>
                          <a:cs typeface="Arial"/>
                        </a:rPr>
                        <a:t>ng</a:t>
                      </a:r>
                      <a:r>
                        <a:rPr dirty="0" sz="1550" spc="-5">
                          <a:solidFill>
                            <a:srgbClr val="4452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313D42"/>
                          </a:solidFill>
                          <a:latin typeface="Arial"/>
                          <a:cs typeface="Arial"/>
                        </a:rPr>
                        <a:t>requir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12363181" y="6147230"/>
            <a:ext cx="30035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25">
                <a:solidFill>
                  <a:srgbClr val="313D42"/>
                </a:solidFill>
                <a:latin typeface="Arial"/>
                <a:cs typeface="Arial"/>
              </a:rPr>
              <a:t>ed</a:t>
            </a:r>
            <a:r>
              <a:rPr dirty="0" sz="1550" spc="-25">
                <a:solidFill>
                  <a:srgbClr val="5B696E"/>
                </a:solidFill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23728" y="8170595"/>
            <a:ext cx="2853690" cy="829944"/>
          </a:xfrm>
          <a:prstGeom prst="rect">
            <a:avLst/>
          </a:prstGeom>
          <a:ln w="38210">
            <a:solidFill>
              <a:srgbClr val="000000"/>
            </a:solidFill>
          </a:ln>
        </p:spPr>
        <p:txBody>
          <a:bodyPr wrap="square" lIns="0" tIns="167005" rIns="0" bIns="0" rtlCol="0" vert="horz">
            <a:spAutoFit/>
          </a:bodyPr>
          <a:lstStyle/>
          <a:p>
            <a:pPr marL="1000125" marR="666750" indent="15240">
              <a:lnSpc>
                <a:spcPct val="102699"/>
              </a:lnSpc>
              <a:spcBef>
                <a:spcPts val="1315"/>
              </a:spcBef>
            </a:pPr>
            <a:r>
              <a:rPr dirty="0" sz="1550" spc="-10">
                <a:solidFill>
                  <a:srgbClr val="313D42"/>
                </a:solidFill>
                <a:latin typeface="Arial"/>
                <a:cs typeface="Arial"/>
              </a:rPr>
              <a:t>Relationship </a:t>
            </a:r>
            <a:r>
              <a:rPr dirty="0" sz="1550" spc="75">
                <a:solidFill>
                  <a:srgbClr val="313D42"/>
                </a:solidFill>
                <a:latin typeface="Arial"/>
                <a:cs typeface="Arial"/>
              </a:rPr>
              <a:t>Initiation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7964" y="4340754"/>
            <a:ext cx="1579378" cy="10468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6817" y="4315221"/>
            <a:ext cx="2649278" cy="107235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68005" y="2974775"/>
            <a:ext cx="9540240" cy="0"/>
          </a:xfrm>
          <a:custGeom>
            <a:avLst/>
            <a:gdLst/>
            <a:ahLst/>
            <a:cxnLst/>
            <a:rect l="l" t="t" r="r" b="b"/>
            <a:pathLst>
              <a:path w="9540240" h="0">
                <a:moveTo>
                  <a:pt x="0" y="0"/>
                </a:moveTo>
                <a:lnTo>
                  <a:pt x="953995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54988" y="2948992"/>
            <a:ext cx="9566275" cy="1915795"/>
            <a:chOff x="954988" y="2948992"/>
            <a:chExt cx="9566275" cy="1915795"/>
          </a:xfrm>
        </p:grpSpPr>
        <p:sp>
          <p:nvSpPr>
            <p:cNvPr id="6" name="object 6"/>
            <p:cNvSpPr/>
            <p:nvPr/>
          </p:nvSpPr>
          <p:spPr>
            <a:xfrm>
              <a:off x="968005" y="2962009"/>
              <a:ext cx="9540240" cy="1877060"/>
            </a:xfrm>
            <a:custGeom>
              <a:avLst/>
              <a:gdLst/>
              <a:ahLst/>
              <a:cxnLst/>
              <a:rect l="l" t="t" r="r" b="b"/>
              <a:pathLst>
                <a:path w="9540240" h="1877060">
                  <a:moveTo>
                    <a:pt x="0" y="268088"/>
                  </a:moveTo>
                  <a:lnTo>
                    <a:pt x="9539952" y="268088"/>
                  </a:lnTo>
                </a:path>
                <a:path w="9540240" h="1877060">
                  <a:moveTo>
                    <a:pt x="12736" y="1876622"/>
                  </a:moveTo>
                  <a:lnTo>
                    <a:pt x="12736" y="0"/>
                  </a:lnTo>
                </a:path>
                <a:path w="9540240" h="1877060">
                  <a:moveTo>
                    <a:pt x="917058" y="536177"/>
                  </a:moveTo>
                  <a:lnTo>
                    <a:pt x="917058" y="0"/>
                  </a:lnTo>
                </a:path>
                <a:path w="9540240" h="1877060">
                  <a:moveTo>
                    <a:pt x="1872327" y="574476"/>
                  </a:moveTo>
                  <a:lnTo>
                    <a:pt x="1872327" y="0"/>
                  </a:lnTo>
                </a:path>
                <a:path w="9540240" h="1877060">
                  <a:moveTo>
                    <a:pt x="2814859" y="574476"/>
                  </a:moveTo>
                  <a:lnTo>
                    <a:pt x="2814859" y="0"/>
                  </a:lnTo>
                </a:path>
                <a:path w="9540240" h="1877060">
                  <a:moveTo>
                    <a:pt x="3757391" y="574476"/>
                  </a:moveTo>
                  <a:lnTo>
                    <a:pt x="3757391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55192" y="2962009"/>
              <a:ext cx="0" cy="1877060"/>
            </a:xfrm>
            <a:custGeom>
              <a:avLst/>
              <a:gdLst/>
              <a:ahLst/>
              <a:cxnLst/>
              <a:rect l="l" t="t" r="r" b="b"/>
              <a:pathLst>
                <a:path w="0" h="1877060">
                  <a:moveTo>
                    <a:pt x="0" y="1242971"/>
                  </a:moveTo>
                  <a:lnTo>
                    <a:pt x="0" y="1876622"/>
                  </a:lnTo>
                </a:path>
                <a:path w="0" h="1877060">
                  <a:moveTo>
                    <a:pt x="0" y="0"/>
                  </a:moveTo>
                  <a:lnTo>
                    <a:pt x="0" y="633401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552993" y="2962009"/>
              <a:ext cx="2942590" cy="1877060"/>
            </a:xfrm>
            <a:custGeom>
              <a:avLst/>
              <a:gdLst/>
              <a:ahLst/>
              <a:cxnLst/>
              <a:rect l="l" t="t" r="r" b="b"/>
              <a:pathLst>
                <a:path w="2942590" h="1877060">
                  <a:moveTo>
                    <a:pt x="0" y="536177"/>
                  </a:moveTo>
                  <a:lnTo>
                    <a:pt x="0" y="0"/>
                  </a:lnTo>
                </a:path>
                <a:path w="2942590" h="1877060">
                  <a:moveTo>
                    <a:pt x="993479" y="1876622"/>
                  </a:moveTo>
                  <a:lnTo>
                    <a:pt x="993479" y="0"/>
                  </a:lnTo>
                </a:path>
                <a:path w="2942590" h="1877060">
                  <a:moveTo>
                    <a:pt x="1974222" y="536177"/>
                  </a:moveTo>
                  <a:lnTo>
                    <a:pt x="1974222" y="0"/>
                  </a:lnTo>
                </a:path>
                <a:path w="2942590" h="1877060">
                  <a:moveTo>
                    <a:pt x="2942228" y="1876622"/>
                  </a:moveTo>
                  <a:lnTo>
                    <a:pt x="2942228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68005" y="3485421"/>
              <a:ext cx="930275" cy="0"/>
            </a:xfrm>
            <a:custGeom>
              <a:avLst/>
              <a:gdLst/>
              <a:ahLst/>
              <a:cxnLst/>
              <a:rect l="l" t="t" r="r" b="b"/>
              <a:pathLst>
                <a:path w="930275" h="0">
                  <a:moveTo>
                    <a:pt x="0" y="0"/>
                  </a:moveTo>
                  <a:lnTo>
                    <a:pt x="62321" y="0"/>
                  </a:lnTo>
                </a:path>
                <a:path w="930275" h="0">
                  <a:moveTo>
                    <a:pt x="164217" y="0"/>
                  </a:moveTo>
                  <a:lnTo>
                    <a:pt x="92979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559513" y="3217332"/>
              <a:ext cx="3949065" cy="268605"/>
            </a:xfrm>
            <a:custGeom>
              <a:avLst/>
              <a:gdLst/>
              <a:ahLst/>
              <a:cxnLst/>
              <a:rect l="l" t="t" r="r" b="b"/>
              <a:pathLst>
                <a:path w="3949065" h="268604">
                  <a:moveTo>
                    <a:pt x="12736" y="268088"/>
                  </a:moveTo>
                  <a:lnTo>
                    <a:pt x="12736" y="0"/>
                  </a:lnTo>
                </a:path>
                <a:path w="3949065" h="268604">
                  <a:moveTo>
                    <a:pt x="0" y="268088"/>
                  </a:moveTo>
                  <a:lnTo>
                    <a:pt x="3948445" y="268088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85064" y="3472655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63830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546776" y="3472655"/>
              <a:ext cx="1006475" cy="64135"/>
            </a:xfrm>
            <a:custGeom>
              <a:avLst/>
              <a:gdLst/>
              <a:ahLst/>
              <a:cxnLst/>
              <a:rect l="l" t="t" r="r" b="b"/>
              <a:pathLst>
                <a:path w="1006475" h="64135">
                  <a:moveTo>
                    <a:pt x="0" y="38298"/>
                  </a:moveTo>
                  <a:lnTo>
                    <a:pt x="50947" y="38298"/>
                  </a:lnTo>
                </a:path>
                <a:path w="1006475" h="64135">
                  <a:moveTo>
                    <a:pt x="1006216" y="63830"/>
                  </a:moveTo>
                  <a:lnTo>
                    <a:pt x="1006216" y="0"/>
                  </a:lnTo>
                </a:path>
              </a:pathLst>
            </a:custGeom>
            <a:ln w="382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527215" y="3472655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w="0" h="64135">
                  <a:moveTo>
                    <a:pt x="0" y="63830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68005" y="3536485"/>
              <a:ext cx="930275" cy="472440"/>
            </a:xfrm>
            <a:custGeom>
              <a:avLst/>
              <a:gdLst/>
              <a:ahLst/>
              <a:cxnLst/>
              <a:rect l="l" t="t" r="r" b="b"/>
              <a:pathLst>
                <a:path w="930275" h="472439">
                  <a:moveTo>
                    <a:pt x="0" y="217024"/>
                  </a:moveTo>
                  <a:lnTo>
                    <a:pt x="929795" y="217024"/>
                  </a:lnTo>
                </a:path>
                <a:path w="930275" h="472439">
                  <a:moveTo>
                    <a:pt x="917058" y="472347"/>
                  </a:moveTo>
                  <a:lnTo>
                    <a:pt x="917058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25397" y="3753510"/>
              <a:ext cx="5782945" cy="0"/>
            </a:xfrm>
            <a:custGeom>
              <a:avLst/>
              <a:gdLst/>
              <a:ahLst/>
              <a:cxnLst/>
              <a:rect l="l" t="t" r="r" b="b"/>
              <a:pathLst>
                <a:path w="5782945" h="0">
                  <a:moveTo>
                    <a:pt x="0" y="0"/>
                  </a:moveTo>
                  <a:lnTo>
                    <a:pt x="737378" y="0"/>
                  </a:lnTo>
                </a:path>
                <a:path w="5782945" h="0">
                  <a:moveTo>
                    <a:pt x="991123" y="0"/>
                  </a:moveTo>
                  <a:lnTo>
                    <a:pt x="5553105" y="0"/>
                  </a:lnTo>
                </a:path>
                <a:path w="5782945" h="0">
                  <a:moveTo>
                    <a:pt x="5616790" y="0"/>
                  </a:moveTo>
                  <a:lnTo>
                    <a:pt x="5782561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68005" y="3536485"/>
              <a:ext cx="8559800" cy="1302385"/>
            </a:xfrm>
            <a:custGeom>
              <a:avLst/>
              <a:gdLst/>
              <a:ahLst/>
              <a:cxnLst/>
              <a:rect l="l" t="t" r="r" b="b"/>
              <a:pathLst>
                <a:path w="8559800" h="1302385">
                  <a:moveTo>
                    <a:pt x="5604244" y="1302146"/>
                  </a:moveTo>
                  <a:lnTo>
                    <a:pt x="5604244" y="0"/>
                  </a:lnTo>
                </a:path>
                <a:path w="8559800" h="1302385">
                  <a:moveTo>
                    <a:pt x="6584987" y="472347"/>
                  </a:moveTo>
                  <a:lnTo>
                    <a:pt x="6584987" y="0"/>
                  </a:lnTo>
                </a:path>
                <a:path w="8559800" h="1302385">
                  <a:moveTo>
                    <a:pt x="8559209" y="472347"/>
                  </a:moveTo>
                  <a:lnTo>
                    <a:pt x="8559209" y="0"/>
                  </a:lnTo>
                </a:path>
                <a:path w="8559800" h="1302385">
                  <a:moveTo>
                    <a:pt x="0" y="459581"/>
                  </a:moveTo>
                  <a:lnTo>
                    <a:pt x="3757391" y="459581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16520" y="3996067"/>
              <a:ext cx="4791710" cy="0"/>
            </a:xfrm>
            <a:custGeom>
              <a:avLst/>
              <a:gdLst/>
              <a:ahLst/>
              <a:cxnLst/>
              <a:rect l="l" t="t" r="r" b="b"/>
              <a:pathLst>
                <a:path w="4791709" h="0">
                  <a:moveTo>
                    <a:pt x="0" y="0"/>
                  </a:moveTo>
                  <a:lnTo>
                    <a:pt x="4561982" y="0"/>
                  </a:lnTo>
                </a:path>
                <a:path w="4791709" h="0">
                  <a:moveTo>
                    <a:pt x="4625667" y="0"/>
                  </a:moveTo>
                  <a:lnTo>
                    <a:pt x="47914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85064" y="3983300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w="0" h="89535">
                  <a:moveTo>
                    <a:pt x="0" y="89362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840333" y="3983300"/>
              <a:ext cx="1885314" cy="727710"/>
            </a:xfrm>
            <a:custGeom>
              <a:avLst/>
              <a:gdLst/>
              <a:ahLst/>
              <a:cxnLst/>
              <a:rect l="l" t="t" r="r" b="b"/>
              <a:pathLst>
                <a:path w="1885314" h="727710">
                  <a:moveTo>
                    <a:pt x="0" y="727670"/>
                  </a:moveTo>
                  <a:lnTo>
                    <a:pt x="0" y="0"/>
                  </a:lnTo>
                </a:path>
                <a:path w="1885314" h="727710">
                  <a:moveTo>
                    <a:pt x="942532" y="510645"/>
                  </a:moveTo>
                  <a:lnTo>
                    <a:pt x="942532" y="0"/>
                  </a:lnTo>
                </a:path>
                <a:path w="1885314" h="727710">
                  <a:moveTo>
                    <a:pt x="1885064" y="727670"/>
                  </a:moveTo>
                  <a:lnTo>
                    <a:pt x="1885064" y="12766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552993" y="3983300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w="0" h="89535">
                  <a:moveTo>
                    <a:pt x="0" y="89362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527215" y="3983300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4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68005" y="4264156"/>
              <a:ext cx="9540240" cy="0"/>
            </a:xfrm>
            <a:custGeom>
              <a:avLst/>
              <a:gdLst/>
              <a:ahLst/>
              <a:cxnLst/>
              <a:rect l="l" t="t" r="r" b="b"/>
              <a:pathLst>
                <a:path w="9540240" h="0">
                  <a:moveTo>
                    <a:pt x="0" y="0"/>
                  </a:moveTo>
                  <a:lnTo>
                    <a:pt x="1880306" y="0"/>
                  </a:lnTo>
                </a:path>
                <a:path w="9540240" h="0">
                  <a:moveTo>
                    <a:pt x="2147782" y="0"/>
                  </a:moveTo>
                  <a:lnTo>
                    <a:pt x="4465901" y="0"/>
                  </a:lnTo>
                </a:path>
                <a:path w="9540240" h="0">
                  <a:moveTo>
                    <a:pt x="4656955" y="0"/>
                  </a:moveTo>
                  <a:lnTo>
                    <a:pt x="953995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85064" y="4072663"/>
              <a:ext cx="5668010" cy="766445"/>
            </a:xfrm>
            <a:custGeom>
              <a:avLst/>
              <a:gdLst/>
              <a:ahLst/>
              <a:cxnLst/>
              <a:rect l="l" t="t" r="r" b="b"/>
              <a:pathLst>
                <a:path w="5668009" h="766445">
                  <a:moveTo>
                    <a:pt x="0" y="625540"/>
                  </a:moveTo>
                  <a:lnTo>
                    <a:pt x="0" y="0"/>
                  </a:lnTo>
                </a:path>
                <a:path w="5668009" h="766445">
                  <a:moveTo>
                    <a:pt x="5667929" y="765968"/>
                  </a:moveTo>
                  <a:lnTo>
                    <a:pt x="5667929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712660" y="4493946"/>
              <a:ext cx="955675" cy="0"/>
            </a:xfrm>
            <a:custGeom>
              <a:avLst/>
              <a:gdLst/>
              <a:ahLst/>
              <a:cxnLst/>
              <a:rect l="l" t="t" r="r" b="b"/>
              <a:pathLst>
                <a:path w="955675" h="0">
                  <a:moveTo>
                    <a:pt x="0" y="0"/>
                  </a:moveTo>
                  <a:lnTo>
                    <a:pt x="721247" y="0"/>
                  </a:lnTo>
                </a:path>
                <a:path w="955675" h="0">
                  <a:moveTo>
                    <a:pt x="912300" y="0"/>
                  </a:moveTo>
                  <a:lnTo>
                    <a:pt x="955268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68005" y="4251389"/>
              <a:ext cx="8559800" cy="587375"/>
            </a:xfrm>
            <a:custGeom>
              <a:avLst/>
              <a:gdLst/>
              <a:ahLst/>
              <a:cxnLst/>
              <a:rect l="l" t="t" r="r" b="b"/>
              <a:pathLst>
                <a:path w="8559800" h="587375">
                  <a:moveTo>
                    <a:pt x="8559209" y="587242"/>
                  </a:moveTo>
                  <a:lnTo>
                    <a:pt x="8559209" y="0"/>
                  </a:lnTo>
                </a:path>
                <a:path w="8559800" h="587375">
                  <a:moveTo>
                    <a:pt x="0" y="434048"/>
                  </a:moveTo>
                  <a:lnTo>
                    <a:pt x="929795" y="434048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72327" y="4685438"/>
              <a:ext cx="3561715" cy="0"/>
            </a:xfrm>
            <a:custGeom>
              <a:avLst/>
              <a:gdLst/>
              <a:ahLst/>
              <a:cxnLst/>
              <a:rect l="l" t="t" r="r" b="b"/>
              <a:pathLst>
                <a:path w="3561715" h="0">
                  <a:moveTo>
                    <a:pt x="0" y="0"/>
                  </a:moveTo>
                  <a:lnTo>
                    <a:pt x="975985" y="0"/>
                  </a:lnTo>
                </a:path>
                <a:path w="3561715" h="0">
                  <a:moveTo>
                    <a:pt x="1243460" y="0"/>
                  </a:moveTo>
                  <a:lnTo>
                    <a:pt x="356158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646445" y="4659906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0"/>
                  </a:moveTo>
                  <a:lnTo>
                    <a:pt x="0" y="51064"/>
                  </a:lnTo>
                </a:path>
              </a:pathLst>
            </a:custGeom>
            <a:ln w="42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642455" y="4685438"/>
              <a:ext cx="4866005" cy="0"/>
            </a:xfrm>
            <a:custGeom>
              <a:avLst/>
              <a:gdLst/>
              <a:ahLst/>
              <a:cxnLst/>
              <a:rect l="l" t="t" r="r" b="b"/>
              <a:pathLst>
                <a:path w="4866005" h="0">
                  <a:moveTo>
                    <a:pt x="0" y="0"/>
                  </a:moveTo>
                  <a:lnTo>
                    <a:pt x="486550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85064" y="4672672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70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840333" y="4659906"/>
              <a:ext cx="1885314" cy="179070"/>
            </a:xfrm>
            <a:custGeom>
              <a:avLst/>
              <a:gdLst/>
              <a:ahLst/>
              <a:cxnLst/>
              <a:rect l="l" t="t" r="r" b="b"/>
              <a:pathLst>
                <a:path w="1885314" h="179070">
                  <a:moveTo>
                    <a:pt x="0" y="178725"/>
                  </a:moveTo>
                  <a:lnTo>
                    <a:pt x="0" y="0"/>
                  </a:lnTo>
                </a:path>
                <a:path w="1885314" h="179070">
                  <a:moveTo>
                    <a:pt x="1885064" y="178725"/>
                  </a:moveTo>
                  <a:lnTo>
                    <a:pt x="1885064" y="0"/>
                  </a:lnTo>
                </a:path>
              </a:pathLst>
            </a:custGeom>
            <a:ln w="382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968005" y="6421633"/>
          <a:ext cx="9616440" cy="2066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6940"/>
                <a:gridCol w="929640"/>
                <a:gridCol w="955040"/>
                <a:gridCol w="942339"/>
                <a:gridCol w="929639"/>
                <a:gridCol w="929639"/>
                <a:gridCol w="967739"/>
                <a:gridCol w="993140"/>
                <a:gridCol w="993140"/>
                <a:gridCol w="955040"/>
              </a:tblGrid>
              <a:tr h="255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95885">
                        <a:lnSpc>
                          <a:spcPts val="1425"/>
                        </a:lnSpc>
                      </a:pPr>
                      <a:r>
                        <a:rPr dirty="0" sz="1600" spc="-50">
                          <a:solidFill>
                            <a:srgbClr val="D6D6DB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rowSpan="3">
                  <a:txBody>
                    <a:bodyPr/>
                    <a:lstStyle/>
                    <a:p>
                      <a:pPr marL="557530" indent="-433705">
                        <a:lnSpc>
                          <a:spcPts val="2270"/>
                        </a:lnSpc>
                        <a:buClr>
                          <a:srgbClr val="343B3F"/>
                        </a:buClr>
                        <a:buSzPct val="101639"/>
                        <a:buChar char="✓"/>
                        <a:tabLst>
                          <a:tab pos="557530" algn="l"/>
                          <a:tab pos="3019425" algn="l"/>
                        </a:tabLst>
                      </a:pPr>
                      <a:r>
                        <a:rPr dirty="0" sz="3050" spc="75">
                          <a:solidFill>
                            <a:srgbClr val="16282F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dirty="0" sz="3050" spc="75">
                          <a:solidFill>
                            <a:srgbClr val="667075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sz="3050" spc="85">
                          <a:solidFill>
                            <a:srgbClr val="667075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dirty="0" sz="3050" spc="-520">
                          <a:solidFill>
                            <a:srgbClr val="AFAAAC"/>
                          </a:solidFill>
                          <a:latin typeface="Arial"/>
                          <a:cs typeface="Arial"/>
                        </a:rPr>
                        <a:t>j</a:t>
                      </a:r>
                      <a:r>
                        <a:rPr dirty="0" baseline="42483" sz="2550" spc="112">
                          <a:solidFill>
                            <a:srgbClr val="BCBFC3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dirty="0" baseline="42483" sz="2550" spc="202">
                          <a:solidFill>
                            <a:srgbClr val="BCBFC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900">
                          <a:solidFill>
                            <a:srgbClr val="16282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90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ont</a:t>
                      </a:r>
                      <a:r>
                        <a:rPr dirty="0" sz="1900">
                          <a:solidFill>
                            <a:srgbClr val="16282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90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900" spc="25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8011" sz="2850">
                          <a:solidFill>
                            <a:srgbClr val="AFAAAC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38011" sz="2850" spc="375">
                          <a:solidFill>
                            <a:srgbClr val="AFAAA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00" spc="-1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us</a:t>
                      </a:r>
                      <a:r>
                        <a:rPr dirty="0" sz="1900" spc="-125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00" spc="-2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900" spc="-20">
                          <a:solidFill>
                            <a:srgbClr val="16282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900" spc="-2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sk</a:t>
                      </a:r>
                      <a:r>
                        <a:rPr dirty="0" baseline="47619" sz="2625" spc="-30">
                          <a:solidFill>
                            <a:srgbClr val="BCBFC3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dirty="0" baseline="47619" sz="2625">
                          <a:solidFill>
                            <a:srgbClr val="BCBFC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90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anage</a:t>
                      </a:r>
                      <a:r>
                        <a:rPr dirty="0" sz="1900" spc="12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55555" sz="2250">
                          <a:solidFill>
                            <a:srgbClr val="AFAAAC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dirty="0" baseline="55555" sz="2250" spc="97">
                          <a:solidFill>
                            <a:srgbClr val="AFAAA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900" spc="-25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ent</a:t>
                      </a:r>
                      <a:endParaRPr sz="1900">
                        <a:latin typeface="Arial"/>
                        <a:cs typeface="Arial"/>
                      </a:endParaRPr>
                    </a:p>
                    <a:p>
                      <a:pPr marL="1750695">
                        <a:lnSpc>
                          <a:spcPts val="1050"/>
                        </a:lnSpc>
                        <a:tabLst>
                          <a:tab pos="2821940" algn="l"/>
                          <a:tab pos="3677920" algn="l"/>
                        </a:tabLst>
                      </a:pPr>
                      <a:r>
                        <a:rPr dirty="0" sz="1900" spc="-25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uo</a:t>
                      </a:r>
                      <a:r>
                        <a:rPr dirty="0" sz="190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900" spc="-50">
                          <a:solidFill>
                            <a:srgbClr val="16282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900">
                          <a:solidFill>
                            <a:srgbClr val="16282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900" spc="-50">
                          <a:solidFill>
                            <a:srgbClr val="343B3F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sz="1900">
                        <a:latin typeface="Arial"/>
                        <a:cs typeface="Arial"/>
                      </a:endParaRPr>
                    </a:p>
                    <a:p>
                      <a:pPr marL="156845">
                        <a:lnSpc>
                          <a:spcPts val="1710"/>
                        </a:lnSpc>
                        <a:tabLst>
                          <a:tab pos="3873500" algn="l"/>
                        </a:tabLst>
                      </a:pPr>
                      <a:r>
                        <a:rPr dirty="0" baseline="9485" sz="6150" spc="-75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baseline="9485" sz="6150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baseline="35230" sz="3075" spc="-52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baseline="35230" sz="3075" spc="-284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700" spc="-35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700" spc="-50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50" i="1">
                          <a:solidFill>
                            <a:srgbClr val="D6D6DB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03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76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845"/>
                        </a:lnSpc>
                        <a:tabLst>
                          <a:tab pos="329565" algn="l"/>
                        </a:tabLst>
                      </a:pPr>
                      <a:r>
                        <a:rPr dirty="0" sz="2700" spc="-50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700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700" spc="-50">
                          <a:solidFill>
                            <a:srgbClr val="317EA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ts val="650"/>
                        </a:lnSpc>
                        <a:spcBef>
                          <a:spcPts val="1260"/>
                        </a:spcBef>
                      </a:pPr>
                      <a:r>
                        <a:rPr dirty="0" sz="1150" spc="-50">
                          <a:solidFill>
                            <a:srgbClr val="D6D6DB"/>
                          </a:solidFill>
                          <a:latin typeface="Arial"/>
                          <a:cs typeface="Arial"/>
                        </a:rPr>
                        <a:t>'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6002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30"/>
              </a:spcBef>
            </a:pPr>
            <a:r>
              <a:rPr dirty="0" sz="6450" spc="-290">
                <a:solidFill>
                  <a:srgbClr val="16282F"/>
                </a:solidFill>
              </a:rPr>
              <a:t>The</a:t>
            </a:r>
            <a:r>
              <a:rPr dirty="0" sz="6450" spc="-405">
                <a:solidFill>
                  <a:srgbClr val="16282F"/>
                </a:solidFill>
              </a:rPr>
              <a:t> </a:t>
            </a:r>
            <a:r>
              <a:rPr dirty="0" sz="6450" spc="-409">
                <a:solidFill>
                  <a:srgbClr val="16282F"/>
                </a:solidFill>
              </a:rPr>
              <a:t>Paradigm</a:t>
            </a:r>
            <a:r>
              <a:rPr dirty="0" sz="6450" spc="-120">
                <a:solidFill>
                  <a:srgbClr val="16282F"/>
                </a:solidFill>
              </a:rPr>
              <a:t> </a:t>
            </a:r>
            <a:r>
              <a:rPr dirty="0" sz="6450" spc="-260">
                <a:solidFill>
                  <a:srgbClr val="16282F"/>
                </a:solidFill>
              </a:rPr>
              <a:t>Shift:</a:t>
            </a:r>
            <a:r>
              <a:rPr dirty="0" sz="6450" spc="-580">
                <a:solidFill>
                  <a:srgbClr val="16282F"/>
                </a:solidFill>
              </a:rPr>
              <a:t> </a:t>
            </a:r>
            <a:r>
              <a:rPr dirty="0" sz="6450" spc="-540">
                <a:solidFill>
                  <a:srgbClr val="16282F"/>
                </a:solidFill>
              </a:rPr>
              <a:t>From</a:t>
            </a:r>
            <a:r>
              <a:rPr dirty="0" sz="6450" spc="-245">
                <a:solidFill>
                  <a:srgbClr val="16282F"/>
                </a:solidFill>
              </a:rPr>
              <a:t> </a:t>
            </a:r>
            <a:r>
              <a:rPr dirty="0" sz="6450" spc="-295">
                <a:solidFill>
                  <a:srgbClr val="16282F"/>
                </a:solidFill>
              </a:rPr>
              <a:t>Periodic</a:t>
            </a:r>
            <a:r>
              <a:rPr dirty="0" sz="6450" spc="-345">
                <a:solidFill>
                  <a:srgbClr val="16282F"/>
                </a:solidFill>
              </a:rPr>
              <a:t> </a:t>
            </a:r>
            <a:r>
              <a:rPr dirty="0" sz="6450">
                <a:solidFill>
                  <a:srgbClr val="16282F"/>
                </a:solidFill>
              </a:rPr>
              <a:t>to</a:t>
            </a:r>
            <a:r>
              <a:rPr dirty="0" sz="6450" spc="-570">
                <a:solidFill>
                  <a:srgbClr val="16282F"/>
                </a:solidFill>
              </a:rPr>
              <a:t> </a:t>
            </a:r>
            <a:r>
              <a:rPr dirty="0" sz="6450" spc="-325">
                <a:solidFill>
                  <a:srgbClr val="16282F"/>
                </a:solidFill>
              </a:rPr>
              <a:t>Perpetual.</a:t>
            </a:r>
            <a:endParaRPr sz="6450"/>
          </a:p>
        </p:txBody>
      </p:sp>
      <p:sp>
        <p:nvSpPr>
          <p:cNvPr id="33" name="object 33"/>
          <p:cNvSpPr txBox="1"/>
          <p:nvPr/>
        </p:nvSpPr>
        <p:spPr>
          <a:xfrm>
            <a:off x="973162" y="2489729"/>
            <a:ext cx="445897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40">
                <a:solidFill>
                  <a:srgbClr val="16282F"/>
                </a:solidFill>
                <a:latin typeface="Arial"/>
                <a:cs typeface="Arial"/>
              </a:rPr>
              <a:t>The</a:t>
            </a:r>
            <a:r>
              <a:rPr dirty="0" sz="2600" spc="-18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282F"/>
                </a:solidFill>
                <a:latin typeface="Arial"/>
                <a:cs typeface="Arial"/>
              </a:rPr>
              <a:t>Old</a:t>
            </a:r>
            <a:r>
              <a:rPr dirty="0" sz="2600" spc="-175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-90">
                <a:solidFill>
                  <a:srgbClr val="16282F"/>
                </a:solidFill>
                <a:latin typeface="Arial"/>
                <a:cs typeface="Arial"/>
              </a:rPr>
              <a:t>Way </a:t>
            </a:r>
            <a:r>
              <a:rPr dirty="0" sz="2600" spc="-35">
                <a:solidFill>
                  <a:srgbClr val="16282F"/>
                </a:solidFill>
                <a:latin typeface="Arial"/>
                <a:cs typeface="Arial"/>
              </a:rPr>
              <a:t>(Periodic</a:t>
            </a:r>
            <a:r>
              <a:rPr dirty="0" sz="2600" spc="-65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-20">
                <a:solidFill>
                  <a:srgbClr val="16282F"/>
                </a:solidFill>
                <a:latin typeface="Arial"/>
                <a:cs typeface="Arial"/>
              </a:rPr>
              <a:t>R</a:t>
            </a:r>
            <a:r>
              <a:rPr dirty="0" sz="2600" spc="-20">
                <a:solidFill>
                  <a:srgbClr val="343B3F"/>
                </a:solidFill>
                <a:latin typeface="Arial"/>
                <a:cs typeface="Arial"/>
              </a:rPr>
              <a:t>e</a:t>
            </a:r>
            <a:r>
              <a:rPr dirty="0" sz="2600" spc="-20">
                <a:solidFill>
                  <a:srgbClr val="16282F"/>
                </a:solidFill>
                <a:latin typeface="Arial"/>
                <a:cs typeface="Arial"/>
              </a:rPr>
              <a:t>vi</a:t>
            </a:r>
            <a:r>
              <a:rPr dirty="0" sz="2600" spc="-20">
                <a:solidFill>
                  <a:srgbClr val="343B3F"/>
                </a:solidFill>
                <a:latin typeface="Arial"/>
                <a:cs typeface="Arial"/>
              </a:rPr>
              <a:t>e</a:t>
            </a:r>
            <a:r>
              <a:rPr dirty="0" sz="2600" spc="-20">
                <a:solidFill>
                  <a:srgbClr val="16282F"/>
                </a:solidFill>
                <a:latin typeface="Arial"/>
                <a:cs typeface="Arial"/>
              </a:rPr>
              <a:t>w)</a:t>
            </a:r>
            <a:endParaRPr sz="2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17708" y="2974842"/>
            <a:ext cx="15938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 b="1">
                <a:solidFill>
                  <a:srgbClr val="16282F"/>
                </a:solidFill>
                <a:latin typeface="Times New Roman"/>
                <a:cs typeface="Times New Roman"/>
              </a:rPr>
              <a:t>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52399" y="3172717"/>
            <a:ext cx="12255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50" i="1">
                <a:solidFill>
                  <a:srgbClr val="16282F"/>
                </a:solidFill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23601" y="3153568"/>
            <a:ext cx="267970" cy="7607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800" spc="-50">
                <a:solidFill>
                  <a:srgbClr val="16282F"/>
                </a:solidFill>
                <a:latin typeface="Times New Roman"/>
                <a:cs typeface="Times New Roman"/>
              </a:rPr>
              <a:t>"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30327" y="3229231"/>
            <a:ext cx="102235" cy="464184"/>
          </a:xfrm>
          <a:custGeom>
            <a:avLst/>
            <a:gdLst/>
            <a:ahLst/>
            <a:cxnLst/>
            <a:rect l="l" t="t" r="r" b="b"/>
            <a:pathLst>
              <a:path w="102234" h="464185">
                <a:moveTo>
                  <a:pt x="101895" y="464013"/>
                </a:moveTo>
                <a:lnTo>
                  <a:pt x="0" y="464013"/>
                </a:lnTo>
                <a:lnTo>
                  <a:pt x="0" y="0"/>
                </a:lnTo>
                <a:lnTo>
                  <a:pt x="101895" y="0"/>
                </a:lnTo>
                <a:lnTo>
                  <a:pt x="101895" y="464013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17627" y="3230166"/>
            <a:ext cx="13652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50">
                <a:solidFill>
                  <a:srgbClr val="AFAAAC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373616" y="3229231"/>
            <a:ext cx="255270" cy="464184"/>
          </a:xfrm>
          <a:custGeom>
            <a:avLst/>
            <a:gdLst/>
            <a:ahLst/>
            <a:cxnLst/>
            <a:rect l="l" t="t" r="r" b="b"/>
            <a:pathLst>
              <a:path w="255270" h="464185">
                <a:moveTo>
                  <a:pt x="254738" y="464013"/>
                </a:moveTo>
                <a:lnTo>
                  <a:pt x="0" y="464013"/>
                </a:lnTo>
                <a:lnTo>
                  <a:pt x="0" y="0"/>
                </a:lnTo>
                <a:lnTo>
                  <a:pt x="254738" y="0"/>
                </a:lnTo>
                <a:lnTo>
                  <a:pt x="254738" y="464013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360916" y="3230166"/>
            <a:ext cx="13652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50">
                <a:solidFill>
                  <a:srgbClr val="AFAAAC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20720" y="3587617"/>
            <a:ext cx="72961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0">
                <a:solidFill>
                  <a:srgbClr val="343B3F"/>
                </a:solidFill>
                <a:latin typeface="Arial"/>
                <a:cs typeface="Arial"/>
              </a:rPr>
              <a:t>Un</a:t>
            </a:r>
            <a:r>
              <a:rPr dirty="0" sz="1900" spc="-10">
                <a:solidFill>
                  <a:srgbClr val="16282F"/>
                </a:solidFill>
                <a:latin typeface="Arial"/>
                <a:cs typeface="Arial"/>
              </a:rPr>
              <a:t>k</a:t>
            </a:r>
            <a:r>
              <a:rPr dirty="0" sz="1900" spc="-10">
                <a:solidFill>
                  <a:srgbClr val="343B3F"/>
                </a:solidFill>
                <a:latin typeface="Arial"/>
                <a:cs typeface="Arial"/>
              </a:rPr>
              <a:t>no</a:t>
            </a:r>
            <a:endParaRPr sz="1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51707" y="3229231"/>
            <a:ext cx="318770" cy="464184"/>
          </a:xfrm>
          <a:prstGeom prst="rect">
            <a:avLst/>
          </a:prstGeom>
          <a:solidFill>
            <a:srgbClr val="EDD8D8"/>
          </a:solidFill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ts val="3025"/>
              </a:lnSpc>
              <a:spcBef>
                <a:spcPts val="120"/>
              </a:spcBef>
            </a:pPr>
            <a:r>
              <a:rPr dirty="0" sz="2700" spc="-50">
                <a:solidFill>
                  <a:srgbClr val="AFAAAC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ts val="505"/>
              </a:lnSpc>
            </a:pPr>
            <a:r>
              <a:rPr dirty="0" sz="1900" spc="-25">
                <a:solidFill>
                  <a:srgbClr val="343B3F"/>
                </a:solidFill>
                <a:latin typeface="Arial"/>
                <a:cs typeface="Arial"/>
              </a:rPr>
              <a:t>wn</a:t>
            </a:r>
            <a:endParaRPr sz="1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77885" y="3587617"/>
            <a:ext cx="151384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65">
                <a:solidFill>
                  <a:srgbClr val="343B3F"/>
                </a:solidFill>
                <a:latin typeface="Arial"/>
                <a:cs typeface="Arial"/>
              </a:rPr>
              <a:t>Risk </a:t>
            </a:r>
            <a:r>
              <a:rPr dirty="0" sz="1900" spc="-30">
                <a:solidFill>
                  <a:srgbClr val="343B3F"/>
                </a:solidFill>
                <a:latin typeface="Arial"/>
                <a:cs typeface="Arial"/>
              </a:rPr>
              <a:t>Exposure</a:t>
            </a:r>
            <a:endParaRPr sz="1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89930" y="3479105"/>
            <a:ext cx="9271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16282F"/>
                </a:solidFill>
                <a:latin typeface="Times New Roman"/>
                <a:cs typeface="Times New Roman"/>
              </a:rPr>
              <a:t>/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47529" y="3619532"/>
            <a:ext cx="13398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50" spc="-25">
                <a:solidFill>
                  <a:srgbClr val="16282F"/>
                </a:solidFill>
                <a:latin typeface="Arial"/>
                <a:cs typeface="Arial"/>
              </a:rPr>
              <a:t>'</a:t>
            </a:r>
            <a:r>
              <a:rPr dirty="0" baseline="-15873" sz="1050" spc="-37">
                <a:solidFill>
                  <a:srgbClr val="16282F"/>
                </a:solidFill>
                <a:latin typeface="Times New Roman"/>
                <a:cs typeface="Times New Roman"/>
              </a:rPr>
              <a:t>/</a:t>
            </a:r>
            <a:endParaRPr baseline="-15873" sz="10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046713" y="3683363"/>
            <a:ext cx="12255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50" i="1">
                <a:solidFill>
                  <a:srgbClr val="16282F"/>
                </a:solidFill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59882" y="3255697"/>
            <a:ext cx="549275" cy="8680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11111" sz="8250" spc="-30">
                <a:solidFill>
                  <a:srgbClr val="16282F"/>
                </a:solidFill>
                <a:latin typeface="Times New Roman"/>
                <a:cs typeface="Times New Roman"/>
              </a:rPr>
              <a:t>"</a:t>
            </a:r>
            <a:r>
              <a:rPr dirty="0" sz="1850" spc="-20">
                <a:solidFill>
                  <a:srgbClr val="16282F"/>
                </a:solidFill>
                <a:latin typeface="Arial"/>
                <a:cs typeface="Arial"/>
              </a:rPr>
              <a:t>'\.</a:t>
            </a:r>
            <a:endParaRPr sz="18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278502" y="3739301"/>
            <a:ext cx="64135" cy="270510"/>
          </a:xfrm>
          <a:custGeom>
            <a:avLst/>
            <a:gdLst/>
            <a:ahLst/>
            <a:cxnLst/>
            <a:rect l="l" t="t" r="r" b="b"/>
            <a:pathLst>
              <a:path w="64134" h="270510">
                <a:moveTo>
                  <a:pt x="63684" y="269952"/>
                </a:moveTo>
                <a:lnTo>
                  <a:pt x="0" y="269952"/>
                </a:lnTo>
                <a:lnTo>
                  <a:pt x="0" y="0"/>
                </a:lnTo>
                <a:lnTo>
                  <a:pt x="63684" y="0"/>
                </a:lnTo>
                <a:lnTo>
                  <a:pt x="63684" y="269952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0265802" y="3734428"/>
            <a:ext cx="6223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0">
                <a:solidFill>
                  <a:srgbClr val="D6D6DB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462765" y="3595420"/>
            <a:ext cx="254000" cy="609600"/>
          </a:xfrm>
          <a:custGeom>
            <a:avLst/>
            <a:gdLst/>
            <a:ahLst/>
            <a:cxnLst/>
            <a:rect l="l" t="t" r="r" b="b"/>
            <a:pathLst>
              <a:path w="254000" h="609600">
                <a:moveTo>
                  <a:pt x="253746" y="0"/>
                </a:moveTo>
                <a:lnTo>
                  <a:pt x="164592" y="0"/>
                </a:lnTo>
                <a:lnTo>
                  <a:pt x="164592" y="144462"/>
                </a:lnTo>
                <a:lnTo>
                  <a:pt x="0" y="144462"/>
                </a:lnTo>
                <a:lnTo>
                  <a:pt x="0" y="608482"/>
                </a:lnTo>
                <a:lnTo>
                  <a:pt x="164592" y="608482"/>
                </a:lnTo>
                <a:lnTo>
                  <a:pt x="164592" y="609561"/>
                </a:lnTo>
                <a:lnTo>
                  <a:pt x="253746" y="609561"/>
                </a:lnTo>
                <a:lnTo>
                  <a:pt x="253746" y="0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424675" y="3600384"/>
            <a:ext cx="386715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6172" sz="4050" spc="-52">
                <a:solidFill>
                  <a:srgbClr val="AFAAAC"/>
                </a:solidFill>
                <a:latin typeface="Times New Roman"/>
                <a:cs typeface="Times New Roman"/>
              </a:rPr>
              <a:t>-</a:t>
            </a:r>
            <a:r>
              <a:rPr dirty="0" baseline="-6172" sz="4050" spc="-375">
                <a:solidFill>
                  <a:srgbClr val="AFAAAC"/>
                </a:solidFill>
                <a:latin typeface="Times New Roman"/>
                <a:cs typeface="Times New Roman"/>
              </a:rPr>
              <a:t> </a:t>
            </a:r>
            <a:r>
              <a:rPr dirty="0" sz="3500" spc="-430">
                <a:solidFill>
                  <a:srgbClr val="AFAAAC"/>
                </a:solidFill>
                <a:latin typeface="Arial"/>
                <a:cs typeface="Arial"/>
              </a:rPr>
              <a:t>..</a:t>
            </a:r>
            <a:endParaRPr sz="3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09757" y="4002517"/>
            <a:ext cx="6032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45">
                <a:solidFill>
                  <a:srgbClr val="16282F"/>
                </a:solidFill>
                <a:latin typeface="Times New Roman"/>
                <a:cs typeface="Times New Roman"/>
              </a:rPr>
              <a:t>/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848312" y="4202559"/>
            <a:ext cx="267970" cy="575945"/>
          </a:xfrm>
          <a:custGeom>
            <a:avLst/>
            <a:gdLst/>
            <a:ahLst/>
            <a:cxnLst/>
            <a:rect l="l" t="t" r="r" b="b"/>
            <a:pathLst>
              <a:path w="267969" h="575945">
                <a:moveTo>
                  <a:pt x="267475" y="575719"/>
                </a:moveTo>
                <a:lnTo>
                  <a:pt x="0" y="575719"/>
                </a:lnTo>
                <a:lnTo>
                  <a:pt x="0" y="0"/>
                </a:lnTo>
                <a:lnTo>
                  <a:pt x="267475" y="0"/>
                </a:lnTo>
                <a:lnTo>
                  <a:pt x="267475" y="575719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2835612" y="4206776"/>
            <a:ext cx="10985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50" spc="-509">
                <a:solidFill>
                  <a:srgbClr val="AFAAAC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802607" y="4450599"/>
            <a:ext cx="216535" cy="174625"/>
          </a:xfrm>
          <a:custGeom>
            <a:avLst/>
            <a:gdLst/>
            <a:ahLst/>
            <a:cxnLst/>
            <a:rect l="l" t="t" r="r" b="b"/>
            <a:pathLst>
              <a:path w="216535" h="174625">
                <a:moveTo>
                  <a:pt x="216527" y="174163"/>
                </a:moveTo>
                <a:lnTo>
                  <a:pt x="0" y="174163"/>
                </a:lnTo>
                <a:lnTo>
                  <a:pt x="0" y="0"/>
                </a:lnTo>
                <a:lnTo>
                  <a:pt x="216527" y="0"/>
                </a:lnTo>
                <a:lnTo>
                  <a:pt x="216527" y="174163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789907" y="4442948"/>
            <a:ext cx="914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10">
                <a:solidFill>
                  <a:srgbClr val="AFAAAC"/>
                </a:solidFill>
                <a:latin typeface="Arial"/>
                <a:cs typeface="Arial"/>
              </a:rPr>
              <a:t>'"-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433907" y="4202559"/>
            <a:ext cx="191135" cy="575945"/>
          </a:xfrm>
          <a:custGeom>
            <a:avLst/>
            <a:gdLst/>
            <a:ahLst/>
            <a:cxnLst/>
            <a:rect l="l" t="t" r="r" b="b"/>
            <a:pathLst>
              <a:path w="191135" h="575945">
                <a:moveTo>
                  <a:pt x="191053" y="575719"/>
                </a:moveTo>
                <a:lnTo>
                  <a:pt x="0" y="575719"/>
                </a:lnTo>
                <a:lnTo>
                  <a:pt x="0" y="0"/>
                </a:lnTo>
                <a:lnTo>
                  <a:pt x="191053" y="0"/>
                </a:lnTo>
                <a:lnTo>
                  <a:pt x="191053" y="575719"/>
                </a:lnTo>
                <a:close/>
              </a:path>
            </a:pathLst>
          </a:custGeom>
          <a:solidFill>
            <a:srgbClr val="ED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288003" y="3919537"/>
            <a:ext cx="26797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3700" spc="-295">
                <a:solidFill>
                  <a:srgbClr val="16282F"/>
                </a:solidFill>
                <a:latin typeface="Times New Roman"/>
                <a:cs typeface="Times New Roman"/>
              </a:rPr>
              <a:t>,</a:t>
            </a:r>
            <a:r>
              <a:rPr dirty="0" baseline="-31509" sz="5025" spc="-442">
                <a:solidFill>
                  <a:srgbClr val="AFAAAC"/>
                </a:solidFill>
                <a:latin typeface="Times New Roman"/>
                <a:cs typeface="Times New Roman"/>
              </a:rPr>
              <a:t>-</a:t>
            </a:r>
            <a:endParaRPr baseline="-31509" sz="5025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636760" y="4711038"/>
            <a:ext cx="400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solidFill>
                  <a:srgbClr val="AFAAAC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91471" y="4915296"/>
            <a:ext cx="69278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0">
                <a:solidFill>
                  <a:srgbClr val="343B3F"/>
                </a:solidFill>
                <a:latin typeface="Arial"/>
                <a:cs typeface="Arial"/>
              </a:rPr>
              <a:t>Year</a:t>
            </a:r>
            <a:r>
              <a:rPr dirty="0" sz="1900" spc="-10">
                <a:solidFill>
                  <a:srgbClr val="16282F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463797" y="4915296"/>
            <a:ext cx="70104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16282F"/>
                </a:solidFill>
                <a:latin typeface="Arial"/>
                <a:cs typeface="Arial"/>
              </a:rPr>
              <a:t>Y</a:t>
            </a: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ear</a:t>
            </a:r>
            <a:r>
              <a:rPr dirty="0" sz="1900" spc="-70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900" spc="35">
                <a:solidFill>
                  <a:srgbClr val="16282F"/>
                </a:solidFill>
                <a:latin typeface="Arial"/>
                <a:cs typeface="Arial"/>
              </a:rPr>
              <a:t>2</a:t>
            </a:r>
            <a:endParaRPr sz="19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323387" y="4915296"/>
            <a:ext cx="69278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0">
                <a:solidFill>
                  <a:srgbClr val="16282F"/>
                </a:solidFill>
                <a:latin typeface="Arial"/>
                <a:cs typeface="Arial"/>
              </a:rPr>
              <a:t>Y</a:t>
            </a:r>
            <a:r>
              <a:rPr dirty="0" sz="1900" spc="-10">
                <a:solidFill>
                  <a:srgbClr val="343B3F"/>
                </a:solidFill>
                <a:latin typeface="Arial"/>
                <a:cs typeface="Arial"/>
              </a:rPr>
              <a:t>ear</a:t>
            </a:r>
            <a:r>
              <a:rPr dirty="0" sz="1900" spc="-10">
                <a:solidFill>
                  <a:srgbClr val="16282F"/>
                </a:solidFill>
                <a:latin typeface="Arial"/>
                <a:cs typeface="Arial"/>
              </a:rPr>
              <a:t>3</a:t>
            </a:r>
            <a:endParaRPr sz="19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233926" y="4915296"/>
            <a:ext cx="68199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16282F"/>
                </a:solidFill>
                <a:latin typeface="Arial"/>
                <a:cs typeface="Arial"/>
              </a:rPr>
              <a:t>Y</a:t>
            </a: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ear</a:t>
            </a:r>
            <a:r>
              <a:rPr dirty="0" sz="1900" spc="-40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16282F"/>
                </a:solidFill>
                <a:latin typeface="Arial"/>
                <a:cs typeface="Arial"/>
              </a:rPr>
              <a:t>4</a:t>
            </a:r>
            <a:endParaRPr sz="19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208148" y="4915296"/>
            <a:ext cx="6978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Year</a:t>
            </a:r>
            <a:r>
              <a:rPr dirty="0" sz="1900" spc="-60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900" spc="35">
                <a:solidFill>
                  <a:srgbClr val="343B3F"/>
                </a:solidFill>
                <a:latin typeface="Arial"/>
                <a:cs typeface="Arial"/>
              </a:rPr>
              <a:t>5</a:t>
            </a:r>
            <a:endParaRPr sz="19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73162" y="5898289"/>
            <a:ext cx="308991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40">
                <a:solidFill>
                  <a:srgbClr val="16282F"/>
                </a:solidFill>
                <a:latin typeface="Arial"/>
                <a:cs typeface="Arial"/>
              </a:rPr>
              <a:t>The</a:t>
            </a:r>
            <a:r>
              <a:rPr dirty="0" sz="2600" spc="-15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071116"/>
                </a:solidFill>
                <a:latin typeface="Arial"/>
                <a:cs typeface="Arial"/>
              </a:rPr>
              <a:t>New</a:t>
            </a:r>
            <a:r>
              <a:rPr dirty="0" sz="2600" spc="-175">
                <a:solidFill>
                  <a:srgbClr val="071116"/>
                </a:solidFill>
                <a:latin typeface="Arial"/>
                <a:cs typeface="Arial"/>
              </a:rPr>
              <a:t> </a:t>
            </a:r>
            <a:r>
              <a:rPr dirty="0" sz="2600" spc="-90">
                <a:solidFill>
                  <a:srgbClr val="16282F"/>
                </a:solidFill>
                <a:latin typeface="Arial"/>
                <a:cs typeface="Arial"/>
              </a:rPr>
              <a:t>Way</a:t>
            </a:r>
            <a:r>
              <a:rPr dirty="0" sz="2600" spc="-55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-114">
                <a:solidFill>
                  <a:srgbClr val="16282F"/>
                </a:solidFill>
                <a:latin typeface="Arial"/>
                <a:cs typeface="Arial"/>
              </a:rPr>
              <a:t>(pKYC)</a:t>
            </a:r>
            <a:endParaRPr sz="26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336168" y="4251457"/>
            <a:ext cx="29654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7200" spc="-114">
                <a:solidFill>
                  <a:srgbClr val="317EAF"/>
                </a:solidFill>
                <a:latin typeface="Times New Roman"/>
                <a:cs typeface="Times New Roman"/>
              </a:rPr>
              <a:t>-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687192" y="5607221"/>
            <a:ext cx="4746625" cy="127698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indent="5080">
              <a:lnSpc>
                <a:spcPct val="104700"/>
              </a:lnSpc>
              <a:spcBef>
                <a:spcPts val="145"/>
              </a:spcBef>
            </a:pPr>
            <a:r>
              <a:rPr dirty="0" sz="2600">
                <a:solidFill>
                  <a:srgbClr val="16282F"/>
                </a:solidFill>
                <a:latin typeface="Arial"/>
                <a:cs typeface="Arial"/>
              </a:rPr>
              <a:t>Potential</a:t>
            </a:r>
            <a:r>
              <a:rPr dirty="0" sz="2600" spc="10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282F"/>
                </a:solidFill>
                <a:latin typeface="Arial"/>
                <a:cs typeface="Arial"/>
              </a:rPr>
              <a:t>savings</a:t>
            </a:r>
            <a:r>
              <a:rPr dirty="0" sz="2600" spc="-5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55">
                <a:solidFill>
                  <a:srgbClr val="16282F"/>
                </a:solidFill>
                <a:latin typeface="Arial"/>
                <a:cs typeface="Arial"/>
              </a:rPr>
              <a:t>by</a:t>
            </a:r>
            <a:r>
              <a:rPr dirty="0" sz="2600" spc="15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16282F"/>
                </a:solidFill>
                <a:latin typeface="Arial"/>
                <a:cs typeface="Arial"/>
              </a:rPr>
              <a:t>automating </a:t>
            </a:r>
            <a:r>
              <a:rPr dirty="0" sz="2600" spc="80">
                <a:solidFill>
                  <a:srgbClr val="16282F"/>
                </a:solidFill>
                <a:latin typeface="Arial"/>
                <a:cs typeface="Arial"/>
              </a:rPr>
              <a:t>the</a:t>
            </a:r>
            <a:r>
              <a:rPr dirty="0" sz="2600" spc="-1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80">
                <a:solidFill>
                  <a:srgbClr val="16282F"/>
                </a:solidFill>
                <a:latin typeface="Arial"/>
                <a:cs typeface="Arial"/>
              </a:rPr>
              <a:t>end</a:t>
            </a:r>
            <a:r>
              <a:rPr dirty="0" sz="2600" spc="80">
                <a:solidFill>
                  <a:srgbClr val="343B3F"/>
                </a:solidFill>
                <a:latin typeface="Arial"/>
                <a:cs typeface="Arial"/>
              </a:rPr>
              <a:t>-</a:t>
            </a:r>
            <a:r>
              <a:rPr dirty="0" sz="2600" spc="60">
                <a:solidFill>
                  <a:srgbClr val="16282F"/>
                </a:solidFill>
                <a:latin typeface="Arial"/>
                <a:cs typeface="Arial"/>
              </a:rPr>
              <a:t>to</a:t>
            </a:r>
            <a:r>
              <a:rPr dirty="0" sz="2600" spc="60">
                <a:solidFill>
                  <a:srgbClr val="343B3F"/>
                </a:solidFill>
                <a:latin typeface="Arial"/>
                <a:cs typeface="Arial"/>
              </a:rPr>
              <a:t>-</a:t>
            </a:r>
            <a:r>
              <a:rPr dirty="0" sz="2600" spc="90">
                <a:solidFill>
                  <a:srgbClr val="16282F"/>
                </a:solidFill>
                <a:latin typeface="Arial"/>
                <a:cs typeface="Arial"/>
              </a:rPr>
              <a:t>end</a:t>
            </a:r>
            <a:r>
              <a:rPr dirty="0" sz="2600" spc="8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16282F"/>
                </a:solidFill>
                <a:latin typeface="Arial"/>
                <a:cs typeface="Arial"/>
              </a:rPr>
              <a:t>review</a:t>
            </a:r>
            <a:r>
              <a:rPr dirty="0" sz="2600" spc="1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2600" spc="35">
                <a:solidFill>
                  <a:srgbClr val="16282F"/>
                </a:solidFill>
                <a:latin typeface="Arial"/>
                <a:cs typeface="Arial"/>
              </a:rPr>
              <a:t>pr</a:t>
            </a:r>
            <a:r>
              <a:rPr dirty="0" sz="2600" spc="35">
                <a:solidFill>
                  <a:srgbClr val="343B3F"/>
                </a:solidFill>
                <a:latin typeface="Arial"/>
                <a:cs typeface="Arial"/>
              </a:rPr>
              <a:t>o</a:t>
            </a:r>
            <a:r>
              <a:rPr dirty="0" sz="2600" spc="35">
                <a:solidFill>
                  <a:srgbClr val="16282F"/>
                </a:solidFill>
                <a:latin typeface="Arial"/>
                <a:cs typeface="Arial"/>
              </a:rPr>
              <a:t>cess </a:t>
            </a:r>
            <a:r>
              <a:rPr dirty="0" sz="2600" spc="-10">
                <a:solidFill>
                  <a:srgbClr val="16282F"/>
                </a:solidFill>
                <a:latin typeface="Arial"/>
                <a:cs typeface="Arial"/>
              </a:rPr>
              <a:t>(C</a:t>
            </a:r>
            <a:r>
              <a:rPr dirty="0" sz="2600" spc="-10">
                <a:solidFill>
                  <a:srgbClr val="343B3F"/>
                </a:solidFill>
                <a:latin typeface="Arial"/>
                <a:cs typeface="Arial"/>
              </a:rPr>
              <a:t>o</a:t>
            </a:r>
            <a:r>
              <a:rPr dirty="0" sz="2600" spc="-10">
                <a:solidFill>
                  <a:srgbClr val="16282F"/>
                </a:solidFill>
                <a:latin typeface="Arial"/>
                <a:cs typeface="Arial"/>
              </a:rPr>
              <a:t>orplD).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91471" y="8591946"/>
            <a:ext cx="69278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0">
                <a:solidFill>
                  <a:srgbClr val="343B3F"/>
                </a:solidFill>
                <a:latin typeface="Arial"/>
                <a:cs typeface="Arial"/>
              </a:rPr>
              <a:t>Year</a:t>
            </a:r>
            <a:r>
              <a:rPr dirty="0" sz="1900" spc="-10">
                <a:solidFill>
                  <a:srgbClr val="16282F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463797" y="8591946"/>
            <a:ext cx="70104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Year</a:t>
            </a:r>
            <a:r>
              <a:rPr dirty="0" sz="1900" spc="-35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900" spc="35">
                <a:solidFill>
                  <a:srgbClr val="16282F"/>
                </a:solidFill>
                <a:latin typeface="Arial"/>
                <a:cs typeface="Arial"/>
              </a:rPr>
              <a:t>2</a:t>
            </a:r>
            <a:endParaRPr sz="1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323387" y="8591946"/>
            <a:ext cx="67500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16282F"/>
                </a:solidFill>
                <a:latin typeface="Arial"/>
                <a:cs typeface="Arial"/>
              </a:rPr>
              <a:t>Y</a:t>
            </a: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ear</a:t>
            </a:r>
            <a:r>
              <a:rPr dirty="0" sz="1900" spc="-100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343B3F"/>
                </a:solidFill>
                <a:latin typeface="Arial"/>
                <a:cs typeface="Arial"/>
              </a:rPr>
              <a:t>3</a:t>
            </a:r>
            <a:endParaRPr sz="19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233926" y="8591946"/>
            <a:ext cx="68199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16282F"/>
                </a:solidFill>
                <a:latin typeface="Arial"/>
                <a:cs typeface="Arial"/>
              </a:rPr>
              <a:t>Y</a:t>
            </a: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ear</a:t>
            </a:r>
            <a:r>
              <a:rPr dirty="0" sz="1900" spc="-40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343B3F"/>
                </a:solidFill>
                <a:latin typeface="Arial"/>
                <a:cs typeface="Arial"/>
              </a:rPr>
              <a:t>4</a:t>
            </a:r>
            <a:endParaRPr sz="19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208148" y="8591946"/>
            <a:ext cx="69786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90">
                <a:solidFill>
                  <a:srgbClr val="343B3F"/>
                </a:solidFill>
                <a:latin typeface="Arial"/>
                <a:cs typeface="Arial"/>
              </a:rPr>
              <a:t>Yea</a:t>
            </a:r>
            <a:r>
              <a:rPr dirty="0" sz="1900" spc="-90">
                <a:solidFill>
                  <a:srgbClr val="16282F"/>
                </a:solidFill>
                <a:latin typeface="Arial"/>
                <a:cs typeface="Arial"/>
              </a:rPr>
              <a:t>r</a:t>
            </a:r>
            <a:r>
              <a:rPr dirty="0" sz="1900" spc="-100">
                <a:solidFill>
                  <a:srgbClr val="16282F"/>
                </a:solidFill>
                <a:latin typeface="Arial"/>
                <a:cs typeface="Arial"/>
              </a:rPr>
              <a:t> </a:t>
            </a:r>
            <a:r>
              <a:rPr dirty="0" sz="1900" spc="35">
                <a:solidFill>
                  <a:srgbClr val="343B3F"/>
                </a:solidFill>
                <a:latin typeface="Arial"/>
                <a:cs typeface="Arial"/>
              </a:rPr>
              <a:t>5</a:t>
            </a:r>
            <a:endParaRPr sz="19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70">
                <a:solidFill>
                  <a:srgbClr val="343B3F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43B3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6282F"/>
                </a:solidFill>
                <a:latin typeface="Arial"/>
                <a:cs typeface="Arial"/>
              </a:rPr>
              <a:t>No</a:t>
            </a:r>
            <a:r>
              <a:rPr dirty="0" sz="1350" spc="-10">
                <a:solidFill>
                  <a:srgbClr val="343B3F"/>
                </a:solidFill>
                <a:latin typeface="Arial"/>
                <a:cs typeface="Arial"/>
              </a:rPr>
              <a:t>teboo</a:t>
            </a:r>
            <a:r>
              <a:rPr dirty="0" sz="1350" spc="-10">
                <a:solidFill>
                  <a:srgbClr val="16282F"/>
                </a:solidFill>
                <a:latin typeface="Arial"/>
                <a:cs typeface="Arial"/>
              </a:rPr>
              <a:t>k</a:t>
            </a:r>
            <a:r>
              <a:rPr dirty="0" sz="1350" spc="-10">
                <a:solidFill>
                  <a:srgbClr val="343B3F"/>
                </a:solidFill>
                <a:latin typeface="Arial"/>
                <a:cs typeface="Arial"/>
              </a:rPr>
              <a:t>L</a:t>
            </a:r>
            <a:r>
              <a:rPr dirty="0" sz="1350" spc="-10">
                <a:solidFill>
                  <a:srgbClr val="16282F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4329" y="2502429"/>
            <a:ext cx="2445487" cy="28340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80665" y="3498188"/>
            <a:ext cx="917058" cy="9446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7003" y="842830"/>
            <a:ext cx="1834116" cy="7404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18573" y="2732219"/>
            <a:ext cx="2216223" cy="10723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6676" y="4264157"/>
            <a:ext cx="1528429" cy="7149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35857" y="842830"/>
            <a:ext cx="3005912" cy="919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81119" y="3676914"/>
            <a:ext cx="917058" cy="2042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81119" y="4059899"/>
            <a:ext cx="917058" cy="20425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17131" y="2808817"/>
            <a:ext cx="2521910" cy="229790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7591204" y="4468414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693099" y="3447122"/>
            <a:ext cx="0" cy="817244"/>
          </a:xfrm>
          <a:custGeom>
            <a:avLst/>
            <a:gdLst/>
            <a:ahLst/>
            <a:cxnLst/>
            <a:rect l="l" t="t" r="r" b="b"/>
            <a:pathLst>
              <a:path w="0"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77102" y="380457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750263" y="380457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005002" y="3804575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896586" y="3804575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877025" y="3472655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42151" y="3855639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09" h="0">
                <a:moveTo>
                  <a:pt x="0" y="0"/>
                </a:moveTo>
                <a:lnTo>
                  <a:pt x="129916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068686" y="4085430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145108" y="4404583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145108" y="4762035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094160" y="5068423"/>
            <a:ext cx="764540" cy="0"/>
          </a:xfrm>
          <a:custGeom>
            <a:avLst/>
            <a:gdLst/>
            <a:ahLst/>
            <a:cxnLst/>
            <a:rect l="l" t="t" r="r" b="b"/>
            <a:pathLst>
              <a:path w="764540" h="0">
                <a:moveTo>
                  <a:pt x="0" y="0"/>
                </a:moveTo>
                <a:lnTo>
                  <a:pt x="76421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877018" y="645020"/>
            <a:ext cx="8105775" cy="11055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50" spc="60">
                <a:solidFill>
                  <a:srgbClr val="0F1C1F"/>
                </a:solidFill>
                <a:latin typeface="Arial"/>
                <a:cs typeface="Arial"/>
              </a:rPr>
              <a:t>Defining</a:t>
            </a:r>
            <a:r>
              <a:rPr dirty="0" sz="7050" spc="-26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7050" spc="85">
                <a:solidFill>
                  <a:srgbClr val="0F1C1F"/>
                </a:solidFill>
                <a:latin typeface="Arial"/>
                <a:cs typeface="Arial"/>
              </a:rPr>
              <a:t>Perpetual</a:t>
            </a:r>
            <a:endParaRPr sz="7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27501" y="5611051"/>
            <a:ext cx="2360930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70">
                <a:solidFill>
                  <a:srgbClr val="0F1C1F"/>
                </a:solidFill>
                <a:latin typeface="Arial"/>
                <a:cs typeface="Arial"/>
              </a:rPr>
              <a:t>Digital</a:t>
            </a:r>
            <a:r>
              <a:rPr dirty="0" sz="2750" spc="-13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0F1C1F"/>
                </a:solidFill>
                <a:latin typeface="Arial"/>
                <a:cs typeface="Arial"/>
              </a:rPr>
              <a:t>Profiles</a:t>
            </a:r>
            <a:endParaRPr sz="27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55752" y="3945070"/>
            <a:ext cx="118745" cy="109791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000" spc="-50">
                <a:solidFill>
                  <a:srgbClr val="6797B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2000" spc="-50">
                <a:solidFill>
                  <a:srgbClr val="6797B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2000" spc="-50">
                <a:solidFill>
                  <a:srgbClr val="6797B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39460" y="5611051"/>
            <a:ext cx="3640454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>
                <a:solidFill>
                  <a:srgbClr val="0F1C1F"/>
                </a:solidFill>
                <a:latin typeface="Arial"/>
                <a:cs typeface="Arial"/>
              </a:rPr>
              <a:t>External</a:t>
            </a:r>
            <a:r>
              <a:rPr dirty="0" sz="2750" spc="8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50">
                <a:solidFill>
                  <a:srgbClr val="0F1C1F"/>
                </a:solidFill>
                <a:latin typeface="Arial"/>
                <a:cs typeface="Arial"/>
              </a:rPr>
              <a:t>Data</a:t>
            </a:r>
            <a:r>
              <a:rPr dirty="0" sz="2750" spc="12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45">
                <a:solidFill>
                  <a:srgbClr val="0F1C1F"/>
                </a:solidFill>
                <a:latin typeface="Arial"/>
                <a:cs typeface="Arial"/>
              </a:rPr>
              <a:t>Sources</a:t>
            </a:r>
            <a:endParaRPr sz="27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370722" y="1053536"/>
            <a:ext cx="273685" cy="814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50" spc="90">
                <a:solidFill>
                  <a:srgbClr val="0F1C1F"/>
                </a:solidFill>
                <a:latin typeface="Arial"/>
                <a:cs typeface="Arial"/>
              </a:rPr>
              <a:t>•</a:t>
            </a:r>
            <a:endParaRPr sz="51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72973" y="5611051"/>
            <a:ext cx="266382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60">
                <a:solidFill>
                  <a:srgbClr val="0F1C1F"/>
                </a:solidFill>
                <a:latin typeface="Arial"/>
                <a:cs typeface="Arial"/>
              </a:rPr>
              <a:t>Real-time</a:t>
            </a:r>
            <a:r>
              <a:rPr dirty="0" sz="2750" spc="1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80">
                <a:solidFill>
                  <a:srgbClr val="0F1C1F"/>
                </a:solidFill>
                <a:latin typeface="Arial"/>
                <a:cs typeface="Arial"/>
              </a:rPr>
              <a:t>Alerts</a:t>
            </a:r>
            <a:endParaRPr sz="27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1814" y="6715324"/>
            <a:ext cx="16119475" cy="20021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5554345" marR="2446655" indent="-2832735">
              <a:lnSpc>
                <a:spcPct val="102499"/>
              </a:lnSpc>
              <a:spcBef>
                <a:spcPts val="25"/>
              </a:spcBef>
            </a:pPr>
            <a:r>
              <a:rPr dirty="0" sz="2750" spc="80">
                <a:solidFill>
                  <a:srgbClr val="0F1C1F"/>
                </a:solidFill>
                <a:latin typeface="Arial"/>
                <a:cs typeface="Arial"/>
              </a:rPr>
              <a:t>Continuous</a:t>
            </a:r>
            <a:r>
              <a:rPr dirty="0" sz="2750" spc="-15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900" spc="-70" b="1">
                <a:solidFill>
                  <a:srgbClr val="0F1C1F"/>
                </a:solidFill>
                <a:latin typeface="Arial"/>
                <a:cs typeface="Arial"/>
              </a:rPr>
              <a:t>monitoring</a:t>
            </a:r>
            <a:r>
              <a:rPr dirty="0" sz="2900" spc="-145" b="1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900" spc="-35" b="1">
                <a:solidFill>
                  <a:srgbClr val="0F1C1F"/>
                </a:solidFill>
                <a:latin typeface="Arial"/>
                <a:cs typeface="Arial"/>
              </a:rPr>
              <a:t>of</a:t>
            </a:r>
            <a:r>
              <a:rPr dirty="0" sz="2900" spc="-290" b="1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900" spc="-40" b="1">
                <a:solidFill>
                  <a:srgbClr val="0F1C1F"/>
                </a:solidFill>
                <a:latin typeface="Arial"/>
                <a:cs typeface="Arial"/>
              </a:rPr>
              <a:t>customer</a:t>
            </a:r>
            <a:r>
              <a:rPr dirty="0" sz="2900" spc="-10" b="1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85">
                <a:solidFill>
                  <a:srgbClr val="0F1C1F"/>
                </a:solidFill>
                <a:latin typeface="Arial"/>
                <a:cs typeface="Arial"/>
              </a:rPr>
              <a:t>profiles</a:t>
            </a:r>
            <a:r>
              <a:rPr dirty="0" sz="2750" spc="-9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85">
                <a:solidFill>
                  <a:srgbClr val="0F1C1F"/>
                </a:solidFill>
                <a:latin typeface="Arial"/>
                <a:cs typeface="Arial"/>
              </a:rPr>
              <a:t>to </a:t>
            </a:r>
            <a:r>
              <a:rPr dirty="0" sz="2750" spc="50">
                <a:solidFill>
                  <a:srgbClr val="0F1C1F"/>
                </a:solidFill>
                <a:latin typeface="Arial"/>
                <a:cs typeface="Arial"/>
              </a:rPr>
              <a:t>validate</a:t>
            </a:r>
            <a:r>
              <a:rPr dirty="0" sz="2750" spc="-5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70">
                <a:solidFill>
                  <a:srgbClr val="0F1C1F"/>
                </a:solidFill>
                <a:latin typeface="Arial"/>
                <a:cs typeface="Arial"/>
              </a:rPr>
              <a:t>information </a:t>
            </a:r>
            <a:r>
              <a:rPr dirty="0" sz="2750" spc="145">
                <a:solidFill>
                  <a:srgbClr val="0F1C1F"/>
                </a:solidFill>
                <a:latin typeface="Arial"/>
                <a:cs typeface="Arial"/>
              </a:rPr>
              <a:t>and</a:t>
            </a:r>
            <a:r>
              <a:rPr dirty="0" sz="2750" spc="-18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105">
                <a:solidFill>
                  <a:srgbClr val="0F1C1F"/>
                </a:solidFill>
                <a:latin typeface="Arial"/>
                <a:cs typeface="Arial"/>
              </a:rPr>
              <a:t>identify</a:t>
            </a:r>
            <a:r>
              <a:rPr dirty="0" sz="2750" spc="-6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85">
                <a:solidFill>
                  <a:srgbClr val="0F1C1F"/>
                </a:solidFill>
                <a:latin typeface="Arial"/>
                <a:cs typeface="Arial"/>
              </a:rPr>
              <a:t>changes</a:t>
            </a:r>
            <a:r>
              <a:rPr dirty="0" sz="2750" spc="-2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50" spc="45">
                <a:solidFill>
                  <a:srgbClr val="0F1C1F"/>
                </a:solidFill>
                <a:latin typeface="Arial"/>
                <a:cs typeface="Arial"/>
              </a:rPr>
              <a:t>immediately.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900" spc="-105" b="1">
                <a:solidFill>
                  <a:srgbClr val="0F1C1F"/>
                </a:solidFill>
                <a:latin typeface="Arial"/>
                <a:cs typeface="Arial"/>
              </a:rPr>
              <a:t>Efficiency</a:t>
            </a:r>
            <a:r>
              <a:rPr dirty="0" sz="2900" spc="-95" b="1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900" spc="-140" b="1">
                <a:solidFill>
                  <a:srgbClr val="0F1C1F"/>
                </a:solidFill>
                <a:latin typeface="Arial"/>
                <a:cs typeface="Arial"/>
              </a:rPr>
              <a:t>Gain:</a:t>
            </a:r>
            <a:r>
              <a:rPr dirty="0" sz="2900" spc="-254" b="1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 spc="65">
                <a:solidFill>
                  <a:srgbClr val="0F1C1F"/>
                </a:solidFill>
                <a:latin typeface="Arial"/>
                <a:cs typeface="Arial"/>
              </a:rPr>
              <a:t>Moving</a:t>
            </a:r>
            <a:r>
              <a:rPr dirty="0" sz="2700" spc="8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0F1C1F"/>
                </a:solidFill>
                <a:latin typeface="Arial"/>
                <a:cs typeface="Arial"/>
              </a:rPr>
              <a:t>from</a:t>
            </a:r>
            <a:r>
              <a:rPr dirty="0" sz="2700" spc="-11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2B2F33"/>
                </a:solidFill>
                <a:latin typeface="Arial"/>
                <a:cs typeface="Arial"/>
              </a:rPr>
              <a:t>'</a:t>
            </a:r>
            <a:r>
              <a:rPr dirty="0" sz="2700">
                <a:solidFill>
                  <a:srgbClr val="0F1C1F"/>
                </a:solidFill>
                <a:latin typeface="Arial"/>
                <a:cs typeface="Arial"/>
              </a:rPr>
              <a:t>Reviewing</a:t>
            </a:r>
            <a:r>
              <a:rPr dirty="0" sz="2700" spc="6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30A0E"/>
                </a:solidFill>
                <a:latin typeface="Arial"/>
                <a:cs typeface="Arial"/>
              </a:rPr>
              <a:t>Everyone'</a:t>
            </a:r>
            <a:r>
              <a:rPr dirty="0" sz="2700" spc="90">
                <a:solidFill>
                  <a:srgbClr val="030A0E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F1C1F"/>
                </a:solidFill>
                <a:latin typeface="Arial"/>
                <a:cs typeface="Arial"/>
              </a:rPr>
              <a:t>to</a:t>
            </a:r>
            <a:r>
              <a:rPr dirty="0" sz="2700" spc="315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F1C1F"/>
                </a:solidFill>
                <a:latin typeface="Arial"/>
                <a:cs typeface="Arial"/>
              </a:rPr>
              <a:t>'Reviewing</a:t>
            </a:r>
            <a:r>
              <a:rPr dirty="0" sz="2700" spc="5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900" spc="-114" b="1">
                <a:solidFill>
                  <a:srgbClr val="3382B3"/>
                </a:solidFill>
                <a:latin typeface="Arial"/>
                <a:cs typeface="Arial"/>
              </a:rPr>
              <a:t>Exceptions</a:t>
            </a:r>
            <a:r>
              <a:rPr dirty="0" sz="2900" spc="-114" b="1">
                <a:solidFill>
                  <a:srgbClr val="2B2F33"/>
                </a:solidFill>
                <a:latin typeface="Arial"/>
                <a:cs typeface="Arial"/>
              </a:rPr>
              <a:t>'</a:t>
            </a:r>
            <a:r>
              <a:rPr dirty="0" sz="2900" spc="-175" b="1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F1C1F"/>
                </a:solidFill>
                <a:latin typeface="Arial"/>
                <a:cs typeface="Arial"/>
              </a:rPr>
              <a:t>(Material</a:t>
            </a:r>
            <a:r>
              <a:rPr dirty="0" sz="2700" spc="17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0F1C1F"/>
                </a:solidFill>
                <a:latin typeface="Arial"/>
                <a:cs typeface="Arial"/>
              </a:rPr>
              <a:t>Changes</a:t>
            </a:r>
            <a:r>
              <a:rPr dirty="0" sz="2700" spc="60">
                <a:solidFill>
                  <a:srgbClr val="0F1C1F"/>
                </a:solidFill>
                <a:latin typeface="Arial"/>
                <a:cs typeface="Arial"/>
              </a:rPr>
              <a:t> </a:t>
            </a:r>
            <a:r>
              <a:rPr dirty="0" sz="2700" spc="45">
                <a:solidFill>
                  <a:srgbClr val="0F1C1F"/>
                </a:solidFill>
                <a:latin typeface="Arial"/>
                <a:cs typeface="Arial"/>
              </a:rPr>
              <a:t>only).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19597" y="9217487"/>
            <a:ext cx="168148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95">
                <a:solidFill>
                  <a:srgbClr val="2B2F33"/>
                </a:solidFill>
                <a:latin typeface="Arial"/>
                <a:cs typeface="Arial"/>
              </a:rPr>
              <a:t>()</a:t>
            </a:r>
            <a:r>
              <a:rPr dirty="0" sz="2000" spc="95">
                <a:solidFill>
                  <a:srgbClr val="0F1C1F"/>
                </a:solidFill>
                <a:latin typeface="Arial"/>
                <a:cs typeface="Arial"/>
              </a:rPr>
              <a:t>E</a:t>
            </a:r>
            <a:r>
              <a:rPr dirty="0" sz="2000" spc="95">
                <a:solidFill>
                  <a:srgbClr val="2B2F33"/>
                </a:solidFill>
                <a:latin typeface="Arial"/>
                <a:cs typeface="Arial"/>
              </a:rPr>
              <a:t>nc</a:t>
            </a:r>
            <a:r>
              <a:rPr dirty="0" sz="2000" spc="95">
                <a:solidFill>
                  <a:srgbClr val="0F1C1F"/>
                </a:solidFill>
                <a:latin typeface="Arial"/>
                <a:cs typeface="Arial"/>
              </a:rPr>
              <a:t>o</a:t>
            </a:r>
            <a:r>
              <a:rPr dirty="0" sz="2000" spc="95">
                <a:solidFill>
                  <a:srgbClr val="2B2F33"/>
                </a:solidFill>
                <a:latin typeface="Arial"/>
                <a:cs typeface="Arial"/>
              </a:rPr>
              <a:t>m</a:t>
            </a:r>
            <a:r>
              <a:rPr dirty="0" sz="2000" spc="95">
                <a:solidFill>
                  <a:srgbClr val="0F1C1F"/>
                </a:solidFill>
                <a:latin typeface="Arial"/>
                <a:cs typeface="Arial"/>
              </a:rPr>
              <a:t>p</a:t>
            </a:r>
            <a:r>
              <a:rPr dirty="0" sz="2000" spc="95">
                <a:solidFill>
                  <a:srgbClr val="2B2F33"/>
                </a:solidFill>
                <a:latin typeface="Arial"/>
                <a:cs typeface="Arial"/>
              </a:rPr>
              <a:t>ass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2B2F33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2B2F33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0F1C1F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B2F33"/>
                </a:solidFill>
                <a:latin typeface="Arial"/>
                <a:cs typeface="Arial"/>
              </a:rPr>
              <a:t>otebookL</a:t>
            </a:r>
            <a:r>
              <a:rPr dirty="0" sz="1350" spc="-10">
                <a:solidFill>
                  <a:srgbClr val="0F1C1F"/>
                </a:solidFill>
                <a:latin typeface="Arial"/>
                <a:cs typeface="Arial"/>
              </a:rPr>
              <a:t>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584" y="2221574"/>
            <a:ext cx="3897496" cy="19404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2348" y="2196042"/>
            <a:ext cx="1783168" cy="9702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1202" y="2196042"/>
            <a:ext cx="1783168" cy="9702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1584" y="5234383"/>
            <a:ext cx="1808642" cy="9957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02121" y="5208851"/>
            <a:ext cx="2241697" cy="10723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40482" y="2196042"/>
            <a:ext cx="1910537" cy="16851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80285" y="2196042"/>
            <a:ext cx="1757695" cy="9702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35177" y="8119533"/>
            <a:ext cx="1375587" cy="8170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24031" y="5183319"/>
            <a:ext cx="9348897" cy="109788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57087" y="8119533"/>
            <a:ext cx="1375587" cy="8170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896889" y="8119533"/>
            <a:ext cx="1375587" cy="81703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546168" y="8145064"/>
            <a:ext cx="1375587" cy="7915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584075" y="8119533"/>
            <a:ext cx="1401061" cy="81703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774823" y="5234383"/>
            <a:ext cx="1859589" cy="104682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233358" y="8145064"/>
            <a:ext cx="1375587" cy="79150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878847" y="3217332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09703" y="6281206"/>
            <a:ext cx="0" cy="1838325"/>
          </a:xfrm>
          <a:custGeom>
            <a:avLst/>
            <a:gdLst/>
            <a:ahLst/>
            <a:cxnLst/>
            <a:rect l="l" t="t" r="r" b="b"/>
            <a:pathLst>
              <a:path w="0"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01818" y="3191800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64138" y="3166267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737830" y="3166267"/>
            <a:ext cx="0" cy="766445"/>
          </a:xfrm>
          <a:custGeom>
            <a:avLst/>
            <a:gdLst/>
            <a:ahLst/>
            <a:cxnLst/>
            <a:rect l="l" t="t" r="r" b="b"/>
            <a:pathLst>
              <a:path w="0"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32674" y="6281206"/>
            <a:ext cx="0" cy="1838325"/>
          </a:xfrm>
          <a:custGeom>
            <a:avLst/>
            <a:gdLst/>
            <a:ahLst/>
            <a:cxnLst/>
            <a:rect l="l" t="t" r="r" b="b"/>
            <a:pathLst>
              <a:path w="0"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47307" y="316626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58679" y="6281206"/>
            <a:ext cx="0" cy="1838325"/>
          </a:xfrm>
          <a:custGeom>
            <a:avLst/>
            <a:gdLst/>
            <a:ahLst/>
            <a:cxnLst/>
            <a:rect l="l" t="t" r="r" b="b"/>
            <a:pathLst>
              <a:path w="0"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387109" y="3166267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240483" y="3191800"/>
            <a:ext cx="0" cy="1991995"/>
          </a:xfrm>
          <a:custGeom>
            <a:avLst/>
            <a:gdLst/>
            <a:ahLst/>
            <a:cxnLst/>
            <a:rect l="l" t="t" r="r" b="b"/>
            <a:pathLst>
              <a:path w="0" h="1991995">
                <a:moveTo>
                  <a:pt x="0" y="199151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501438" y="3191800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47230" y="6281206"/>
            <a:ext cx="0" cy="1864360"/>
          </a:xfrm>
          <a:custGeom>
            <a:avLst/>
            <a:gdLst/>
            <a:ahLst/>
            <a:cxnLst/>
            <a:rect l="l" t="t" r="r" b="b"/>
            <a:pathLst>
              <a:path w="0" h="1864359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558602" y="6281206"/>
            <a:ext cx="0" cy="1838325"/>
          </a:xfrm>
          <a:custGeom>
            <a:avLst/>
            <a:gdLst/>
            <a:ahLst/>
            <a:cxnLst/>
            <a:rect l="l" t="t" r="r" b="b"/>
            <a:pathLst>
              <a:path w="0"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857768" y="6281206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09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163454" y="3166267"/>
            <a:ext cx="0" cy="2017395"/>
          </a:xfrm>
          <a:custGeom>
            <a:avLst/>
            <a:gdLst/>
            <a:ahLst/>
            <a:cxnLst/>
            <a:rect l="l" t="t" r="r" b="b"/>
            <a:pathLst>
              <a:path w="0" h="2017395">
                <a:moveTo>
                  <a:pt x="0" y="201705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5284302" y="5821625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10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634417" y="6281206"/>
            <a:ext cx="0" cy="1864360"/>
          </a:xfrm>
          <a:custGeom>
            <a:avLst/>
            <a:gdLst/>
            <a:ahLst/>
            <a:cxnLst/>
            <a:rect l="l" t="t" r="r" b="b"/>
            <a:pathLst>
              <a:path w="0" h="1864359">
                <a:moveTo>
                  <a:pt x="0" y="18638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908715" y="5834391"/>
            <a:ext cx="1376045" cy="0"/>
          </a:xfrm>
          <a:custGeom>
            <a:avLst/>
            <a:gdLst/>
            <a:ahLst/>
            <a:cxnLst/>
            <a:rect l="l" t="t" r="r" b="b"/>
            <a:pathLst>
              <a:path w="1376044" h="0">
                <a:moveTo>
                  <a:pt x="0" y="0"/>
                </a:moveTo>
                <a:lnTo>
                  <a:pt x="137558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908715" y="5962053"/>
            <a:ext cx="1376045" cy="0"/>
          </a:xfrm>
          <a:custGeom>
            <a:avLst/>
            <a:gdLst/>
            <a:ahLst/>
            <a:cxnLst/>
            <a:rect l="l" t="t" r="r" b="b"/>
            <a:pathLst>
              <a:path w="1376044" h="0">
                <a:moveTo>
                  <a:pt x="0" y="0"/>
                </a:moveTo>
                <a:lnTo>
                  <a:pt x="137558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985137" y="8936563"/>
            <a:ext cx="1248410" cy="0"/>
          </a:xfrm>
          <a:custGeom>
            <a:avLst/>
            <a:gdLst/>
            <a:ahLst/>
            <a:cxnLst/>
            <a:rect l="l" t="t" r="r" b="b"/>
            <a:pathLst>
              <a:path w="1248409" h="0">
                <a:moveTo>
                  <a:pt x="0" y="0"/>
                </a:moveTo>
                <a:lnTo>
                  <a:pt x="124821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272477" y="8936563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09" h="0">
                <a:moveTo>
                  <a:pt x="0" y="0"/>
                </a:moveTo>
                <a:lnTo>
                  <a:pt x="127369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610764" y="8936563"/>
            <a:ext cx="1146810" cy="0"/>
          </a:xfrm>
          <a:custGeom>
            <a:avLst/>
            <a:gdLst/>
            <a:ahLst/>
            <a:cxnLst/>
            <a:rect l="l" t="t" r="r" b="b"/>
            <a:pathLst>
              <a:path w="1146810" h="0">
                <a:moveTo>
                  <a:pt x="0" y="0"/>
                </a:moveTo>
                <a:lnTo>
                  <a:pt x="114632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150" spc="-225">
                <a:solidFill>
                  <a:srgbClr val="051C23"/>
                </a:solidFill>
                <a:latin typeface="Arial"/>
                <a:cs typeface="Arial"/>
              </a:rPr>
              <a:t>Six</a:t>
            </a:r>
            <a:r>
              <a:rPr dirty="0" sz="7150" spc="-720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7150" spc="-105">
                <a:solidFill>
                  <a:srgbClr val="051C23"/>
                </a:solidFill>
                <a:latin typeface="Arial"/>
                <a:cs typeface="Arial"/>
              </a:rPr>
              <a:t>Pillars</a:t>
            </a:r>
            <a:r>
              <a:rPr dirty="0" sz="7150" spc="-535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7150" spc="229">
                <a:solidFill>
                  <a:srgbClr val="051C23"/>
                </a:solidFill>
                <a:latin typeface="Arial"/>
                <a:cs typeface="Arial"/>
              </a:rPr>
              <a:t>of</a:t>
            </a:r>
            <a:r>
              <a:rPr dirty="0" sz="7150" spc="-1060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7150" spc="275">
                <a:solidFill>
                  <a:srgbClr val="051C23"/>
                </a:solidFill>
                <a:latin typeface="Arial"/>
                <a:cs typeface="Arial"/>
              </a:rPr>
              <a:t>a</a:t>
            </a:r>
            <a:r>
              <a:rPr dirty="0" sz="7150" spc="-805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7150" spc="-210">
                <a:solidFill>
                  <a:srgbClr val="051C23"/>
                </a:solidFill>
                <a:latin typeface="Arial"/>
                <a:cs typeface="Arial"/>
              </a:rPr>
              <a:t>Strong</a:t>
            </a:r>
            <a:r>
              <a:rPr dirty="0" sz="7150" spc="-850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7150" spc="-395">
                <a:solidFill>
                  <a:srgbClr val="051C23"/>
                </a:solidFill>
                <a:latin typeface="Arial"/>
                <a:cs typeface="Arial"/>
              </a:rPr>
              <a:t>pKYC</a:t>
            </a:r>
            <a:r>
              <a:rPr dirty="0" sz="7150" spc="-700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7150" spc="-75">
                <a:solidFill>
                  <a:srgbClr val="051C23"/>
                </a:solidFill>
                <a:latin typeface="Arial"/>
                <a:cs typeface="Arial"/>
              </a:rPr>
              <a:t>Program.</a:t>
            </a:r>
            <a:endParaRPr sz="71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75170" y="4213158"/>
            <a:ext cx="3308985" cy="14097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43180">
              <a:lnSpc>
                <a:spcPct val="100000"/>
              </a:lnSpc>
              <a:spcBef>
                <a:spcPts val="115"/>
              </a:spcBef>
            </a:pPr>
            <a:r>
              <a:rPr dirty="0" sz="2800" spc="-30" b="1">
                <a:solidFill>
                  <a:srgbClr val="051C23"/>
                </a:solidFill>
                <a:latin typeface="Arial"/>
                <a:cs typeface="Arial"/>
              </a:rPr>
              <a:t>Explainability</a:t>
            </a:r>
            <a:endParaRPr sz="2800">
              <a:latin typeface="Arial"/>
              <a:cs typeface="Arial"/>
            </a:endParaRPr>
          </a:p>
          <a:p>
            <a:pPr algn="ctr" marL="43180">
              <a:lnSpc>
                <a:spcPts val="2525"/>
              </a:lnSpc>
              <a:spcBef>
                <a:spcPts val="55"/>
              </a:spcBef>
            </a:pPr>
            <a:r>
              <a:rPr dirty="0" sz="2200" spc="-25">
                <a:solidFill>
                  <a:srgbClr val="2A2F31"/>
                </a:solidFill>
                <a:latin typeface="Arial"/>
                <a:cs typeface="Arial"/>
              </a:rPr>
              <a:t>No</a:t>
            </a:r>
            <a:r>
              <a:rPr dirty="0" sz="2200" spc="-204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45">
                <a:solidFill>
                  <a:srgbClr val="2A2F31"/>
                </a:solidFill>
                <a:latin typeface="Arial"/>
                <a:cs typeface="Arial"/>
              </a:rPr>
              <a:t>"black</a:t>
            </a:r>
            <a:r>
              <a:rPr dirty="0" sz="2200" spc="-10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35">
                <a:solidFill>
                  <a:srgbClr val="2A2F31"/>
                </a:solidFill>
                <a:latin typeface="Arial"/>
                <a:cs typeface="Arial"/>
              </a:rPr>
              <a:t>box"</a:t>
            </a:r>
            <a:r>
              <a:rPr dirty="0" sz="2200" spc="-17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2A2F31"/>
                </a:solidFill>
                <a:latin typeface="Arial"/>
                <a:cs typeface="Arial"/>
              </a:rPr>
              <a:t>Al.</a:t>
            </a:r>
            <a:endParaRPr sz="2200">
              <a:latin typeface="Arial"/>
              <a:cs typeface="Arial"/>
            </a:endParaRPr>
          </a:p>
          <a:p>
            <a:pPr algn="ctr" marL="12065" marR="5080">
              <a:lnSpc>
                <a:spcPts val="2410"/>
              </a:lnSpc>
              <a:spcBef>
                <a:spcPts val="155"/>
              </a:spcBef>
            </a:pPr>
            <a:r>
              <a:rPr dirty="0" sz="2200" spc="-95">
                <a:solidFill>
                  <a:srgbClr val="2A2F31"/>
                </a:solidFill>
                <a:latin typeface="Arial"/>
                <a:cs typeface="Arial"/>
              </a:rPr>
              <a:t>Regulators</a:t>
            </a:r>
            <a:r>
              <a:rPr dirty="0" sz="2200" spc="-2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2A2F31"/>
                </a:solidFill>
                <a:latin typeface="Arial"/>
                <a:cs typeface="Arial"/>
              </a:rPr>
              <a:t>must</a:t>
            </a:r>
            <a:r>
              <a:rPr dirty="0" sz="2200" spc="-3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70">
                <a:solidFill>
                  <a:srgbClr val="2A2F31"/>
                </a:solidFill>
                <a:latin typeface="Arial"/>
                <a:cs typeface="Arial"/>
              </a:rPr>
              <a:t>understand </a:t>
            </a:r>
            <a:r>
              <a:rPr dirty="0" sz="2200">
                <a:solidFill>
                  <a:srgbClr val="2A2F31"/>
                </a:solidFill>
                <a:latin typeface="Arial"/>
                <a:cs typeface="Arial"/>
              </a:rPr>
              <a:t>the</a:t>
            </a:r>
            <a:r>
              <a:rPr dirty="0" sz="2200" spc="-12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algorithm.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44922" y="2642922"/>
            <a:ext cx="919480" cy="86169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6680">
              <a:lnSpc>
                <a:spcPts val="3550"/>
              </a:lnSpc>
              <a:spcBef>
                <a:spcPts val="114"/>
              </a:spcBef>
            </a:pPr>
            <a:r>
              <a:rPr dirty="0" sz="3200" spc="-225">
                <a:solidFill>
                  <a:srgbClr val="2A2F31"/>
                </a:solidFill>
                <a:latin typeface="Arial"/>
                <a:cs typeface="Arial"/>
              </a:rPr>
              <a:t>&lt;@&gt;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010"/>
              </a:lnSpc>
            </a:pPr>
            <a:r>
              <a:rPr dirty="0" sz="2750" spc="-310">
                <a:solidFill>
                  <a:srgbClr val="7E9097"/>
                </a:solidFill>
                <a:latin typeface="Arial"/>
                <a:cs typeface="Arial"/>
              </a:rPr>
              <a:t>·····</a:t>
            </a:r>
            <a:r>
              <a:rPr dirty="0" sz="2750" spc="-310">
                <a:solidFill>
                  <a:srgbClr val="2A2F31"/>
                </a:solidFill>
                <a:latin typeface="Arial"/>
                <a:cs typeface="Arial"/>
              </a:rPr>
              <a:t>b_</a:t>
            </a:r>
            <a:endParaRPr sz="27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93751" y="3708896"/>
            <a:ext cx="20193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455" i="1">
                <a:solidFill>
                  <a:srgbClr val="2A2F31"/>
                </a:solidFill>
                <a:latin typeface="Arial"/>
                <a:cs typeface="Arial"/>
              </a:rPr>
              <a:t>{�</a:t>
            </a:r>
            <a:endParaRPr sz="17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27100" y="4190410"/>
            <a:ext cx="3218815" cy="143256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290"/>
              </a:spcBef>
            </a:pPr>
            <a:r>
              <a:rPr dirty="0" sz="2800" spc="-125" b="1">
                <a:solidFill>
                  <a:srgbClr val="051C23"/>
                </a:solidFill>
                <a:latin typeface="Arial"/>
                <a:cs typeface="Arial"/>
              </a:rPr>
              <a:t>Human</a:t>
            </a:r>
            <a:r>
              <a:rPr dirty="0" sz="2800" spc="-200" b="1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51C23"/>
                </a:solidFill>
                <a:latin typeface="Arial"/>
                <a:cs typeface="Arial"/>
              </a:rPr>
              <a:t>Judgment</a:t>
            </a:r>
            <a:endParaRPr sz="2800">
              <a:latin typeface="Arial"/>
              <a:cs typeface="Arial"/>
            </a:endParaRPr>
          </a:p>
          <a:p>
            <a:pPr algn="ctr" marL="12065" marR="5080">
              <a:lnSpc>
                <a:spcPct val="89500"/>
              </a:lnSpc>
              <a:spcBef>
                <a:spcPts val="434"/>
              </a:spcBef>
            </a:pPr>
            <a:r>
              <a:rPr dirty="0" sz="2200" spc="-110">
                <a:solidFill>
                  <a:srgbClr val="2A2F31"/>
                </a:solidFill>
                <a:latin typeface="Arial"/>
                <a:cs typeface="Arial"/>
              </a:rPr>
              <a:t>Tech</a:t>
            </a:r>
            <a:r>
              <a:rPr dirty="0" sz="2200" spc="-18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65">
                <a:solidFill>
                  <a:srgbClr val="2A2F31"/>
                </a:solidFill>
                <a:latin typeface="Arial"/>
                <a:cs typeface="Arial"/>
              </a:rPr>
              <a:t>reduces</a:t>
            </a:r>
            <a:r>
              <a:rPr dirty="0" sz="2200" spc="-4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110">
                <a:solidFill>
                  <a:srgbClr val="2A2F31"/>
                </a:solidFill>
                <a:latin typeface="Arial"/>
                <a:cs typeface="Arial"/>
              </a:rPr>
              <a:t>manual</a:t>
            </a:r>
            <a:r>
              <a:rPr dirty="0" sz="2200" spc="-6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effort </a:t>
            </a:r>
            <a:r>
              <a:rPr dirty="0" sz="2200" spc="-25">
                <a:solidFill>
                  <a:srgbClr val="2A2F31"/>
                </a:solidFill>
                <a:latin typeface="Arial"/>
                <a:cs typeface="Arial"/>
              </a:rPr>
              <a:t>but</a:t>
            </a:r>
            <a:r>
              <a:rPr dirty="0" sz="2200" spc="-10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30">
                <a:solidFill>
                  <a:srgbClr val="2A2F31"/>
                </a:solidFill>
                <a:latin typeface="Arial"/>
                <a:cs typeface="Arial"/>
              </a:rPr>
              <a:t>does</a:t>
            </a:r>
            <a:r>
              <a:rPr dirty="0" sz="2200" spc="-24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2F31"/>
                </a:solidFill>
                <a:latin typeface="Arial"/>
                <a:cs typeface="Arial"/>
              </a:rPr>
              <a:t>not</a:t>
            </a:r>
            <a:r>
              <a:rPr dirty="0" sz="2200" spc="-20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replace oversight.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77255" y="5470624"/>
            <a:ext cx="1427480" cy="799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85215" algn="l"/>
              </a:tabLst>
            </a:pPr>
            <a:r>
              <a:rPr dirty="0" u="heavy" sz="2700">
                <a:solidFill>
                  <a:srgbClr val="2A2F31"/>
                </a:solidFill>
                <a:uFill>
                  <a:solidFill>
                    <a:srgbClr val="2A2F31"/>
                  </a:solidFill>
                </a:uFill>
                <a:latin typeface="Arial"/>
                <a:cs typeface="Arial"/>
              </a:rPr>
              <a:t>@I�</a:t>
            </a:r>
            <a:r>
              <a:rPr dirty="0" u="heavy" sz="2700" spc="-35">
                <a:solidFill>
                  <a:srgbClr val="2A2F31"/>
                </a:solidFill>
                <a:uFill>
                  <a:solidFill>
                    <a:srgbClr val="2A2F31"/>
                  </a:solidFill>
                </a:uFill>
                <a:latin typeface="Arial"/>
                <a:cs typeface="Arial"/>
              </a:rPr>
              <a:t> </a:t>
            </a:r>
            <a:r>
              <a:rPr dirty="0" u="none" sz="2700">
                <a:solidFill>
                  <a:srgbClr val="2A2F31"/>
                </a:solidFill>
                <a:latin typeface="Arial"/>
                <a:cs typeface="Arial"/>
              </a:rPr>
              <a:t>	</a:t>
            </a:r>
            <a:r>
              <a:rPr dirty="0" u="none" sz="5050" spc="-175">
                <a:solidFill>
                  <a:srgbClr val="547E8C"/>
                </a:solidFill>
                <a:latin typeface="Arial"/>
                <a:cs typeface="Arial"/>
              </a:rPr>
              <a:t>?</a:t>
            </a:r>
            <a:endParaRPr sz="50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489955" y="6574828"/>
            <a:ext cx="267970" cy="0"/>
          </a:xfrm>
          <a:custGeom>
            <a:avLst/>
            <a:gdLst/>
            <a:ahLst/>
            <a:cxnLst/>
            <a:rect l="l" t="t" r="r" b="b"/>
            <a:pathLst>
              <a:path w="267970" h="0">
                <a:moveTo>
                  <a:pt x="0" y="0"/>
                </a:moveTo>
                <a:lnTo>
                  <a:pt x="267475" y="0"/>
                </a:lnTo>
              </a:path>
            </a:pathLst>
          </a:custGeom>
          <a:ln w="12766">
            <a:solidFill>
              <a:srgbClr val="2A2F3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5035920" y="6568444"/>
            <a:ext cx="713105" cy="13335"/>
            <a:chOff x="5035920" y="6568444"/>
            <a:chExt cx="713105" cy="13335"/>
          </a:xfrm>
        </p:grpSpPr>
        <p:sp>
          <p:nvSpPr>
            <p:cNvPr id="47" name="object 47"/>
            <p:cNvSpPr/>
            <p:nvPr/>
          </p:nvSpPr>
          <p:spPr>
            <a:xfrm>
              <a:off x="5035920" y="6574827"/>
              <a:ext cx="458470" cy="0"/>
            </a:xfrm>
            <a:custGeom>
              <a:avLst/>
              <a:gdLst/>
              <a:ahLst/>
              <a:cxnLst/>
              <a:rect l="l" t="t" r="r" b="b"/>
              <a:pathLst>
                <a:path w="458470" h="0">
                  <a:moveTo>
                    <a:pt x="0" y="0"/>
                  </a:moveTo>
                  <a:lnTo>
                    <a:pt x="458034" y="0"/>
                  </a:lnTo>
                </a:path>
              </a:pathLst>
            </a:custGeom>
            <a:ln w="12766">
              <a:solidFill>
                <a:srgbClr val="2A2F3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493708" y="6574827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12766">
              <a:solidFill>
                <a:srgbClr val="4254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4477255" y="6217443"/>
            <a:ext cx="1570990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185">
                <a:solidFill>
                  <a:srgbClr val="2A2F31"/>
                </a:solidFill>
                <a:latin typeface="Arial"/>
                <a:cs typeface="Arial"/>
              </a:rPr>
              <a:t>@!</a:t>
            </a:r>
            <a:r>
              <a:rPr dirty="0" sz="1300" spc="185">
                <a:solidFill>
                  <a:srgbClr val="2A2F31"/>
                </a:solidFill>
                <a:latin typeface="Arial"/>
                <a:cs typeface="Arial"/>
              </a:rPr>
              <a:t>➔</a:t>
            </a:r>
            <a:r>
              <a:rPr dirty="0" sz="1300" spc="185">
                <a:solidFill>
                  <a:srgbClr val="42545B"/>
                </a:solidFill>
                <a:latin typeface="Arial"/>
                <a:cs typeface="Arial"/>
              </a:rPr>
              <a:t>�</a:t>
            </a:r>
            <a:r>
              <a:rPr dirty="0" sz="1300" spc="185">
                <a:solidFill>
                  <a:srgbClr val="2A2F31"/>
                </a:solidFill>
                <a:latin typeface="Arial"/>
                <a:cs typeface="Arial"/>
              </a:rPr>
              <a:t>➔</a:t>
            </a:r>
            <a:r>
              <a:rPr dirty="0" sz="2700" spc="185">
                <a:solidFill>
                  <a:srgbClr val="42545B"/>
                </a:solidFill>
                <a:latin typeface="Arial"/>
                <a:cs typeface="Arial"/>
              </a:rPr>
              <a:t>@!</a:t>
            </a:r>
            <a:endParaRPr sz="27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36972" y="6534225"/>
            <a:ext cx="2879090" cy="179514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algn="ctr" marL="478790">
              <a:lnSpc>
                <a:spcPct val="100000"/>
              </a:lnSpc>
              <a:spcBef>
                <a:spcPts val="1235"/>
              </a:spcBef>
              <a:tabLst>
                <a:tab pos="1235710" algn="l"/>
              </a:tabLst>
            </a:pPr>
            <a:r>
              <a:rPr dirty="0" u="heavy" sz="2700" spc="-475">
                <a:solidFill>
                  <a:srgbClr val="42545B"/>
                </a:solidFill>
                <a:uFill>
                  <a:solidFill>
                    <a:srgbClr val="2A2F31"/>
                  </a:solidFill>
                </a:uFill>
                <a:latin typeface="Arial"/>
                <a:cs typeface="Arial"/>
              </a:rPr>
              <a:t>@I</a:t>
            </a:r>
            <a:r>
              <a:rPr dirty="0" u="heavy" sz="2700" spc="-475">
                <a:solidFill>
                  <a:srgbClr val="2A2F31"/>
                </a:solidFill>
                <a:uFill>
                  <a:solidFill>
                    <a:srgbClr val="2A2F31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2700">
                <a:solidFill>
                  <a:srgbClr val="2A2F31"/>
                </a:solidFill>
                <a:uFill>
                  <a:solidFill>
                    <a:srgbClr val="2A2F31"/>
                  </a:solidFill>
                </a:uFill>
                <a:latin typeface="Arial"/>
                <a:cs typeface="Arial"/>
              </a:rPr>
              <a:t>	</a:t>
            </a:r>
            <a:endParaRPr sz="2700">
              <a:latin typeface="Arial"/>
              <a:cs typeface="Arial"/>
            </a:endParaRPr>
          </a:p>
          <a:p>
            <a:pPr algn="ctr" marR="9525">
              <a:lnSpc>
                <a:spcPct val="100000"/>
              </a:lnSpc>
              <a:spcBef>
                <a:spcPts val="1185"/>
              </a:spcBef>
            </a:pPr>
            <a:r>
              <a:rPr dirty="0" sz="2800" spc="-105" b="1">
                <a:solidFill>
                  <a:srgbClr val="051C23"/>
                </a:solidFill>
                <a:latin typeface="Arial"/>
                <a:cs typeface="Arial"/>
              </a:rPr>
              <a:t>Data</a:t>
            </a:r>
            <a:r>
              <a:rPr dirty="0" sz="2800" spc="-240" b="1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2800" spc="-40" b="1">
                <a:solidFill>
                  <a:srgbClr val="051C23"/>
                </a:solidFill>
                <a:latin typeface="Arial"/>
                <a:cs typeface="Arial"/>
              </a:rPr>
              <a:t>Governance</a:t>
            </a:r>
            <a:endParaRPr sz="2800">
              <a:latin typeface="Arial"/>
              <a:cs typeface="Arial"/>
            </a:endParaRPr>
          </a:p>
          <a:p>
            <a:pPr algn="ctr" marL="12065" marR="5080">
              <a:lnSpc>
                <a:spcPts val="2310"/>
              </a:lnSpc>
              <a:spcBef>
                <a:spcPts val="405"/>
              </a:spcBef>
            </a:pPr>
            <a:r>
              <a:rPr dirty="0" sz="2200" spc="-95">
                <a:solidFill>
                  <a:srgbClr val="2A2F31"/>
                </a:solidFill>
                <a:latin typeface="Arial"/>
                <a:cs typeface="Arial"/>
              </a:rPr>
              <a:t>Lineage</a:t>
            </a:r>
            <a:r>
              <a:rPr dirty="0" sz="2200" spc="-1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85">
                <a:solidFill>
                  <a:srgbClr val="2A2F31"/>
                </a:solidFill>
                <a:latin typeface="Arial"/>
                <a:cs typeface="Arial"/>
              </a:rPr>
              <a:t>and</a:t>
            </a:r>
            <a:r>
              <a:rPr dirty="0" sz="2200" spc="-114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85">
                <a:solidFill>
                  <a:srgbClr val="2A2F31"/>
                </a:solidFill>
                <a:latin typeface="Arial"/>
                <a:cs typeface="Arial"/>
              </a:rPr>
              <a:t>provenance </a:t>
            </a:r>
            <a:r>
              <a:rPr dirty="0" sz="2200" spc="-75">
                <a:solidFill>
                  <a:srgbClr val="2A2F31"/>
                </a:solidFill>
                <a:latin typeface="Arial"/>
                <a:cs typeface="Arial"/>
              </a:rPr>
              <a:t>are</a:t>
            </a:r>
            <a:r>
              <a:rPr dirty="0" sz="2200" spc="-19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critical.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481589" y="5579136"/>
            <a:ext cx="2853055" cy="29540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86740">
              <a:lnSpc>
                <a:spcPts val="4335"/>
              </a:lnSpc>
              <a:spcBef>
                <a:spcPts val="120"/>
              </a:spcBef>
            </a:pPr>
            <a:r>
              <a:rPr dirty="0" sz="4000" spc="395">
                <a:solidFill>
                  <a:srgbClr val="547E8C"/>
                </a:solidFill>
                <a:latin typeface="Microsoft Sans Serif"/>
                <a:cs typeface="Microsoft Sans Serif"/>
              </a:rPr>
              <a:t>0</a:t>
            </a:r>
            <a:r>
              <a:rPr dirty="0" sz="4000" spc="395">
                <a:solidFill>
                  <a:srgbClr val="2A2F31"/>
                </a:solidFill>
                <a:latin typeface="Microsoft Sans Serif"/>
                <a:cs typeface="Microsoft Sans Serif"/>
              </a:rPr>
              <a:t>97</a:t>
            </a:r>
            <a:endParaRPr sz="4000">
              <a:latin typeface="Microsoft Sans Serif"/>
              <a:cs typeface="Microsoft Sans Serif"/>
            </a:endParaRPr>
          </a:p>
          <a:p>
            <a:pPr marL="598170">
              <a:lnSpc>
                <a:spcPts val="3229"/>
              </a:lnSpc>
            </a:pPr>
            <a:r>
              <a:rPr dirty="0" sz="3150" spc="1300">
                <a:solidFill>
                  <a:srgbClr val="547E8C"/>
                </a:solidFill>
                <a:latin typeface="Arial"/>
                <a:cs typeface="Arial"/>
              </a:rPr>
              <a:t>0</a:t>
            </a:r>
            <a:r>
              <a:rPr dirty="0" sz="1200" spc="1300">
                <a:solidFill>
                  <a:srgbClr val="2A2F31"/>
                </a:solidFill>
                <a:latin typeface="Arial"/>
                <a:cs typeface="Arial"/>
              </a:rPr>
              <a:t>➔</a:t>
            </a:r>
            <a:r>
              <a:rPr dirty="0" sz="3150" spc="1300">
                <a:solidFill>
                  <a:srgbClr val="2A2F31"/>
                </a:solidFill>
                <a:latin typeface="Arial"/>
                <a:cs typeface="Arial"/>
              </a:rPr>
              <a:t>y</a:t>
            </a:r>
            <a:r>
              <a:rPr dirty="0" sz="3150" spc="1300">
                <a:solidFill>
                  <a:srgbClr val="547E8C"/>
                </a:solidFill>
                <a:latin typeface="Arial"/>
                <a:cs typeface="Arial"/>
              </a:rPr>
              <a:t>0</a:t>
            </a:r>
            <a:endParaRPr sz="3150">
              <a:latin typeface="Arial"/>
              <a:cs typeface="Arial"/>
            </a:endParaRPr>
          </a:p>
          <a:p>
            <a:pPr marL="598170">
              <a:lnSpc>
                <a:spcPts val="3700"/>
              </a:lnSpc>
            </a:pPr>
            <a:r>
              <a:rPr dirty="0" sz="3150" spc="590">
                <a:solidFill>
                  <a:srgbClr val="547E8C"/>
                </a:solidFill>
                <a:latin typeface="Arial"/>
                <a:cs typeface="Arial"/>
              </a:rPr>
              <a:t>0</a:t>
            </a:r>
            <a:r>
              <a:rPr dirty="0" sz="3150" spc="590">
                <a:solidFill>
                  <a:srgbClr val="2A2F31"/>
                </a:solidFill>
                <a:latin typeface="Arial"/>
                <a:cs typeface="Arial"/>
              </a:rPr>
              <a:t>-</a:t>
            </a:r>
            <a:r>
              <a:rPr dirty="0" sz="3150" spc="815">
                <a:solidFill>
                  <a:srgbClr val="2A2F31"/>
                </a:solidFill>
                <a:latin typeface="Arial"/>
                <a:cs typeface="Arial"/>
              </a:rPr>
              <a:t>0</a:t>
            </a:r>
            <a:r>
              <a:rPr dirty="0" sz="3150" spc="815">
                <a:solidFill>
                  <a:srgbClr val="547E8C"/>
                </a:solidFill>
                <a:latin typeface="Arial"/>
                <a:cs typeface="Arial"/>
              </a:rPr>
              <a:t>@}</a:t>
            </a:r>
            <a:endParaRPr sz="3150">
              <a:latin typeface="Arial"/>
              <a:cs typeface="Arial"/>
            </a:endParaRPr>
          </a:p>
          <a:p>
            <a:pPr marL="370205" marR="403225" indent="190500">
              <a:lnSpc>
                <a:spcPts val="2810"/>
              </a:lnSpc>
              <a:spcBef>
                <a:spcPts val="1040"/>
              </a:spcBef>
            </a:pPr>
            <a:r>
              <a:rPr dirty="0" sz="2800" spc="-60" b="1">
                <a:solidFill>
                  <a:srgbClr val="051C23"/>
                </a:solidFill>
                <a:latin typeface="Arial"/>
                <a:cs typeface="Arial"/>
              </a:rPr>
              <a:t>Model</a:t>
            </a:r>
            <a:r>
              <a:rPr dirty="0" sz="2800" spc="-385" b="1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2800" spc="-20" b="1">
                <a:solidFill>
                  <a:srgbClr val="051C23"/>
                </a:solidFill>
                <a:latin typeface="Arial"/>
                <a:cs typeface="Arial"/>
              </a:rPr>
              <a:t>Risk </a:t>
            </a:r>
            <a:r>
              <a:rPr dirty="0" sz="2800" spc="-95" b="1">
                <a:solidFill>
                  <a:srgbClr val="051C23"/>
                </a:solidFill>
                <a:latin typeface="Arial"/>
                <a:cs typeface="Arial"/>
              </a:rPr>
              <a:t>Management</a:t>
            </a:r>
            <a:endParaRPr sz="2800">
              <a:latin typeface="Arial"/>
              <a:cs typeface="Arial"/>
            </a:endParaRPr>
          </a:p>
          <a:p>
            <a:pPr marL="168275" marR="5080" indent="-156210">
              <a:lnSpc>
                <a:spcPts val="2310"/>
              </a:lnSpc>
              <a:spcBef>
                <a:spcPts val="509"/>
              </a:spcBef>
            </a:pPr>
            <a:r>
              <a:rPr dirty="0" sz="2200" spc="-80">
                <a:solidFill>
                  <a:srgbClr val="2A2F31"/>
                </a:solidFill>
                <a:latin typeface="Arial"/>
                <a:cs typeface="Arial"/>
              </a:rPr>
              <a:t>Validation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85">
                <a:solidFill>
                  <a:srgbClr val="2A2F31"/>
                </a:solidFill>
                <a:latin typeface="Arial"/>
                <a:cs typeface="Arial"/>
              </a:rPr>
              <a:t>and</a:t>
            </a:r>
            <a:r>
              <a:rPr dirty="0" sz="2200" spc="-14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2A2F31"/>
                </a:solidFill>
                <a:latin typeface="Arial"/>
                <a:cs typeface="Arial"/>
              </a:rPr>
              <a:t>"effective </a:t>
            </a:r>
            <a:r>
              <a:rPr dirty="0" sz="2200" spc="-65">
                <a:solidFill>
                  <a:srgbClr val="2A2F31"/>
                </a:solidFill>
                <a:latin typeface="Arial"/>
                <a:cs typeface="Arial"/>
              </a:rPr>
              <a:t>challenge"</a:t>
            </a:r>
            <a:r>
              <a:rPr dirty="0" sz="2200" spc="-12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60">
                <a:solidFill>
                  <a:srgbClr val="2A2F31"/>
                </a:solidFill>
                <a:latin typeface="Arial"/>
                <a:cs typeface="Arial"/>
              </a:rPr>
              <a:t>of</a:t>
            </a:r>
            <a:r>
              <a:rPr dirty="0" sz="2200" spc="-9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models.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152004" y="2930161"/>
            <a:ext cx="183388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4450" spc="100" i="1">
                <a:solidFill>
                  <a:srgbClr val="547E8C"/>
                </a:solidFill>
                <a:latin typeface="Arial"/>
                <a:cs typeface="Arial"/>
              </a:rPr>
              <a:t>_</a:t>
            </a:r>
            <a:r>
              <a:rPr dirty="0" sz="4450" spc="100" i="1">
                <a:solidFill>
                  <a:srgbClr val="99B1B8"/>
                </a:solidFill>
                <a:latin typeface="Arial"/>
                <a:cs typeface="Arial"/>
              </a:rPr>
              <a:t>:</a:t>
            </a:r>
            <a:r>
              <a:rPr dirty="0" sz="4450" spc="100" i="1">
                <a:solidFill>
                  <a:srgbClr val="7E9097"/>
                </a:solidFill>
                <a:latin typeface="Arial"/>
                <a:cs typeface="Arial"/>
              </a:rPr>
              <a:t>-</a:t>
            </a:r>
            <a:r>
              <a:rPr dirty="0" sz="4450" spc="-75" i="1">
                <a:solidFill>
                  <a:srgbClr val="42545B"/>
                </a:solidFill>
                <a:latin typeface="Arial"/>
                <a:cs typeface="Arial"/>
              </a:rPr>
              <a:t>I</a:t>
            </a:r>
            <a:r>
              <a:rPr dirty="0" baseline="39316" sz="4875" spc="-862">
                <a:solidFill>
                  <a:srgbClr val="42545B"/>
                </a:solidFill>
                <a:latin typeface="Arial"/>
                <a:cs typeface="Arial"/>
              </a:rPr>
              <a:t>\</a:t>
            </a:r>
            <a:r>
              <a:rPr dirty="0" sz="4450" spc="-2080" i="1">
                <a:solidFill>
                  <a:srgbClr val="547E8C"/>
                </a:solidFill>
                <a:latin typeface="Arial"/>
                <a:cs typeface="Arial"/>
              </a:rPr>
              <a:t>�</a:t>
            </a:r>
            <a:r>
              <a:rPr dirty="0" baseline="39316" sz="4875" spc="345">
                <a:solidFill>
                  <a:srgbClr val="34647B"/>
                </a:solidFill>
                <a:latin typeface="Arial"/>
                <a:cs typeface="Arial"/>
              </a:rPr>
              <a:t>�</a:t>
            </a:r>
            <a:r>
              <a:rPr dirty="0" baseline="39316" sz="4875" spc="330">
                <a:solidFill>
                  <a:srgbClr val="7E9097"/>
                </a:solidFill>
                <a:latin typeface="Arial"/>
                <a:cs typeface="Arial"/>
              </a:rPr>
              <a:t>·</a:t>
            </a:r>
            <a:endParaRPr baseline="39316" sz="4875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011394" y="3408892"/>
            <a:ext cx="65532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0" spc="-405" i="1">
                <a:solidFill>
                  <a:srgbClr val="2A2F31"/>
                </a:solidFill>
                <a:latin typeface="Arial"/>
                <a:cs typeface="Arial"/>
              </a:rPr>
              <a:t>lh</a:t>
            </a:r>
            <a:r>
              <a:rPr dirty="0" sz="3500" spc="-405" i="1">
                <a:solidFill>
                  <a:srgbClr val="34647B"/>
                </a:solidFill>
                <a:latin typeface="Arial"/>
                <a:cs typeface="Arial"/>
              </a:rPr>
              <a:t>�</a:t>
            </a:r>
            <a:endParaRPr sz="35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060140" y="4111030"/>
            <a:ext cx="2287905" cy="146050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algn="ctr" marL="96520" marR="90805">
              <a:lnSpc>
                <a:spcPts val="2810"/>
              </a:lnSpc>
              <a:spcBef>
                <a:spcPts val="665"/>
              </a:spcBef>
            </a:pPr>
            <a:r>
              <a:rPr dirty="0" sz="2800" spc="-145" b="1">
                <a:solidFill>
                  <a:srgbClr val="051C23"/>
                </a:solidFill>
                <a:latin typeface="Arial"/>
                <a:cs typeface="Arial"/>
              </a:rPr>
              <a:t>Residual</a:t>
            </a:r>
            <a:r>
              <a:rPr dirty="0" sz="2800" spc="-215" b="1">
                <a:solidFill>
                  <a:srgbClr val="051C23"/>
                </a:solidFill>
                <a:latin typeface="Arial"/>
                <a:cs typeface="Arial"/>
              </a:rPr>
              <a:t> </a:t>
            </a:r>
            <a:r>
              <a:rPr dirty="0" sz="2800" spc="-150" b="1">
                <a:solidFill>
                  <a:srgbClr val="051C23"/>
                </a:solidFill>
                <a:latin typeface="Arial"/>
                <a:cs typeface="Arial"/>
              </a:rPr>
              <a:t>Risk </a:t>
            </a:r>
            <a:r>
              <a:rPr dirty="0" sz="2800" spc="-80" b="1">
                <a:solidFill>
                  <a:srgbClr val="051C23"/>
                </a:solidFill>
                <a:latin typeface="Arial"/>
                <a:cs typeface="Arial"/>
              </a:rPr>
              <a:t>Management</a:t>
            </a:r>
            <a:endParaRPr sz="2800">
              <a:latin typeface="Arial"/>
              <a:cs typeface="Arial"/>
            </a:endParaRPr>
          </a:p>
          <a:p>
            <a:pPr algn="ctr" marL="12065" marR="5080">
              <a:lnSpc>
                <a:spcPts val="2410"/>
              </a:lnSpc>
              <a:spcBef>
                <a:spcPts val="330"/>
              </a:spcBef>
            </a:pPr>
            <a:r>
              <a:rPr dirty="0" sz="2200" spc="-35">
                <a:solidFill>
                  <a:srgbClr val="2A2F31"/>
                </a:solidFill>
                <a:latin typeface="Arial"/>
                <a:cs typeface="Arial"/>
              </a:rPr>
              <a:t>Mitigating</a:t>
            </a:r>
            <a:r>
              <a:rPr dirty="0" sz="2200" spc="-9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2A2F31"/>
                </a:solidFill>
                <a:latin typeface="Arial"/>
                <a:cs typeface="Arial"/>
              </a:rPr>
              <a:t>bad</a:t>
            </a:r>
            <a:r>
              <a:rPr dirty="0" sz="2200" spc="-15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2A2F31"/>
                </a:solidFill>
                <a:latin typeface="Arial"/>
                <a:cs typeface="Arial"/>
              </a:rPr>
              <a:t>data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ingestion.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896936" y="5751479"/>
            <a:ext cx="27368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25">
                <a:solidFill>
                  <a:srgbClr val="547E8C"/>
                </a:solidFill>
                <a:latin typeface="Arial"/>
                <a:cs typeface="Arial"/>
              </a:rPr>
              <a:t>•••</a:t>
            </a:r>
            <a:endParaRPr sz="17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916790" y="6396101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193" y="0"/>
                </a:lnTo>
              </a:path>
            </a:pathLst>
          </a:custGeom>
          <a:ln w="12766">
            <a:solidFill>
              <a:srgbClr val="4254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3904087" y="5859991"/>
            <a:ext cx="145859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500">
                <a:solidFill>
                  <a:srgbClr val="42545B"/>
                </a:solidFill>
                <a:latin typeface="Arial"/>
                <a:cs typeface="Arial"/>
              </a:rPr>
              <a:t>fm</a:t>
            </a:r>
            <a:r>
              <a:rPr dirty="0" sz="4100" spc="-500">
                <a:solidFill>
                  <a:srgbClr val="2A2F31"/>
                </a:solidFill>
                <a:latin typeface="Arial"/>
                <a:cs typeface="Arial"/>
              </a:rPr>
              <a:t>l</a:t>
            </a:r>
            <a:r>
              <a:rPr dirty="0" sz="4100" spc="-500">
                <a:solidFill>
                  <a:srgbClr val="547E8C"/>
                </a:solidFill>
                <a:latin typeface="Arial"/>
                <a:cs typeface="Arial"/>
              </a:rPr>
              <a:t>.-</a:t>
            </a:r>
            <a:r>
              <a:rPr dirty="0" sz="4100" spc="-530">
                <a:solidFill>
                  <a:srgbClr val="547E8C"/>
                </a:solidFill>
                <a:latin typeface="Arial"/>
                <a:cs typeface="Arial"/>
              </a:rPr>
              <a:t>v'V°</a:t>
            </a:r>
            <a:r>
              <a:rPr dirty="0" sz="4100" spc="-530">
                <a:solidFill>
                  <a:srgbClr val="42545B"/>
                </a:solidFill>
                <a:latin typeface="Arial"/>
                <a:cs typeface="Arial"/>
              </a:rPr>
              <a:t>I</a:t>
            </a:r>
            <a:endParaRPr sz="4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892200" y="6213226"/>
            <a:ext cx="1461135" cy="1352550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dirty="0" u="heavy" sz="3250" spc="385">
                <a:solidFill>
                  <a:srgbClr val="42545B"/>
                </a:solidFill>
                <a:uFill>
                  <a:solidFill>
                    <a:srgbClr val="547E8C"/>
                  </a:solidFill>
                </a:uFill>
                <a:latin typeface="Arial"/>
                <a:cs typeface="Arial"/>
              </a:rPr>
              <a:t>§]�</a:t>
            </a:r>
            <a:r>
              <a:rPr dirty="0" u="heavy" sz="3250" spc="385">
                <a:solidFill>
                  <a:srgbClr val="547E8C"/>
                </a:solidFill>
                <a:uFill>
                  <a:solidFill>
                    <a:srgbClr val="547E8C"/>
                  </a:solidFill>
                </a:uFill>
                <a:latin typeface="Arial"/>
                <a:cs typeface="Arial"/>
              </a:rPr>
              <a:t>c</a:t>
            </a:r>
            <a:r>
              <a:rPr dirty="0" u="none" sz="3250" spc="385">
                <a:solidFill>
                  <a:srgbClr val="547E8C"/>
                </a:solidFill>
                <a:latin typeface="Arial"/>
                <a:cs typeface="Arial"/>
              </a:rPr>
              <a:t>g</a:t>
            </a:r>
            <a:endParaRPr sz="3250">
              <a:latin typeface="Arial"/>
              <a:cs typeface="Arial"/>
            </a:endParaRPr>
          </a:p>
          <a:p>
            <a:pPr marL="105410">
              <a:lnSpc>
                <a:spcPct val="100000"/>
              </a:lnSpc>
              <a:spcBef>
                <a:spcPts val="1480"/>
              </a:spcBef>
            </a:pPr>
            <a:r>
              <a:rPr dirty="0" sz="2800" spc="-10" b="1">
                <a:solidFill>
                  <a:srgbClr val="051C23"/>
                </a:solidFill>
                <a:latin typeface="Arial"/>
                <a:cs typeface="Arial"/>
              </a:rPr>
              <a:t>Metrics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906438" y="7557889"/>
            <a:ext cx="3373754" cy="9626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ctr" marL="12065" marR="5080">
              <a:lnSpc>
                <a:spcPct val="89500"/>
              </a:lnSpc>
              <a:spcBef>
                <a:spcPts val="385"/>
              </a:spcBef>
            </a:pPr>
            <a:r>
              <a:rPr dirty="0" sz="2200" spc="-65">
                <a:solidFill>
                  <a:srgbClr val="2A2F31"/>
                </a:solidFill>
                <a:latin typeface="Arial"/>
                <a:cs typeface="Arial"/>
              </a:rPr>
              <a:t>Demonstrating</a:t>
            </a:r>
            <a:r>
              <a:rPr dirty="0" sz="2200" spc="-4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2A2F31"/>
                </a:solidFill>
                <a:latin typeface="Arial"/>
                <a:cs typeface="Arial"/>
              </a:rPr>
              <a:t>effectiveness </a:t>
            </a:r>
            <a:r>
              <a:rPr dirty="0" sz="2200" spc="-80">
                <a:solidFill>
                  <a:srgbClr val="2A2F31"/>
                </a:solidFill>
                <a:latin typeface="Arial"/>
                <a:cs typeface="Arial"/>
              </a:rPr>
              <a:t>(e.g.,</a:t>
            </a:r>
            <a:r>
              <a:rPr dirty="0" sz="2200" spc="-15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45">
                <a:solidFill>
                  <a:srgbClr val="2A2F31"/>
                </a:solidFill>
                <a:latin typeface="Arial"/>
                <a:cs typeface="Arial"/>
              </a:rPr>
              <a:t>faster</a:t>
            </a:r>
            <a:r>
              <a:rPr dirty="0" sz="2200" spc="-9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2200" spc="-35">
                <a:solidFill>
                  <a:srgbClr val="2A2F31"/>
                </a:solidFill>
                <a:latin typeface="Arial"/>
                <a:cs typeface="Arial"/>
              </a:rPr>
              <a:t>alerts-</a:t>
            </a:r>
            <a:r>
              <a:rPr dirty="0" sz="2200" spc="-40">
                <a:solidFill>
                  <a:srgbClr val="2A2F31"/>
                </a:solidFill>
                <a:latin typeface="Arial"/>
                <a:cs typeface="Arial"/>
              </a:rPr>
              <a:t>to-</a:t>
            </a:r>
            <a:r>
              <a:rPr dirty="0" sz="2200" spc="-20">
                <a:solidFill>
                  <a:srgbClr val="2A2F31"/>
                </a:solidFill>
                <a:latin typeface="Arial"/>
                <a:cs typeface="Arial"/>
              </a:rPr>
              <a:t>SARs </a:t>
            </a:r>
            <a:r>
              <a:rPr dirty="0" sz="2200" spc="-10">
                <a:solidFill>
                  <a:srgbClr val="2A2F31"/>
                </a:solidFill>
                <a:latin typeface="Arial"/>
                <a:cs typeface="Arial"/>
              </a:rPr>
              <a:t>ratio)</a:t>
            </a:r>
            <a:r>
              <a:rPr dirty="0" sz="2200" spc="-10">
                <a:solidFill>
                  <a:srgbClr val="051C23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745654" y="9185572"/>
            <a:ext cx="3656965" cy="4495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905"/>
              </a:lnSpc>
              <a:spcBef>
                <a:spcPts val="110"/>
              </a:spcBef>
            </a:pPr>
            <a:r>
              <a:rPr dirty="0" sz="1750" spc="-25">
                <a:solidFill>
                  <a:srgbClr val="2A2F31"/>
                </a:solidFill>
                <a:latin typeface="Arial"/>
                <a:cs typeface="Arial"/>
              </a:rPr>
              <a:t>Source:</a:t>
            </a:r>
            <a:r>
              <a:rPr dirty="0" sz="1750" spc="-7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A2F31"/>
                </a:solidFill>
                <a:latin typeface="Arial"/>
                <a:cs typeface="Arial"/>
              </a:rPr>
              <a:t>Capgemini</a:t>
            </a:r>
            <a:r>
              <a:rPr dirty="0" sz="1750" spc="-14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A2F31"/>
                </a:solidFill>
                <a:latin typeface="Arial"/>
                <a:cs typeface="Arial"/>
              </a:rPr>
              <a:t>/</a:t>
            </a:r>
            <a:r>
              <a:rPr dirty="0" sz="1750" spc="20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A2F31"/>
                </a:solidFill>
                <a:latin typeface="Arial"/>
                <a:cs typeface="Arial"/>
              </a:rPr>
              <a:t>Encompass</a:t>
            </a:r>
            <a:endParaRPr sz="1750">
              <a:latin typeface="Arial"/>
              <a:cs typeface="Arial"/>
            </a:endParaRPr>
          </a:p>
          <a:p>
            <a:pPr marL="2414270">
              <a:lnSpc>
                <a:spcPts val="1425"/>
              </a:lnSpc>
            </a:pPr>
            <a:r>
              <a:rPr dirty="0" sz="1300" spc="-20">
                <a:solidFill>
                  <a:srgbClr val="2A2F31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2A2F31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A2F31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6322" y="2425832"/>
            <a:ext cx="4177709" cy="22979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76875" y="2527961"/>
            <a:ext cx="1401061" cy="20425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1202" y="2859881"/>
            <a:ext cx="2954964" cy="2808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52915" y="3344994"/>
            <a:ext cx="4126762" cy="4595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0779" y="5923756"/>
            <a:ext cx="229264" cy="5361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99845" y="5923756"/>
            <a:ext cx="203790" cy="5361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65956" y="5310981"/>
            <a:ext cx="2216223" cy="18127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11442" y="4851400"/>
            <a:ext cx="3668232" cy="250216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80212" y="178990"/>
            <a:ext cx="0" cy="9090025"/>
          </a:xfrm>
          <a:custGeom>
            <a:avLst/>
            <a:gdLst/>
            <a:ahLst/>
            <a:cxnLst/>
            <a:rect l="l" t="t" r="r" b="b"/>
            <a:pathLst>
              <a:path w="0" h="9090025">
                <a:moveTo>
                  <a:pt x="0" y="908949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18573" y="3166267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712052" y="3166267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34266" y="3370526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81954" y="3166267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393326" y="3166267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290520" y="4876930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77935" y="3491804"/>
            <a:ext cx="5375275" cy="140970"/>
          </a:xfrm>
          <a:custGeom>
            <a:avLst/>
            <a:gdLst/>
            <a:ahLst/>
            <a:cxnLst/>
            <a:rect l="l" t="t" r="r" b="b"/>
            <a:pathLst>
              <a:path w="5375275" h="140970">
                <a:moveTo>
                  <a:pt x="0" y="0"/>
                </a:moveTo>
                <a:lnTo>
                  <a:pt x="5374980" y="0"/>
                </a:lnTo>
                <a:lnTo>
                  <a:pt x="5374980" y="140427"/>
                </a:lnTo>
                <a:lnTo>
                  <a:pt x="0" y="140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800299" y="4813100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4" h="0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462620" y="5055656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 h="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462620" y="5208850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335251" y="5323745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 h="0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46322" y="6179077"/>
            <a:ext cx="9119870" cy="0"/>
          </a:xfrm>
          <a:custGeom>
            <a:avLst/>
            <a:gdLst/>
            <a:ahLst/>
            <a:cxnLst/>
            <a:rect l="l" t="t" r="r" b="b"/>
            <a:pathLst>
              <a:path w="9119870" h="0">
                <a:moveTo>
                  <a:pt x="0" y="0"/>
                </a:moveTo>
                <a:lnTo>
                  <a:pt x="9119634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482180" y="7059941"/>
            <a:ext cx="1987550" cy="0"/>
          </a:xfrm>
          <a:custGeom>
            <a:avLst/>
            <a:gdLst/>
            <a:ahLst/>
            <a:cxnLst/>
            <a:rect l="l" t="t" r="r" b="b"/>
            <a:pathLst>
              <a:path w="1987550" h="0">
                <a:moveTo>
                  <a:pt x="0" y="0"/>
                </a:moveTo>
                <a:lnTo>
                  <a:pt x="19869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462620" y="7417392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 h="0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1450">
              <a:lnSpc>
                <a:spcPct val="100000"/>
              </a:lnSpc>
              <a:spcBef>
                <a:spcPts val="130"/>
              </a:spcBef>
            </a:pPr>
            <a:r>
              <a:rPr dirty="0" spc="150"/>
              <a:t>The</a:t>
            </a:r>
            <a:r>
              <a:rPr dirty="0" spc="-380"/>
              <a:t> </a:t>
            </a:r>
            <a:r>
              <a:rPr dirty="0" spc="70"/>
              <a:t>Transition</a:t>
            </a:r>
            <a:r>
              <a:rPr dirty="0" spc="85"/>
              <a:t> </a:t>
            </a:r>
            <a:r>
              <a:rPr dirty="0" spc="105"/>
              <a:t>Phase:</a:t>
            </a:r>
            <a:r>
              <a:rPr dirty="0" spc="-295"/>
              <a:t> </a:t>
            </a:r>
            <a:r>
              <a:rPr dirty="0" spc="90"/>
              <a:t>Strategic</a:t>
            </a:r>
            <a:r>
              <a:rPr dirty="0"/>
              <a:t> </a:t>
            </a:r>
            <a:r>
              <a:rPr dirty="0" spc="80"/>
              <a:t>Co-</a:t>
            </a:r>
            <a:r>
              <a:rPr dirty="0" spc="60"/>
              <a:t>Existence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31635" y="1953550"/>
            <a:ext cx="389699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35">
                <a:solidFill>
                  <a:srgbClr val="15262F"/>
                </a:solidFill>
                <a:latin typeface="Arial"/>
                <a:cs typeface="Arial"/>
              </a:rPr>
              <a:t>Periodic</a:t>
            </a:r>
            <a:r>
              <a:rPr dirty="0" sz="2800" spc="-13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55">
                <a:solidFill>
                  <a:srgbClr val="15262F"/>
                </a:solidFill>
                <a:latin typeface="Arial"/>
                <a:cs typeface="Arial"/>
              </a:rPr>
              <a:t>Review</a:t>
            </a:r>
            <a:r>
              <a:rPr dirty="0" sz="2800" spc="-90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65">
                <a:solidFill>
                  <a:srgbClr val="15262F"/>
                </a:solidFill>
                <a:latin typeface="Arial"/>
                <a:cs typeface="Arial"/>
              </a:rPr>
              <a:t>(Legacy)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5558" y="5566370"/>
            <a:ext cx="217487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140">
                <a:solidFill>
                  <a:srgbClr val="15262F"/>
                </a:solidFill>
                <a:latin typeface="Arial"/>
                <a:cs typeface="Arial"/>
              </a:rPr>
              <a:t>pKYC</a:t>
            </a:r>
            <a:r>
              <a:rPr dirty="0" sz="2800" spc="-30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70">
                <a:solidFill>
                  <a:srgbClr val="15262F"/>
                </a:solidFill>
                <a:latin typeface="Arial"/>
                <a:cs typeface="Arial"/>
              </a:rPr>
              <a:t>(Future)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10930" y="4356139"/>
            <a:ext cx="3283585" cy="94488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681990" algn="l"/>
              </a:tabLst>
            </a:pPr>
            <a:r>
              <a:rPr dirty="0" sz="2600" spc="-50">
                <a:solidFill>
                  <a:srgbClr val="2A77A5"/>
                </a:solidFill>
                <a:latin typeface="Arial"/>
                <a:cs typeface="Arial"/>
              </a:rPr>
              <a:t>"</a:t>
            </a:r>
            <a:r>
              <a:rPr dirty="0" sz="2600">
                <a:solidFill>
                  <a:srgbClr val="2A77A5"/>
                </a:solidFill>
                <a:latin typeface="Arial"/>
                <a:cs typeface="Arial"/>
              </a:rPr>
              <a:t>	</a:t>
            </a:r>
            <a:r>
              <a:rPr dirty="0" sz="2600" spc="90" b="1">
                <a:solidFill>
                  <a:srgbClr val="2A77A5"/>
                </a:solidFill>
                <a:latin typeface="Arial"/>
                <a:cs typeface="Arial"/>
              </a:rPr>
              <a:t>Medium</a:t>
            </a:r>
            <a:r>
              <a:rPr dirty="0" sz="2600" spc="-140" b="1">
                <a:solidFill>
                  <a:srgbClr val="2A77A5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2A77A5"/>
                </a:solidFill>
                <a:latin typeface="Arial"/>
                <a:cs typeface="Arial"/>
              </a:rPr>
              <a:t>Term:</a:t>
            </a:r>
            <a:r>
              <a:rPr dirty="0" sz="2600" spc="165" b="1">
                <a:solidFill>
                  <a:srgbClr val="2A77A5"/>
                </a:solidFill>
                <a:latin typeface="Arial"/>
                <a:cs typeface="Arial"/>
              </a:rPr>
              <a:t> </a:t>
            </a:r>
            <a:r>
              <a:rPr dirty="0" sz="2600" spc="-25">
                <a:solidFill>
                  <a:srgbClr val="2A77A5"/>
                </a:solidFill>
                <a:latin typeface="Arial"/>
                <a:cs typeface="Arial"/>
              </a:rPr>
              <a:t>/'</a:t>
            </a:r>
            <a:endParaRPr sz="26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500"/>
              </a:spcBef>
            </a:pPr>
            <a:r>
              <a:rPr dirty="0" sz="2600" spc="-50">
                <a:solidFill>
                  <a:srgbClr val="2A77A5"/>
                </a:solidFill>
                <a:latin typeface="Arial"/>
                <a:cs typeface="Arial"/>
              </a:rPr>
              <a:t>/</a:t>
            </a:r>
            <a:endParaRPr sz="2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52096" y="4608908"/>
            <a:ext cx="5234940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44420" algn="l"/>
                <a:tab pos="4039870" algn="l"/>
                <a:tab pos="5221605" algn="l"/>
              </a:tabLst>
            </a:pPr>
            <a:r>
              <a:rPr dirty="0" sz="2600" spc="65" b="1">
                <a:solidFill>
                  <a:srgbClr val="2A77A5"/>
                </a:solidFill>
                <a:latin typeface="Arial"/>
                <a:cs typeface="Arial"/>
              </a:rPr>
              <a:t>Co-</a:t>
            </a:r>
            <a:r>
              <a:rPr dirty="0" sz="2600" spc="50" b="1">
                <a:solidFill>
                  <a:srgbClr val="2A77A5"/>
                </a:solidFill>
                <a:latin typeface="Arial"/>
                <a:cs typeface="Arial"/>
              </a:rPr>
              <a:t>existence</a:t>
            </a:r>
            <a:r>
              <a:rPr dirty="0" sz="2600" b="1">
                <a:solidFill>
                  <a:srgbClr val="2A77A5"/>
                </a:solidFill>
                <a:latin typeface="Arial"/>
                <a:cs typeface="Arial"/>
              </a:rPr>
              <a:t>	</a:t>
            </a:r>
            <a:r>
              <a:rPr dirty="0" sz="4700" spc="30" b="1">
                <a:solidFill>
                  <a:srgbClr val="2A77A5"/>
                </a:solidFill>
                <a:latin typeface="Arial"/>
                <a:cs typeface="Arial"/>
              </a:rPr>
              <a:t>'\i</a:t>
            </a:r>
            <a:r>
              <a:rPr dirty="0" sz="4700" b="1">
                <a:solidFill>
                  <a:srgbClr val="2A77A5"/>
                </a:solidFill>
                <a:latin typeface="Arial"/>
                <a:cs typeface="Arial"/>
              </a:rPr>
              <a:t>	</a:t>
            </a:r>
            <a:r>
              <a:rPr dirty="0" u="heavy" sz="4700" b="1">
                <a:solidFill>
                  <a:srgbClr val="2A77A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4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15543" y="5585519"/>
            <a:ext cx="909319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51510" algn="l"/>
              </a:tabLst>
            </a:pPr>
            <a:r>
              <a:rPr dirty="0" sz="1950" spc="5">
                <a:solidFill>
                  <a:srgbClr val="60879E"/>
                </a:solidFill>
                <a:latin typeface="Times New Roman"/>
                <a:cs typeface="Times New Roman"/>
              </a:rPr>
              <a:t>Q</a:t>
            </a:r>
            <a:r>
              <a:rPr dirty="0" sz="1950">
                <a:solidFill>
                  <a:srgbClr val="60879E"/>
                </a:solidFill>
                <a:latin typeface="Times New Roman"/>
                <a:cs typeface="Times New Roman"/>
              </a:rPr>
              <a:t>	</a:t>
            </a:r>
            <a:r>
              <a:rPr dirty="0" sz="2350" spc="40">
                <a:solidFill>
                  <a:srgbClr val="60879E"/>
                </a:solidFill>
                <a:latin typeface="Times New Roman"/>
                <a:cs typeface="Times New Roman"/>
              </a:rPr>
              <a:t>&amp;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775585" y="5898222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4" h="0">
                <a:moveTo>
                  <a:pt x="0" y="0"/>
                </a:moveTo>
                <a:lnTo>
                  <a:pt x="203790" y="0"/>
                </a:lnTo>
              </a:path>
            </a:pathLst>
          </a:custGeom>
          <a:ln w="12766">
            <a:solidFill>
              <a:srgbClr val="7499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596998" y="5425942"/>
            <a:ext cx="1999614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87705" algn="l"/>
                <a:tab pos="1177925" algn="l"/>
              </a:tabLst>
            </a:pPr>
            <a:r>
              <a:rPr dirty="0" sz="2800" spc="55">
                <a:solidFill>
                  <a:srgbClr val="60879E"/>
                </a:solidFill>
                <a:latin typeface="Times New Roman"/>
                <a:cs typeface="Times New Roman"/>
              </a:rPr>
              <a:t>&amp;</a:t>
            </a:r>
            <a:r>
              <a:rPr dirty="0" sz="2800">
                <a:solidFill>
                  <a:srgbClr val="60879E"/>
                </a:solidFill>
                <a:latin typeface="Times New Roman"/>
                <a:cs typeface="Times New Roman"/>
              </a:rPr>
              <a:t>	</a:t>
            </a:r>
            <a:r>
              <a:rPr dirty="0" sz="3600" spc="55">
                <a:solidFill>
                  <a:srgbClr val="60879E"/>
                </a:solidFill>
                <a:latin typeface="Arial"/>
                <a:cs typeface="Arial"/>
              </a:rPr>
              <a:t>+</a:t>
            </a:r>
            <a:r>
              <a:rPr dirty="0" sz="3600">
                <a:solidFill>
                  <a:srgbClr val="60879E"/>
                </a:solidFill>
                <a:latin typeface="Arial"/>
                <a:cs typeface="Arial"/>
              </a:rPr>
              <a:t>	</a:t>
            </a:r>
            <a:r>
              <a:rPr dirty="0" sz="3600" spc="-290">
                <a:solidFill>
                  <a:srgbClr val="7499AF"/>
                </a:solidFill>
                <a:latin typeface="Arial"/>
                <a:cs typeface="Arial"/>
              </a:rPr>
              <a:t>�</a:t>
            </a:r>
            <a:r>
              <a:rPr dirty="0" sz="3600" spc="215">
                <a:solidFill>
                  <a:srgbClr val="7499AF"/>
                </a:solidFill>
                <a:latin typeface="Arial"/>
                <a:cs typeface="Arial"/>
              </a:rPr>
              <a:t> </a:t>
            </a:r>
            <a:r>
              <a:rPr dirty="0" sz="3600" spc="-1785">
                <a:solidFill>
                  <a:srgbClr val="7499AF"/>
                </a:solidFill>
                <a:latin typeface="Arial"/>
                <a:cs typeface="Arial"/>
              </a:rPr>
              <a:t>�</a:t>
            </a:r>
            <a:endParaRPr sz="3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09295" y="7187670"/>
            <a:ext cx="6501765" cy="16802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3120"/>
              </a:lnSpc>
              <a:spcBef>
                <a:spcPts val="110"/>
              </a:spcBef>
            </a:pPr>
            <a:r>
              <a:rPr dirty="0" sz="2600" spc="40" b="1">
                <a:solidFill>
                  <a:srgbClr val="15262F"/>
                </a:solidFill>
                <a:latin typeface="Arial"/>
                <a:cs typeface="Arial"/>
              </a:rPr>
              <a:t>Strategy:</a:t>
            </a:r>
            <a:endParaRPr sz="2600">
              <a:latin typeface="Arial"/>
              <a:cs typeface="Arial"/>
            </a:endParaRPr>
          </a:p>
          <a:p>
            <a:pPr marL="401320" indent="-377825">
              <a:lnSpc>
                <a:spcPts val="3335"/>
              </a:lnSpc>
              <a:buAutoNum type="arabicPeriod"/>
              <a:tabLst>
                <a:tab pos="401320" algn="l"/>
              </a:tabLst>
            </a:pPr>
            <a:r>
              <a:rPr dirty="0" sz="2800">
                <a:solidFill>
                  <a:srgbClr val="15262F"/>
                </a:solidFill>
                <a:latin typeface="Arial"/>
                <a:cs typeface="Arial"/>
              </a:rPr>
              <a:t>Start </a:t>
            </a:r>
            <a:r>
              <a:rPr dirty="0" sz="2800" spc="55">
                <a:solidFill>
                  <a:srgbClr val="15262F"/>
                </a:solidFill>
                <a:latin typeface="Arial"/>
                <a:cs typeface="Arial"/>
              </a:rPr>
              <a:t>with</a:t>
            </a:r>
            <a:r>
              <a:rPr dirty="0" sz="2800" spc="-16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5262F"/>
                </a:solidFill>
                <a:latin typeface="Arial"/>
                <a:cs typeface="Arial"/>
              </a:rPr>
              <a:t>high-quality</a:t>
            </a:r>
            <a:r>
              <a:rPr dirty="0" sz="2800" spc="12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5262F"/>
                </a:solidFill>
                <a:latin typeface="Arial"/>
                <a:cs typeface="Arial"/>
              </a:rPr>
              <a:t>data</a:t>
            </a:r>
            <a:r>
              <a:rPr dirty="0" sz="2800" spc="-5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5262F"/>
                </a:solidFill>
                <a:latin typeface="Arial"/>
                <a:cs typeface="Arial"/>
              </a:rPr>
              <a:t>segments</a:t>
            </a:r>
            <a:r>
              <a:rPr dirty="0" sz="2800" spc="-10">
                <a:solidFill>
                  <a:srgbClr val="313D44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389255" indent="-362585">
              <a:lnSpc>
                <a:spcPts val="3265"/>
              </a:lnSpc>
              <a:buAutoNum type="arabicPeriod"/>
              <a:tabLst>
                <a:tab pos="389255" algn="l"/>
              </a:tabLst>
            </a:pPr>
            <a:r>
              <a:rPr dirty="0" sz="2800" spc="-130">
                <a:solidFill>
                  <a:srgbClr val="15262F"/>
                </a:solidFill>
                <a:latin typeface="Arial"/>
                <a:cs typeface="Arial"/>
              </a:rPr>
              <a:t>Run</a:t>
            </a:r>
            <a:r>
              <a:rPr dirty="0" sz="2800" spc="-120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35">
                <a:solidFill>
                  <a:srgbClr val="15262F"/>
                </a:solidFill>
                <a:latin typeface="Arial"/>
                <a:cs typeface="Arial"/>
              </a:rPr>
              <a:t>parallel</a:t>
            </a:r>
            <a:r>
              <a:rPr dirty="0" sz="2800" spc="-13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5262F"/>
                </a:solidFill>
                <a:latin typeface="Arial"/>
                <a:cs typeface="Arial"/>
              </a:rPr>
              <a:t>models</a:t>
            </a:r>
            <a:r>
              <a:rPr dirty="0" sz="2800" spc="-114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15262F"/>
                </a:solidFill>
                <a:latin typeface="Arial"/>
                <a:cs typeface="Arial"/>
              </a:rPr>
              <a:t>to</a:t>
            </a:r>
            <a:r>
              <a:rPr dirty="0" sz="2800" spc="30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15262F"/>
                </a:solidFill>
                <a:latin typeface="Arial"/>
                <a:cs typeface="Arial"/>
              </a:rPr>
              <a:t>build</a:t>
            </a:r>
            <a:r>
              <a:rPr dirty="0" sz="2800" spc="-21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45">
                <a:solidFill>
                  <a:srgbClr val="15262F"/>
                </a:solidFill>
                <a:latin typeface="Arial"/>
                <a:cs typeface="Arial"/>
              </a:rPr>
              <a:t>trust.</a:t>
            </a:r>
            <a:endParaRPr sz="2800">
              <a:latin typeface="Arial"/>
              <a:cs typeface="Arial"/>
            </a:endParaRPr>
          </a:p>
          <a:p>
            <a:pPr marL="384175" indent="-362585">
              <a:lnSpc>
                <a:spcPts val="3290"/>
              </a:lnSpc>
              <a:buAutoNum type="arabicPeriod"/>
              <a:tabLst>
                <a:tab pos="384175" algn="l"/>
              </a:tabLst>
            </a:pPr>
            <a:r>
              <a:rPr dirty="0" sz="2800" spc="-30">
                <a:solidFill>
                  <a:srgbClr val="15262F"/>
                </a:solidFill>
                <a:latin typeface="Arial"/>
                <a:cs typeface="Arial"/>
              </a:rPr>
              <a:t>Increase</a:t>
            </a:r>
            <a:r>
              <a:rPr dirty="0" sz="2800" spc="-7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120">
                <a:solidFill>
                  <a:srgbClr val="15262F"/>
                </a:solidFill>
                <a:latin typeface="Arial"/>
                <a:cs typeface="Arial"/>
              </a:rPr>
              <a:t>pKYC</a:t>
            </a:r>
            <a:r>
              <a:rPr dirty="0" sz="2800" spc="-180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15262F"/>
                </a:solidFill>
                <a:latin typeface="Arial"/>
                <a:cs typeface="Arial"/>
              </a:rPr>
              <a:t>coverage</a:t>
            </a:r>
            <a:r>
              <a:rPr dirty="0" sz="2800" spc="-17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A131A"/>
                </a:solidFill>
                <a:latin typeface="Arial"/>
                <a:cs typeface="Arial"/>
              </a:rPr>
              <a:t>incrementally.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258225" y="5508922"/>
            <a:ext cx="205104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60879E"/>
                </a:solidFill>
                <a:latin typeface="Times New Roman"/>
                <a:cs typeface="Times New Roman"/>
              </a:rPr>
              <a:t>Q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79279" y="9217487"/>
            <a:ext cx="1151890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10" b="1">
                <a:solidFill>
                  <a:srgbClr val="313D44"/>
                </a:solidFill>
                <a:latin typeface="Arial"/>
                <a:cs typeface="Arial"/>
              </a:rPr>
              <a:t>e</a:t>
            </a:r>
            <a:r>
              <a:rPr dirty="0" sz="1350" spc="-10">
                <a:solidFill>
                  <a:srgbClr val="313D44"/>
                </a:solidFill>
                <a:latin typeface="Arial"/>
                <a:cs typeface="Arial"/>
              </a:rPr>
              <a:t>E</a:t>
            </a:r>
            <a:r>
              <a:rPr dirty="0" sz="1350" spc="-10">
                <a:solidFill>
                  <a:srgbClr val="15262F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313D44"/>
                </a:solidFill>
                <a:latin typeface="Arial"/>
                <a:cs typeface="Arial"/>
              </a:rPr>
              <a:t>c</a:t>
            </a:r>
            <a:r>
              <a:rPr dirty="0" sz="1350" spc="-10">
                <a:solidFill>
                  <a:srgbClr val="15262F"/>
                </a:solidFill>
                <a:latin typeface="Arial"/>
                <a:cs typeface="Arial"/>
              </a:rPr>
              <a:t>o</a:t>
            </a:r>
            <a:r>
              <a:rPr dirty="0" sz="1350" spc="-10">
                <a:solidFill>
                  <a:srgbClr val="313D44"/>
                </a:solidFill>
                <a:latin typeface="Arial"/>
                <a:cs typeface="Arial"/>
              </a:rPr>
              <a:t>mpass</a:t>
            </a:r>
            <a:endParaRPr sz="13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47783" y="9402597"/>
            <a:ext cx="125476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15262F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15262F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0A131A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741" y="2808817"/>
            <a:ext cx="1018953" cy="11744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215" y="5489707"/>
            <a:ext cx="968005" cy="3063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741" y="5923756"/>
            <a:ext cx="1018953" cy="7404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9619" y="2706687"/>
            <a:ext cx="4126762" cy="45192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43438" y="4493948"/>
            <a:ext cx="993479" cy="9191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74823" y="8885501"/>
            <a:ext cx="2216223" cy="48511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38741" y="5745028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32221" y="5745028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736919" y="4468414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10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723748" y="581190"/>
            <a:ext cx="15586075" cy="860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450" spc="75">
                <a:solidFill>
                  <a:srgbClr val="052834"/>
                </a:solidFill>
              </a:rPr>
              <a:t>Conclusion:</a:t>
            </a:r>
            <a:r>
              <a:rPr dirty="0" sz="5450" spc="-345">
                <a:solidFill>
                  <a:srgbClr val="052834"/>
                </a:solidFill>
              </a:rPr>
              <a:t> </a:t>
            </a:r>
            <a:r>
              <a:rPr dirty="0" sz="5450" spc="75">
                <a:solidFill>
                  <a:srgbClr val="052834"/>
                </a:solidFill>
              </a:rPr>
              <a:t>Compliance</a:t>
            </a:r>
            <a:r>
              <a:rPr dirty="0" sz="5450" spc="-15">
                <a:solidFill>
                  <a:srgbClr val="052834"/>
                </a:solidFill>
              </a:rPr>
              <a:t> </a:t>
            </a:r>
            <a:r>
              <a:rPr dirty="0" sz="5450" spc="70">
                <a:solidFill>
                  <a:srgbClr val="052834"/>
                </a:solidFill>
              </a:rPr>
              <a:t>as</a:t>
            </a:r>
            <a:r>
              <a:rPr dirty="0" sz="5450">
                <a:solidFill>
                  <a:srgbClr val="052834"/>
                </a:solidFill>
              </a:rPr>
              <a:t> </a:t>
            </a:r>
            <a:r>
              <a:rPr dirty="0" sz="5450" spc="70">
                <a:solidFill>
                  <a:srgbClr val="052834"/>
                </a:solidFill>
              </a:rPr>
              <a:t>Competitive</a:t>
            </a:r>
            <a:r>
              <a:rPr dirty="0" sz="5450" spc="-20">
                <a:solidFill>
                  <a:srgbClr val="052834"/>
                </a:solidFill>
              </a:rPr>
              <a:t> </a:t>
            </a:r>
            <a:r>
              <a:rPr dirty="0" sz="5450" spc="40">
                <a:solidFill>
                  <a:srgbClr val="052834"/>
                </a:solidFill>
              </a:rPr>
              <a:t>Advantage</a:t>
            </a:r>
            <a:endParaRPr sz="5450"/>
          </a:p>
        </p:txBody>
      </p:sp>
      <p:sp>
        <p:nvSpPr>
          <p:cNvPr id="12" name="object 12"/>
          <p:cNvSpPr txBox="1"/>
          <p:nvPr/>
        </p:nvSpPr>
        <p:spPr>
          <a:xfrm>
            <a:off x="2027143" y="2796117"/>
            <a:ext cx="4061460" cy="117221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75" b="1">
                <a:solidFill>
                  <a:srgbClr val="052834"/>
                </a:solidFill>
                <a:latin typeface="Arial"/>
                <a:cs typeface="Arial"/>
              </a:rPr>
              <a:t>Integrity</a:t>
            </a:r>
            <a:r>
              <a:rPr dirty="0" sz="2700" spc="-2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2700" spc="55" b="1">
                <a:solidFill>
                  <a:srgbClr val="052834"/>
                </a:solidFill>
                <a:latin typeface="Arial"/>
                <a:cs typeface="Arial"/>
              </a:rPr>
              <a:t>First:</a:t>
            </a:r>
            <a:endParaRPr sz="2700">
              <a:latin typeface="Arial"/>
              <a:cs typeface="Arial"/>
            </a:endParaRPr>
          </a:p>
          <a:p>
            <a:pPr marL="15875" marR="5080" indent="-3810">
              <a:lnSpc>
                <a:spcPts val="2810"/>
              </a:lnSpc>
              <a:spcBef>
                <a:spcPts val="225"/>
              </a:spcBef>
            </a:pP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Preventing</a:t>
            </a:r>
            <a:r>
              <a:rPr dirty="0" sz="2400" spc="315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financial</a:t>
            </a:r>
            <a:r>
              <a:rPr dirty="0" sz="2400" spc="18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63836"/>
                </a:solidFill>
                <a:latin typeface="Arial"/>
                <a:cs typeface="Arial"/>
              </a:rPr>
              <a:t>crime, </a:t>
            </a:r>
            <a:r>
              <a:rPr dirty="0" sz="2400" spc="60">
                <a:solidFill>
                  <a:srgbClr val="363836"/>
                </a:solidFill>
                <a:latin typeface="Arial"/>
                <a:cs typeface="Arial"/>
              </a:rPr>
              <a:t>not</a:t>
            </a:r>
            <a:r>
              <a:rPr dirty="0" sz="2400" spc="26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82828"/>
                </a:solidFill>
                <a:latin typeface="Arial"/>
                <a:cs typeface="Arial"/>
              </a:rPr>
              <a:t>just</a:t>
            </a:r>
            <a:r>
              <a:rPr dirty="0" sz="2400" spc="32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satisfying</a:t>
            </a:r>
            <a:r>
              <a:rPr dirty="0" sz="2400" spc="11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63836"/>
                </a:solidFill>
                <a:latin typeface="Arial"/>
                <a:cs typeface="Arial"/>
              </a:rPr>
              <a:t>regulators.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2839" y="5425942"/>
            <a:ext cx="3573145" cy="1172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7145" marR="5080" indent="-5080">
              <a:lnSpc>
                <a:spcPct val="100200"/>
              </a:lnSpc>
              <a:spcBef>
                <a:spcPts val="105"/>
              </a:spcBef>
            </a:pPr>
            <a:r>
              <a:rPr dirty="0" sz="2700" spc="165" b="1">
                <a:solidFill>
                  <a:srgbClr val="052834"/>
                </a:solidFill>
                <a:latin typeface="Arial"/>
                <a:cs typeface="Arial"/>
              </a:rPr>
              <a:t>No</a:t>
            </a:r>
            <a:r>
              <a:rPr dirty="0" sz="2700" spc="-18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2700" spc="140" b="1">
                <a:solidFill>
                  <a:srgbClr val="052834"/>
                </a:solidFill>
                <a:latin typeface="Arial"/>
                <a:cs typeface="Arial"/>
              </a:rPr>
              <a:t>More</a:t>
            </a:r>
            <a:r>
              <a:rPr dirty="0" sz="2700" spc="-16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2700" spc="70" b="1">
                <a:solidFill>
                  <a:srgbClr val="052834"/>
                </a:solidFill>
                <a:latin typeface="Arial"/>
                <a:cs typeface="Arial"/>
              </a:rPr>
              <a:t>De-</a:t>
            </a:r>
            <a:r>
              <a:rPr dirty="0" sz="2700" spc="55" b="1">
                <a:solidFill>
                  <a:srgbClr val="052834"/>
                </a:solidFill>
                <a:latin typeface="Arial"/>
                <a:cs typeface="Arial"/>
              </a:rPr>
              <a:t>Risking: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Use</a:t>
            </a:r>
            <a:r>
              <a:rPr dirty="0" sz="2400" spc="-4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363836"/>
                </a:solidFill>
                <a:latin typeface="Arial"/>
                <a:cs typeface="Arial"/>
              </a:rPr>
              <a:t>data</a:t>
            </a:r>
            <a:r>
              <a:rPr dirty="0" sz="2400" spc="-5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to</a:t>
            </a:r>
            <a:r>
              <a:rPr dirty="0" sz="2400" spc="145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manage</a:t>
            </a:r>
            <a:r>
              <a:rPr dirty="0" sz="2400" spc="10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282828"/>
                </a:solidFill>
                <a:latin typeface="Arial"/>
                <a:cs typeface="Arial"/>
              </a:rPr>
              <a:t>risk, </a:t>
            </a:r>
            <a:r>
              <a:rPr dirty="0" sz="2400" spc="95">
                <a:solidFill>
                  <a:srgbClr val="363836"/>
                </a:solidFill>
                <a:latin typeface="Arial"/>
                <a:cs typeface="Arial"/>
              </a:rPr>
              <a:t>not</a:t>
            </a:r>
            <a:r>
              <a:rPr dirty="0" sz="2400" spc="75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282828"/>
                </a:solidFill>
                <a:latin typeface="Arial"/>
                <a:cs typeface="Arial"/>
              </a:rPr>
              <a:t>exclude</a:t>
            </a:r>
            <a:r>
              <a:rPr dirty="0" sz="2400" spc="12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363836"/>
                </a:solidFill>
                <a:latin typeface="Arial"/>
                <a:cs typeface="Arial"/>
              </a:rPr>
              <a:t>customers.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93852" y="4085497"/>
            <a:ext cx="3515360" cy="152971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sz="2700" spc="75" b="1">
                <a:solidFill>
                  <a:srgbClr val="052834"/>
                </a:solidFill>
                <a:latin typeface="Arial"/>
                <a:cs typeface="Arial"/>
              </a:rPr>
              <a:t>Invest</a:t>
            </a:r>
            <a:r>
              <a:rPr dirty="0" sz="2700" spc="-12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2700" spc="65" b="1">
                <a:solidFill>
                  <a:srgbClr val="052834"/>
                </a:solidFill>
                <a:latin typeface="Arial"/>
                <a:cs typeface="Arial"/>
              </a:rPr>
              <a:t>in</a:t>
            </a:r>
            <a:r>
              <a:rPr dirty="0" sz="2700" spc="-6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052834"/>
                </a:solidFill>
                <a:latin typeface="Arial"/>
                <a:cs typeface="Arial"/>
              </a:rPr>
              <a:t>pKVC:</a:t>
            </a:r>
            <a:endParaRPr sz="2700">
              <a:latin typeface="Arial"/>
              <a:cs typeface="Arial"/>
            </a:endParaRPr>
          </a:p>
          <a:p>
            <a:pPr marL="48895" marR="30480" indent="5080">
              <a:lnSpc>
                <a:spcPts val="2810"/>
              </a:lnSpc>
              <a:spcBef>
                <a:spcPts val="225"/>
              </a:spcBef>
            </a:pPr>
            <a:r>
              <a:rPr dirty="0" sz="2400">
                <a:solidFill>
                  <a:srgbClr val="282828"/>
                </a:solidFill>
                <a:latin typeface="Arial"/>
                <a:cs typeface="Arial"/>
              </a:rPr>
              <a:t>The</a:t>
            </a:r>
            <a:r>
              <a:rPr dirty="0" sz="2400" spc="3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solution</a:t>
            </a:r>
            <a:r>
              <a:rPr dirty="0" sz="2400" spc="20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363836"/>
                </a:solidFill>
                <a:latin typeface="Arial"/>
                <a:cs typeface="Arial"/>
              </a:rPr>
              <a:t>to</a:t>
            </a:r>
            <a:r>
              <a:rPr dirty="0" sz="2400" spc="3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363836"/>
                </a:solidFill>
                <a:latin typeface="Arial"/>
                <a:cs typeface="Arial"/>
              </a:rPr>
              <a:t>talent </a:t>
            </a:r>
            <a:r>
              <a:rPr dirty="0" sz="2400">
                <a:solidFill>
                  <a:srgbClr val="363836"/>
                </a:solidFill>
                <a:latin typeface="Arial"/>
                <a:cs typeface="Arial"/>
              </a:rPr>
              <a:t>shortages</a:t>
            </a:r>
            <a:r>
              <a:rPr dirty="0" sz="2400" spc="245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363836"/>
                </a:solidFill>
                <a:latin typeface="Arial"/>
                <a:cs typeface="Arial"/>
              </a:rPr>
              <a:t>and</a:t>
            </a:r>
            <a:r>
              <a:rPr dirty="0" sz="2400" spc="70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2400" spc="40">
                <a:solidFill>
                  <a:srgbClr val="363836"/>
                </a:solidFill>
                <a:latin typeface="Arial"/>
                <a:cs typeface="Arial"/>
              </a:rPr>
              <a:t>efficiency </a:t>
            </a:r>
            <a:r>
              <a:rPr dirty="0" sz="2400" spc="-10">
                <a:solidFill>
                  <a:srgbClr val="363836"/>
                </a:solidFill>
                <a:latin typeface="Arial"/>
                <a:cs typeface="Arial"/>
              </a:rPr>
              <a:t>cri</a:t>
            </a:r>
            <a:r>
              <a:rPr dirty="0" baseline="55555" sz="1800" spc="-15">
                <a:solidFill>
                  <a:srgbClr val="363836"/>
                </a:solidFill>
                <a:latin typeface="Times New Roman"/>
                <a:cs typeface="Times New Roman"/>
              </a:rPr>
              <a:t>•</a:t>
            </a:r>
            <a:r>
              <a:rPr dirty="0" sz="2400" spc="-10">
                <a:solidFill>
                  <a:srgbClr val="363836"/>
                </a:solidFill>
                <a:latin typeface="Arial"/>
                <a:cs typeface="Arial"/>
              </a:rPr>
              <a:t>ses.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23543" y="7494058"/>
            <a:ext cx="12817475" cy="141478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2758440" marR="5080" indent="-2746375">
              <a:lnSpc>
                <a:spcPts val="5030"/>
              </a:lnSpc>
              <a:spcBef>
                <a:spcPts val="1000"/>
              </a:spcBef>
            </a:pPr>
            <a:r>
              <a:rPr dirty="0" sz="4900" b="1">
                <a:solidFill>
                  <a:srgbClr val="052834"/>
                </a:solidFill>
                <a:latin typeface="Arial"/>
                <a:cs typeface="Arial"/>
              </a:rPr>
              <a:t>Responsible</a:t>
            </a:r>
            <a:r>
              <a:rPr dirty="0" sz="4900" spc="55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90" b="1">
                <a:solidFill>
                  <a:srgbClr val="052834"/>
                </a:solidFill>
                <a:latin typeface="Arial"/>
                <a:cs typeface="Arial"/>
              </a:rPr>
              <a:t>Innovation</a:t>
            </a:r>
            <a:r>
              <a:rPr dirty="0" sz="4900" spc="270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140" b="1">
                <a:solidFill>
                  <a:srgbClr val="052834"/>
                </a:solidFill>
                <a:latin typeface="Arial"/>
                <a:cs typeface="Arial"/>
              </a:rPr>
              <a:t>is</a:t>
            </a:r>
            <a:r>
              <a:rPr dirty="0" sz="4900" spc="-465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165" b="1">
                <a:solidFill>
                  <a:srgbClr val="052834"/>
                </a:solidFill>
                <a:latin typeface="Arial"/>
                <a:cs typeface="Arial"/>
              </a:rPr>
              <a:t>the</a:t>
            </a:r>
            <a:r>
              <a:rPr dirty="0" sz="4900" spc="-180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-10" b="1">
                <a:solidFill>
                  <a:srgbClr val="052834"/>
                </a:solidFill>
                <a:latin typeface="Arial"/>
                <a:cs typeface="Arial"/>
              </a:rPr>
              <a:t>expectation </a:t>
            </a:r>
            <a:r>
              <a:rPr dirty="0" sz="4900" b="1">
                <a:solidFill>
                  <a:srgbClr val="052834"/>
                </a:solidFill>
                <a:latin typeface="Arial"/>
                <a:cs typeface="Arial"/>
              </a:rPr>
              <a:t>of</a:t>
            </a:r>
            <a:r>
              <a:rPr dirty="0" sz="4900" spc="-190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165" b="1">
                <a:solidFill>
                  <a:srgbClr val="052834"/>
                </a:solidFill>
                <a:latin typeface="Arial"/>
                <a:cs typeface="Arial"/>
              </a:rPr>
              <a:t>the</a:t>
            </a:r>
            <a:r>
              <a:rPr dirty="0" sz="4900" spc="-340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55" b="1">
                <a:solidFill>
                  <a:srgbClr val="052834"/>
                </a:solidFill>
                <a:latin typeface="Arial"/>
                <a:cs typeface="Arial"/>
              </a:rPr>
              <a:t>modern</a:t>
            </a:r>
            <a:r>
              <a:rPr dirty="0" sz="4900" spc="-60" b="1">
                <a:solidFill>
                  <a:srgbClr val="052834"/>
                </a:solidFill>
                <a:latin typeface="Arial"/>
                <a:cs typeface="Arial"/>
              </a:rPr>
              <a:t> </a:t>
            </a:r>
            <a:r>
              <a:rPr dirty="0" sz="4900" spc="50" b="1">
                <a:solidFill>
                  <a:srgbClr val="052834"/>
                </a:solidFill>
                <a:latin typeface="Arial"/>
                <a:cs typeface="Arial"/>
              </a:rPr>
              <a:t>regulator.</a:t>
            </a:r>
            <a:endParaRPr sz="4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20">
                <a:solidFill>
                  <a:srgbClr val="363836"/>
                </a:solidFill>
                <a:latin typeface="Arial"/>
                <a:cs typeface="Arial"/>
              </a:rPr>
              <a:t>Isl\</a:t>
            </a:r>
            <a:r>
              <a:rPr dirty="0" sz="1300" spc="-45">
                <a:solidFill>
                  <a:srgbClr val="363836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131313"/>
                </a:solidFill>
                <a:latin typeface="Arial"/>
                <a:cs typeface="Arial"/>
              </a:rPr>
              <a:t>No</a:t>
            </a:r>
            <a:r>
              <a:rPr dirty="0" sz="1350" spc="-10">
                <a:solidFill>
                  <a:srgbClr val="363836"/>
                </a:solidFill>
                <a:latin typeface="Arial"/>
                <a:cs typeface="Arial"/>
              </a:rPr>
              <a:t>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2026-02-22T11:59:26Z</dcterms:created>
  <dcterms:modified xsi:type="dcterms:W3CDTF">2026-02-22T11:59:26Z</dcterms:modified>
</cp:coreProperties>
</file>